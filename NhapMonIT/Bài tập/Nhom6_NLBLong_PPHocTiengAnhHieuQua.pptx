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2" d="100"/>
          <a:sy n="82" d="100"/>
        </p:scale>
        <p:origin x="16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02.06.2025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gamma.app/?utm_source=made-with-gamma" TargetMode="External"/><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2096"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A245E"/>
            </a:solidFill>
          </p:spPr>
        </p:sp>
      </p:grpSp>
      <p:sp>
        <p:nvSpPr>
          <p:cNvPr id="6" name="Freeform 6"/>
          <p:cNvSpPr/>
          <p:nvPr/>
        </p:nvSpPr>
        <p:spPr>
          <a:xfrm>
            <a:off x="0" y="0"/>
            <a:ext cx="18285904" cy="10287000"/>
          </a:xfrm>
          <a:custGeom>
            <a:avLst/>
            <a:gdLst/>
            <a:ahLst/>
            <a:cxnLst/>
            <a:rect l="l" t="t" r="r" b="b"/>
            <a:pathLst>
              <a:path w="18285904" h="10287000">
                <a:moveTo>
                  <a:pt x="0" y="0"/>
                </a:moveTo>
                <a:lnTo>
                  <a:pt x="18285904" y="0"/>
                </a:lnTo>
                <a:lnTo>
                  <a:pt x="18285904" y="10287000"/>
                </a:lnTo>
                <a:lnTo>
                  <a:pt x="0" y="10287000"/>
                </a:lnTo>
                <a:lnTo>
                  <a:pt x="0" y="0"/>
                </a:lnTo>
                <a:close/>
              </a:path>
            </a:pathLst>
          </a:custGeom>
          <a:blipFill>
            <a:blip r:embed="rId3"/>
            <a:stretch>
              <a:fillRect l="-4148" t="-11630" b="-11713"/>
            </a:stretch>
          </a:blipFill>
        </p:spPr>
      </p:sp>
      <p:sp>
        <p:nvSpPr>
          <p:cNvPr id="7" name="TextBox 7"/>
          <p:cNvSpPr txBox="1"/>
          <p:nvPr/>
        </p:nvSpPr>
        <p:spPr>
          <a:xfrm>
            <a:off x="1028700" y="2659153"/>
            <a:ext cx="15604778" cy="1347455"/>
          </a:xfrm>
          <a:prstGeom prst="rect">
            <a:avLst/>
          </a:prstGeom>
        </p:spPr>
        <p:txBody>
          <a:bodyPr lIns="0" tIns="0" rIns="0" bIns="0" rtlCol="0" anchor="t">
            <a:spAutoFit/>
          </a:bodyPr>
          <a:lstStyle/>
          <a:p>
            <a:pPr algn="ctr">
              <a:lnSpc>
                <a:spcPts val="11115"/>
              </a:lnSpc>
              <a:spcBef>
                <a:spcPct val="0"/>
              </a:spcBef>
            </a:pPr>
            <a:r>
              <a:rPr lang="en-US" sz="6854" b="1">
                <a:solidFill>
                  <a:srgbClr val="5CE1E6"/>
                </a:solidFill>
                <a:latin typeface="Arimo Bold"/>
                <a:ea typeface="Arimo Bold"/>
                <a:cs typeface="Arimo Bold"/>
                <a:sym typeface="Arimo Bold"/>
              </a:rPr>
              <a:t>NHẬP MÔN CÔNG NGHỆ THÔNG TIN </a:t>
            </a:r>
          </a:p>
        </p:txBody>
      </p:sp>
      <p:sp>
        <p:nvSpPr>
          <p:cNvPr id="8" name="TextBox 8"/>
          <p:cNvSpPr txBox="1"/>
          <p:nvPr/>
        </p:nvSpPr>
        <p:spPr>
          <a:xfrm>
            <a:off x="629164" y="5545784"/>
            <a:ext cx="6902648" cy="1751365"/>
          </a:xfrm>
          <a:prstGeom prst="rect">
            <a:avLst/>
          </a:prstGeom>
        </p:spPr>
        <p:txBody>
          <a:bodyPr lIns="0" tIns="0" rIns="0" bIns="0" rtlCol="0" anchor="t">
            <a:spAutoFit/>
          </a:bodyPr>
          <a:lstStyle/>
          <a:p>
            <a:pPr algn="ctr">
              <a:lnSpc>
                <a:spcPts val="4654"/>
              </a:lnSpc>
            </a:pPr>
            <a:r>
              <a:rPr lang="en-US" sz="2871" b="1">
                <a:solidFill>
                  <a:srgbClr val="FFFFFF"/>
                </a:solidFill>
                <a:latin typeface="Arimo Bold"/>
                <a:ea typeface="Arimo Bold"/>
                <a:cs typeface="Arimo Bold"/>
                <a:sym typeface="Arimo Bold"/>
              </a:rPr>
              <a:t>2312778 - Phan Thị Bảo Trâm </a:t>
            </a:r>
          </a:p>
          <a:p>
            <a:pPr algn="ctr">
              <a:lnSpc>
                <a:spcPts val="4654"/>
              </a:lnSpc>
            </a:pPr>
            <a:r>
              <a:rPr lang="en-US" sz="2871" b="1">
                <a:solidFill>
                  <a:srgbClr val="FFFFFF"/>
                </a:solidFill>
                <a:latin typeface="Arimo Bold"/>
                <a:ea typeface="Arimo Bold"/>
                <a:cs typeface="Arimo Bold"/>
                <a:sym typeface="Arimo Bold"/>
              </a:rPr>
              <a:t>2312678 - Nguyễn Lê Bảo Long</a:t>
            </a:r>
          </a:p>
          <a:p>
            <a:pPr algn="ctr">
              <a:lnSpc>
                <a:spcPts val="4656"/>
              </a:lnSpc>
              <a:spcBef>
                <a:spcPct val="0"/>
              </a:spcBef>
            </a:pPr>
            <a:r>
              <a:rPr lang="en-US" sz="2871" b="1">
                <a:solidFill>
                  <a:srgbClr val="FFFFFF"/>
                </a:solidFill>
                <a:latin typeface="Arimo Bold"/>
                <a:ea typeface="Arimo Bold"/>
                <a:cs typeface="Arimo Bold"/>
                <a:sym typeface="Arimo Bold"/>
              </a:rPr>
              <a:t>2312728 - Nguyễn Hoàng Vũ Việt Quang</a:t>
            </a:r>
          </a:p>
        </p:txBody>
      </p:sp>
      <p:sp>
        <p:nvSpPr>
          <p:cNvPr id="9" name="TextBox 9"/>
          <p:cNvSpPr txBox="1"/>
          <p:nvPr/>
        </p:nvSpPr>
        <p:spPr>
          <a:xfrm>
            <a:off x="-3948450" y="4899819"/>
            <a:ext cx="15604778" cy="449262"/>
          </a:xfrm>
          <a:prstGeom prst="rect">
            <a:avLst/>
          </a:prstGeom>
        </p:spPr>
        <p:txBody>
          <a:bodyPr lIns="0" tIns="0" rIns="0" bIns="0" rtlCol="0" anchor="t">
            <a:spAutoFit/>
          </a:bodyPr>
          <a:lstStyle/>
          <a:p>
            <a:pPr algn="ctr">
              <a:lnSpc>
                <a:spcPts val="3437"/>
              </a:lnSpc>
              <a:spcBef>
                <a:spcPct val="0"/>
              </a:spcBef>
            </a:pPr>
            <a:r>
              <a:rPr lang="en-US" sz="2750" b="1">
                <a:solidFill>
                  <a:srgbClr val="FFFFFF"/>
                </a:solidFill>
                <a:latin typeface="Arimo Bold"/>
                <a:ea typeface="Arimo Bold"/>
                <a:cs typeface="Arimo Bold"/>
                <a:sym typeface="Arimo Bold"/>
              </a:rPr>
              <a:t>NHÓM 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587465" y="1736675"/>
            <a:ext cx="10614810" cy="2622550"/>
          </a:xfrm>
          <a:prstGeom prst="rect">
            <a:avLst/>
          </a:prstGeom>
        </p:spPr>
        <p:txBody>
          <a:bodyPr lIns="0" tIns="0" rIns="0" bIns="0" rtlCol="0" anchor="t">
            <a:spAutoFit/>
          </a:bodyPr>
          <a:lstStyle/>
          <a:p>
            <a:pPr algn="ctr">
              <a:lnSpc>
                <a:spcPts val="6875"/>
              </a:lnSpc>
            </a:pPr>
            <a:r>
              <a:rPr lang="en-US" sz="5500" b="1">
                <a:solidFill>
                  <a:srgbClr val="02C1C2"/>
                </a:solidFill>
                <a:latin typeface="Arimo Bold"/>
                <a:ea typeface="Arimo Bold"/>
                <a:cs typeface="Arimo Bold"/>
                <a:sym typeface="Arimo Bold"/>
              </a:rPr>
              <a:t>Phương Pháp Học Tiếng Anh Hiệu Quả Trong Chuyên Ngành Công Nghệ Thông Tin</a:t>
            </a:r>
          </a:p>
        </p:txBody>
      </p:sp>
      <p:sp>
        <p:nvSpPr>
          <p:cNvPr id="8" name="TextBox 8"/>
          <p:cNvSpPr txBox="1"/>
          <p:nvPr/>
        </p:nvSpPr>
        <p:spPr>
          <a:xfrm>
            <a:off x="7905155" y="5648325"/>
            <a:ext cx="9335691" cy="1390650"/>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Chào mừng bạn đến với bài thuyết trình về các kỹ năng tiếng Anh thiết yếu trong lĩnh vực Công nghệ Thông tin. Tiếng Anh là chìa khóa mở ra cánh cửa tri thức và cơ hội nghề nghiệp trong ngành này.</a:t>
            </a:r>
          </a:p>
        </p:txBody>
      </p:sp>
      <p:sp>
        <p:nvSpPr>
          <p:cNvPr id="9" name="TextBox 9"/>
          <p:cNvSpPr txBox="1"/>
          <p:nvPr/>
        </p:nvSpPr>
        <p:spPr>
          <a:xfrm>
            <a:off x="7905155" y="7421166"/>
            <a:ext cx="9335691" cy="923925"/>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Chúng tôi sẽ đi sâu vào các kỹ năng đọc, viết, nghe, nói, và cung cấp những hướng dẫn cụ thể để bạn tự tin hơn trong hành trình học tập.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905155" y="1055786"/>
            <a:ext cx="9335691" cy="1455836"/>
          </a:xfrm>
          <a:prstGeom prst="rect">
            <a:avLst/>
          </a:prstGeom>
        </p:spPr>
        <p:txBody>
          <a:bodyPr lIns="0" tIns="0" rIns="0" bIns="0" rtlCol="0" anchor="t">
            <a:spAutoFit/>
          </a:bodyPr>
          <a:lstStyle/>
          <a:p>
            <a:pPr algn="l">
              <a:lnSpc>
                <a:spcPts val="5500"/>
              </a:lnSpc>
            </a:pPr>
            <a:r>
              <a:rPr lang="en-US" sz="4375" b="1">
                <a:solidFill>
                  <a:srgbClr val="02C1C2"/>
                </a:solidFill>
                <a:latin typeface="Arimo Bold"/>
                <a:ea typeface="Arimo Bold"/>
                <a:cs typeface="Arimo Bold"/>
                <a:sym typeface="Arimo Bold"/>
              </a:rPr>
              <a:t>Tầm Quan Trọng của Tiếng Anh trong CNTT</a:t>
            </a:r>
          </a:p>
        </p:txBody>
      </p:sp>
      <p:grpSp>
        <p:nvGrpSpPr>
          <p:cNvPr id="8" name="Group 8"/>
          <p:cNvGrpSpPr/>
          <p:nvPr/>
        </p:nvGrpSpPr>
        <p:grpSpPr>
          <a:xfrm>
            <a:off x="7905155" y="2870596"/>
            <a:ext cx="538460" cy="538460"/>
            <a:chOff x="0" y="0"/>
            <a:chExt cx="717947" cy="717947"/>
          </a:xfrm>
        </p:grpSpPr>
        <p:sp>
          <p:nvSpPr>
            <p:cNvPr id="9" name="Freeform 9"/>
            <p:cNvSpPr/>
            <p:nvPr/>
          </p:nvSpPr>
          <p:spPr>
            <a:xfrm>
              <a:off x="0" y="0"/>
              <a:ext cx="717931" cy="717931"/>
            </a:xfrm>
            <a:custGeom>
              <a:avLst/>
              <a:gdLst/>
              <a:ahLst/>
              <a:cxnLst/>
              <a:rect l="l" t="t" r="r" b="b"/>
              <a:pathLst>
                <a:path w="717931" h="717931">
                  <a:moveTo>
                    <a:pt x="0" y="47879"/>
                  </a:moveTo>
                  <a:cubicBezTo>
                    <a:pt x="0" y="21463"/>
                    <a:pt x="21463" y="0"/>
                    <a:pt x="47879" y="0"/>
                  </a:cubicBezTo>
                  <a:lnTo>
                    <a:pt x="670052" y="0"/>
                  </a:lnTo>
                  <a:cubicBezTo>
                    <a:pt x="696468" y="0"/>
                    <a:pt x="717931" y="21463"/>
                    <a:pt x="717931" y="47879"/>
                  </a:cubicBezTo>
                  <a:lnTo>
                    <a:pt x="717931" y="670052"/>
                  </a:lnTo>
                  <a:cubicBezTo>
                    <a:pt x="717931" y="696468"/>
                    <a:pt x="696468" y="717931"/>
                    <a:pt x="670052" y="717931"/>
                  </a:cubicBezTo>
                  <a:lnTo>
                    <a:pt x="47879" y="717931"/>
                  </a:lnTo>
                  <a:cubicBezTo>
                    <a:pt x="21463" y="717931"/>
                    <a:pt x="0" y="696468"/>
                    <a:pt x="0" y="670052"/>
                  </a:cubicBezTo>
                  <a:close/>
                </a:path>
              </a:pathLst>
            </a:custGeom>
            <a:solidFill>
              <a:srgbClr val="2B2952"/>
            </a:solidFill>
          </p:spPr>
        </p:sp>
      </p:grpSp>
      <p:sp>
        <p:nvSpPr>
          <p:cNvPr id="10" name="Freeform 10" descr="preencoded.png"/>
          <p:cNvSpPr/>
          <p:nvPr/>
        </p:nvSpPr>
        <p:spPr>
          <a:xfrm>
            <a:off x="8005465" y="2928640"/>
            <a:ext cx="337840" cy="422374"/>
          </a:xfrm>
          <a:custGeom>
            <a:avLst/>
            <a:gdLst/>
            <a:ahLst/>
            <a:cxnLst/>
            <a:rect l="l" t="t" r="r" b="b"/>
            <a:pathLst>
              <a:path w="337840" h="422374">
                <a:moveTo>
                  <a:pt x="0" y="0"/>
                </a:moveTo>
                <a:lnTo>
                  <a:pt x="337840" y="0"/>
                </a:lnTo>
                <a:lnTo>
                  <a:pt x="337840" y="422374"/>
                </a:lnTo>
                <a:lnTo>
                  <a:pt x="0" y="422374"/>
                </a:lnTo>
                <a:lnTo>
                  <a:pt x="0" y="0"/>
                </a:lnTo>
                <a:close/>
              </a:path>
            </a:pathLst>
          </a:custGeom>
          <a:blipFill>
            <a:blip r:embed="rId4"/>
            <a:stretch>
              <a:fillRect t="-276" b="-276"/>
            </a:stretch>
          </a:blipFill>
        </p:spPr>
      </p:sp>
      <p:sp>
        <p:nvSpPr>
          <p:cNvPr id="11" name="TextBox 11"/>
          <p:cNvSpPr txBox="1"/>
          <p:nvPr/>
        </p:nvSpPr>
        <p:spPr>
          <a:xfrm>
            <a:off x="8682930" y="2924175"/>
            <a:ext cx="2942630" cy="380554"/>
          </a:xfrm>
          <a:prstGeom prst="rect">
            <a:avLst/>
          </a:prstGeom>
        </p:spPr>
        <p:txBody>
          <a:bodyPr lIns="0" tIns="0" rIns="0" bIns="0" rtlCol="0" anchor="t">
            <a:spAutoFit/>
          </a:bodyPr>
          <a:lstStyle/>
          <a:p>
            <a:pPr algn="l">
              <a:lnSpc>
                <a:spcPts val="2750"/>
              </a:lnSpc>
            </a:pPr>
            <a:r>
              <a:rPr lang="en-US" sz="2187" b="1">
                <a:solidFill>
                  <a:srgbClr val="D9E1FF"/>
                </a:solidFill>
                <a:latin typeface="Arimo Bold"/>
                <a:ea typeface="Arimo Bold"/>
                <a:cs typeface="Arimo Bold"/>
                <a:sym typeface="Arimo Bold"/>
              </a:rPr>
              <a:t>Ngôn ngữ toàn cầu</a:t>
            </a:r>
          </a:p>
        </p:txBody>
      </p:sp>
      <p:sp>
        <p:nvSpPr>
          <p:cNvPr id="12" name="TextBox 12"/>
          <p:cNvSpPr txBox="1"/>
          <p:nvPr/>
        </p:nvSpPr>
        <p:spPr>
          <a:xfrm>
            <a:off x="8682930" y="3343572"/>
            <a:ext cx="8557915" cy="487561"/>
          </a:xfrm>
          <a:prstGeom prst="rect">
            <a:avLst/>
          </a:prstGeom>
        </p:spPr>
        <p:txBody>
          <a:bodyPr lIns="0" tIns="0" rIns="0" bIns="0" rtlCol="0" anchor="t">
            <a:spAutoFit/>
          </a:bodyPr>
          <a:lstStyle/>
          <a:p>
            <a:pPr algn="l">
              <a:lnSpc>
                <a:spcPts val="3000"/>
              </a:lnSpc>
            </a:pPr>
            <a:r>
              <a:rPr lang="en-US" sz="1874">
                <a:solidFill>
                  <a:srgbClr val="D9E1FF"/>
                </a:solidFill>
                <a:latin typeface="Arimo"/>
                <a:ea typeface="Arimo"/>
                <a:cs typeface="Arimo"/>
                <a:sym typeface="Arimo"/>
              </a:rPr>
              <a:t>Tiếng Anh là ngôn ngữ chính của ngành CNTT toàn cầu.</a:t>
            </a:r>
          </a:p>
        </p:txBody>
      </p:sp>
      <p:grpSp>
        <p:nvGrpSpPr>
          <p:cNvPr id="13" name="Group 13"/>
          <p:cNvGrpSpPr/>
          <p:nvPr/>
        </p:nvGrpSpPr>
        <p:grpSpPr>
          <a:xfrm>
            <a:off x="7905155" y="4309765"/>
            <a:ext cx="538460" cy="538460"/>
            <a:chOff x="0" y="0"/>
            <a:chExt cx="717947" cy="717947"/>
          </a:xfrm>
        </p:grpSpPr>
        <p:sp>
          <p:nvSpPr>
            <p:cNvPr id="14" name="Freeform 14"/>
            <p:cNvSpPr/>
            <p:nvPr/>
          </p:nvSpPr>
          <p:spPr>
            <a:xfrm>
              <a:off x="0" y="0"/>
              <a:ext cx="717931" cy="717931"/>
            </a:xfrm>
            <a:custGeom>
              <a:avLst/>
              <a:gdLst/>
              <a:ahLst/>
              <a:cxnLst/>
              <a:rect l="l" t="t" r="r" b="b"/>
              <a:pathLst>
                <a:path w="717931" h="717931">
                  <a:moveTo>
                    <a:pt x="0" y="47879"/>
                  </a:moveTo>
                  <a:cubicBezTo>
                    <a:pt x="0" y="21463"/>
                    <a:pt x="21463" y="0"/>
                    <a:pt x="47879" y="0"/>
                  </a:cubicBezTo>
                  <a:lnTo>
                    <a:pt x="670052" y="0"/>
                  </a:lnTo>
                  <a:cubicBezTo>
                    <a:pt x="696468" y="0"/>
                    <a:pt x="717931" y="21463"/>
                    <a:pt x="717931" y="47879"/>
                  </a:cubicBezTo>
                  <a:lnTo>
                    <a:pt x="717931" y="670052"/>
                  </a:lnTo>
                  <a:cubicBezTo>
                    <a:pt x="717931" y="696468"/>
                    <a:pt x="696468" y="717931"/>
                    <a:pt x="670052" y="717931"/>
                  </a:cubicBezTo>
                  <a:lnTo>
                    <a:pt x="47879" y="717931"/>
                  </a:lnTo>
                  <a:cubicBezTo>
                    <a:pt x="21463" y="717931"/>
                    <a:pt x="0" y="696468"/>
                    <a:pt x="0" y="670052"/>
                  </a:cubicBezTo>
                  <a:close/>
                </a:path>
              </a:pathLst>
            </a:custGeom>
            <a:solidFill>
              <a:srgbClr val="2B2952"/>
            </a:solidFill>
          </p:spPr>
        </p:sp>
      </p:grpSp>
      <p:sp>
        <p:nvSpPr>
          <p:cNvPr id="15" name="Freeform 15" descr="preencoded.png"/>
          <p:cNvSpPr/>
          <p:nvPr/>
        </p:nvSpPr>
        <p:spPr>
          <a:xfrm>
            <a:off x="8005465" y="4367808"/>
            <a:ext cx="337840" cy="422374"/>
          </a:xfrm>
          <a:custGeom>
            <a:avLst/>
            <a:gdLst/>
            <a:ahLst/>
            <a:cxnLst/>
            <a:rect l="l" t="t" r="r" b="b"/>
            <a:pathLst>
              <a:path w="337840" h="422374">
                <a:moveTo>
                  <a:pt x="0" y="0"/>
                </a:moveTo>
                <a:lnTo>
                  <a:pt x="337840" y="0"/>
                </a:lnTo>
                <a:lnTo>
                  <a:pt x="337840" y="422373"/>
                </a:lnTo>
                <a:lnTo>
                  <a:pt x="0" y="422373"/>
                </a:lnTo>
                <a:lnTo>
                  <a:pt x="0" y="0"/>
                </a:lnTo>
                <a:close/>
              </a:path>
            </a:pathLst>
          </a:custGeom>
          <a:blipFill>
            <a:blip r:embed="rId5"/>
            <a:stretch>
              <a:fillRect t="-276" b="-276"/>
            </a:stretch>
          </a:blipFill>
        </p:spPr>
      </p:sp>
      <p:sp>
        <p:nvSpPr>
          <p:cNvPr id="16" name="TextBox 16"/>
          <p:cNvSpPr txBox="1"/>
          <p:nvPr/>
        </p:nvSpPr>
        <p:spPr>
          <a:xfrm>
            <a:off x="8682930" y="4363343"/>
            <a:ext cx="2816126" cy="380554"/>
          </a:xfrm>
          <a:prstGeom prst="rect">
            <a:avLst/>
          </a:prstGeom>
        </p:spPr>
        <p:txBody>
          <a:bodyPr lIns="0" tIns="0" rIns="0" bIns="0" rtlCol="0" anchor="t">
            <a:spAutoFit/>
          </a:bodyPr>
          <a:lstStyle/>
          <a:p>
            <a:pPr algn="l">
              <a:lnSpc>
                <a:spcPts val="2750"/>
              </a:lnSpc>
            </a:pPr>
            <a:r>
              <a:rPr lang="en-US" sz="2187" b="1">
                <a:solidFill>
                  <a:srgbClr val="D9E1FF"/>
                </a:solidFill>
                <a:latin typeface="Arimo Bold"/>
                <a:ea typeface="Arimo Bold"/>
                <a:cs typeface="Arimo Bold"/>
                <a:sym typeface="Arimo Bold"/>
              </a:rPr>
              <a:t>Tài liệu phong phú</a:t>
            </a:r>
          </a:p>
        </p:txBody>
      </p:sp>
      <p:sp>
        <p:nvSpPr>
          <p:cNvPr id="17" name="TextBox 17"/>
          <p:cNvSpPr txBox="1"/>
          <p:nvPr/>
        </p:nvSpPr>
        <p:spPr>
          <a:xfrm>
            <a:off x="8682930" y="4782741"/>
            <a:ext cx="8557915" cy="487561"/>
          </a:xfrm>
          <a:prstGeom prst="rect">
            <a:avLst/>
          </a:prstGeom>
        </p:spPr>
        <p:txBody>
          <a:bodyPr lIns="0" tIns="0" rIns="0" bIns="0" rtlCol="0" anchor="t">
            <a:spAutoFit/>
          </a:bodyPr>
          <a:lstStyle/>
          <a:p>
            <a:pPr algn="l">
              <a:lnSpc>
                <a:spcPts val="3000"/>
              </a:lnSpc>
            </a:pPr>
            <a:r>
              <a:rPr lang="en-US" sz="1874">
                <a:solidFill>
                  <a:srgbClr val="D9E1FF"/>
                </a:solidFill>
                <a:latin typeface="Arimo"/>
                <a:ea typeface="Arimo"/>
                <a:cs typeface="Arimo"/>
                <a:sym typeface="Arimo"/>
              </a:rPr>
              <a:t>80% tài liệu kỹ thuật, hướng dẫn đều bằng tiếng Anh.</a:t>
            </a:r>
          </a:p>
        </p:txBody>
      </p:sp>
      <p:grpSp>
        <p:nvGrpSpPr>
          <p:cNvPr id="18" name="Group 18"/>
          <p:cNvGrpSpPr/>
          <p:nvPr/>
        </p:nvGrpSpPr>
        <p:grpSpPr>
          <a:xfrm>
            <a:off x="7905155" y="5748932"/>
            <a:ext cx="538460" cy="538460"/>
            <a:chOff x="0" y="0"/>
            <a:chExt cx="717947" cy="717947"/>
          </a:xfrm>
        </p:grpSpPr>
        <p:sp>
          <p:nvSpPr>
            <p:cNvPr id="19" name="Freeform 19"/>
            <p:cNvSpPr/>
            <p:nvPr/>
          </p:nvSpPr>
          <p:spPr>
            <a:xfrm>
              <a:off x="0" y="0"/>
              <a:ext cx="717931" cy="717931"/>
            </a:xfrm>
            <a:custGeom>
              <a:avLst/>
              <a:gdLst/>
              <a:ahLst/>
              <a:cxnLst/>
              <a:rect l="l" t="t" r="r" b="b"/>
              <a:pathLst>
                <a:path w="717931" h="717931">
                  <a:moveTo>
                    <a:pt x="0" y="47879"/>
                  </a:moveTo>
                  <a:cubicBezTo>
                    <a:pt x="0" y="21463"/>
                    <a:pt x="21463" y="0"/>
                    <a:pt x="47879" y="0"/>
                  </a:cubicBezTo>
                  <a:lnTo>
                    <a:pt x="670052" y="0"/>
                  </a:lnTo>
                  <a:cubicBezTo>
                    <a:pt x="696468" y="0"/>
                    <a:pt x="717931" y="21463"/>
                    <a:pt x="717931" y="47879"/>
                  </a:cubicBezTo>
                  <a:lnTo>
                    <a:pt x="717931" y="670052"/>
                  </a:lnTo>
                  <a:cubicBezTo>
                    <a:pt x="717931" y="696468"/>
                    <a:pt x="696468" y="717931"/>
                    <a:pt x="670052" y="717931"/>
                  </a:cubicBezTo>
                  <a:lnTo>
                    <a:pt x="47879" y="717931"/>
                  </a:lnTo>
                  <a:cubicBezTo>
                    <a:pt x="21463" y="717931"/>
                    <a:pt x="0" y="696468"/>
                    <a:pt x="0" y="670052"/>
                  </a:cubicBezTo>
                  <a:close/>
                </a:path>
              </a:pathLst>
            </a:custGeom>
            <a:solidFill>
              <a:srgbClr val="2B2952"/>
            </a:solidFill>
          </p:spPr>
        </p:sp>
      </p:grpSp>
      <p:sp>
        <p:nvSpPr>
          <p:cNvPr id="20" name="Freeform 20" descr="preencoded.png"/>
          <p:cNvSpPr/>
          <p:nvPr/>
        </p:nvSpPr>
        <p:spPr>
          <a:xfrm>
            <a:off x="8005465" y="5806976"/>
            <a:ext cx="337840" cy="422374"/>
          </a:xfrm>
          <a:custGeom>
            <a:avLst/>
            <a:gdLst/>
            <a:ahLst/>
            <a:cxnLst/>
            <a:rect l="l" t="t" r="r" b="b"/>
            <a:pathLst>
              <a:path w="337840" h="422374">
                <a:moveTo>
                  <a:pt x="0" y="0"/>
                </a:moveTo>
                <a:lnTo>
                  <a:pt x="337840" y="0"/>
                </a:lnTo>
                <a:lnTo>
                  <a:pt x="337840" y="422374"/>
                </a:lnTo>
                <a:lnTo>
                  <a:pt x="0" y="422374"/>
                </a:lnTo>
                <a:lnTo>
                  <a:pt x="0" y="0"/>
                </a:lnTo>
                <a:close/>
              </a:path>
            </a:pathLst>
          </a:custGeom>
          <a:blipFill>
            <a:blip r:embed="rId6"/>
            <a:stretch>
              <a:fillRect t="-276" b="-276"/>
            </a:stretch>
          </a:blipFill>
        </p:spPr>
      </p:sp>
      <p:sp>
        <p:nvSpPr>
          <p:cNvPr id="21" name="TextBox 21"/>
          <p:cNvSpPr txBox="1"/>
          <p:nvPr/>
        </p:nvSpPr>
        <p:spPr>
          <a:xfrm>
            <a:off x="8682930" y="5802511"/>
            <a:ext cx="2816126" cy="380554"/>
          </a:xfrm>
          <a:prstGeom prst="rect">
            <a:avLst/>
          </a:prstGeom>
        </p:spPr>
        <p:txBody>
          <a:bodyPr lIns="0" tIns="0" rIns="0" bIns="0" rtlCol="0" anchor="t">
            <a:spAutoFit/>
          </a:bodyPr>
          <a:lstStyle/>
          <a:p>
            <a:pPr algn="l">
              <a:lnSpc>
                <a:spcPts val="2750"/>
              </a:lnSpc>
            </a:pPr>
            <a:r>
              <a:rPr lang="en-US" sz="2187" b="1">
                <a:solidFill>
                  <a:srgbClr val="D9E1FF"/>
                </a:solidFill>
                <a:latin typeface="Arimo Bold"/>
                <a:ea typeface="Arimo Bold"/>
                <a:cs typeface="Arimo Bold"/>
                <a:sym typeface="Arimo Bold"/>
              </a:rPr>
              <a:t>Cơ hội việc làm</a:t>
            </a:r>
          </a:p>
        </p:txBody>
      </p:sp>
      <p:sp>
        <p:nvSpPr>
          <p:cNvPr id="22" name="TextBox 22"/>
          <p:cNvSpPr txBox="1"/>
          <p:nvPr/>
        </p:nvSpPr>
        <p:spPr>
          <a:xfrm>
            <a:off x="8682930" y="6221909"/>
            <a:ext cx="8557915" cy="487561"/>
          </a:xfrm>
          <a:prstGeom prst="rect">
            <a:avLst/>
          </a:prstGeom>
        </p:spPr>
        <p:txBody>
          <a:bodyPr lIns="0" tIns="0" rIns="0" bIns="0" rtlCol="0" anchor="t">
            <a:spAutoFit/>
          </a:bodyPr>
          <a:lstStyle/>
          <a:p>
            <a:pPr algn="l">
              <a:lnSpc>
                <a:spcPts val="3000"/>
              </a:lnSpc>
            </a:pPr>
            <a:r>
              <a:rPr lang="en-US" sz="1874">
                <a:solidFill>
                  <a:srgbClr val="D9E1FF"/>
                </a:solidFill>
                <a:latin typeface="Arimo"/>
                <a:ea typeface="Arimo"/>
                <a:cs typeface="Arimo"/>
                <a:sym typeface="Arimo"/>
              </a:rPr>
              <a:t>Mở rộng cơ hội nghề nghiệp tại FPT, VNPT, Viettel và các công ty đa quốc gia.</a:t>
            </a:r>
          </a:p>
        </p:txBody>
      </p:sp>
      <p:grpSp>
        <p:nvGrpSpPr>
          <p:cNvPr id="23" name="Group 23"/>
          <p:cNvGrpSpPr/>
          <p:nvPr/>
        </p:nvGrpSpPr>
        <p:grpSpPr>
          <a:xfrm>
            <a:off x="7905155" y="7188101"/>
            <a:ext cx="538460" cy="538460"/>
            <a:chOff x="0" y="0"/>
            <a:chExt cx="717947" cy="717947"/>
          </a:xfrm>
        </p:grpSpPr>
        <p:sp>
          <p:nvSpPr>
            <p:cNvPr id="24" name="Freeform 24"/>
            <p:cNvSpPr/>
            <p:nvPr/>
          </p:nvSpPr>
          <p:spPr>
            <a:xfrm>
              <a:off x="0" y="0"/>
              <a:ext cx="717931" cy="717931"/>
            </a:xfrm>
            <a:custGeom>
              <a:avLst/>
              <a:gdLst/>
              <a:ahLst/>
              <a:cxnLst/>
              <a:rect l="l" t="t" r="r" b="b"/>
              <a:pathLst>
                <a:path w="717931" h="717931">
                  <a:moveTo>
                    <a:pt x="0" y="47879"/>
                  </a:moveTo>
                  <a:cubicBezTo>
                    <a:pt x="0" y="21463"/>
                    <a:pt x="21463" y="0"/>
                    <a:pt x="47879" y="0"/>
                  </a:cubicBezTo>
                  <a:lnTo>
                    <a:pt x="670052" y="0"/>
                  </a:lnTo>
                  <a:cubicBezTo>
                    <a:pt x="696468" y="0"/>
                    <a:pt x="717931" y="21463"/>
                    <a:pt x="717931" y="47879"/>
                  </a:cubicBezTo>
                  <a:lnTo>
                    <a:pt x="717931" y="670052"/>
                  </a:lnTo>
                  <a:cubicBezTo>
                    <a:pt x="717931" y="696468"/>
                    <a:pt x="696468" y="717931"/>
                    <a:pt x="670052" y="717931"/>
                  </a:cubicBezTo>
                  <a:lnTo>
                    <a:pt x="47879" y="717931"/>
                  </a:lnTo>
                  <a:cubicBezTo>
                    <a:pt x="21463" y="717931"/>
                    <a:pt x="0" y="696468"/>
                    <a:pt x="0" y="670052"/>
                  </a:cubicBezTo>
                  <a:close/>
                </a:path>
              </a:pathLst>
            </a:custGeom>
            <a:solidFill>
              <a:srgbClr val="2B2952"/>
            </a:solidFill>
          </p:spPr>
        </p:sp>
      </p:grpSp>
      <p:sp>
        <p:nvSpPr>
          <p:cNvPr id="25" name="Freeform 25" descr="preencoded.png"/>
          <p:cNvSpPr/>
          <p:nvPr/>
        </p:nvSpPr>
        <p:spPr>
          <a:xfrm>
            <a:off x="8005465" y="7246144"/>
            <a:ext cx="337840" cy="422374"/>
          </a:xfrm>
          <a:custGeom>
            <a:avLst/>
            <a:gdLst/>
            <a:ahLst/>
            <a:cxnLst/>
            <a:rect l="l" t="t" r="r" b="b"/>
            <a:pathLst>
              <a:path w="337840" h="422374">
                <a:moveTo>
                  <a:pt x="0" y="0"/>
                </a:moveTo>
                <a:lnTo>
                  <a:pt x="337840" y="0"/>
                </a:lnTo>
                <a:lnTo>
                  <a:pt x="337840" y="422373"/>
                </a:lnTo>
                <a:lnTo>
                  <a:pt x="0" y="422373"/>
                </a:lnTo>
                <a:lnTo>
                  <a:pt x="0" y="0"/>
                </a:lnTo>
                <a:close/>
              </a:path>
            </a:pathLst>
          </a:custGeom>
          <a:blipFill>
            <a:blip r:embed="rId7"/>
            <a:stretch>
              <a:fillRect t="-276" b="-276"/>
            </a:stretch>
          </a:blipFill>
        </p:spPr>
      </p:sp>
      <p:sp>
        <p:nvSpPr>
          <p:cNvPr id="26" name="TextBox 26"/>
          <p:cNvSpPr txBox="1"/>
          <p:nvPr/>
        </p:nvSpPr>
        <p:spPr>
          <a:xfrm>
            <a:off x="8682930" y="7241679"/>
            <a:ext cx="2816126" cy="380554"/>
          </a:xfrm>
          <a:prstGeom prst="rect">
            <a:avLst/>
          </a:prstGeom>
        </p:spPr>
        <p:txBody>
          <a:bodyPr lIns="0" tIns="0" rIns="0" bIns="0" rtlCol="0" anchor="t">
            <a:spAutoFit/>
          </a:bodyPr>
          <a:lstStyle/>
          <a:p>
            <a:pPr algn="l">
              <a:lnSpc>
                <a:spcPts val="2750"/>
              </a:lnSpc>
            </a:pPr>
            <a:r>
              <a:rPr lang="en-US" sz="2187" b="1">
                <a:solidFill>
                  <a:srgbClr val="D9E1FF"/>
                </a:solidFill>
                <a:latin typeface="Arimo Bold"/>
                <a:ea typeface="Arimo Bold"/>
                <a:cs typeface="Arimo Bold"/>
                <a:sym typeface="Arimo Bold"/>
              </a:rPr>
              <a:t>Tiếp cận tri thức</a:t>
            </a:r>
          </a:p>
        </p:txBody>
      </p:sp>
      <p:sp>
        <p:nvSpPr>
          <p:cNvPr id="27" name="TextBox 27"/>
          <p:cNvSpPr txBox="1"/>
          <p:nvPr/>
        </p:nvSpPr>
        <p:spPr>
          <a:xfrm>
            <a:off x="8682930" y="7661076"/>
            <a:ext cx="8557915" cy="487561"/>
          </a:xfrm>
          <a:prstGeom prst="rect">
            <a:avLst/>
          </a:prstGeom>
        </p:spPr>
        <p:txBody>
          <a:bodyPr lIns="0" tIns="0" rIns="0" bIns="0" rtlCol="0" anchor="t">
            <a:spAutoFit/>
          </a:bodyPr>
          <a:lstStyle/>
          <a:p>
            <a:pPr algn="l">
              <a:lnSpc>
                <a:spcPts val="3000"/>
              </a:lnSpc>
            </a:pPr>
            <a:r>
              <a:rPr lang="en-US" sz="1874">
                <a:solidFill>
                  <a:srgbClr val="D9E1FF"/>
                </a:solidFill>
                <a:latin typeface="Arimo"/>
                <a:ea typeface="Arimo"/>
                <a:cs typeface="Arimo"/>
                <a:sym typeface="Arimo"/>
              </a:rPr>
              <a:t>Giúp bạn tiếp cận thông tin và kiến thức mới nhất nhanh chóng.</a:t>
            </a:r>
          </a:p>
        </p:txBody>
      </p:sp>
      <p:sp>
        <p:nvSpPr>
          <p:cNvPr id="28" name="TextBox 28"/>
          <p:cNvSpPr txBox="1"/>
          <p:nvPr/>
        </p:nvSpPr>
        <p:spPr>
          <a:xfrm>
            <a:off x="7905155" y="8313092"/>
            <a:ext cx="9335691" cy="870347"/>
          </a:xfrm>
          <a:prstGeom prst="rect">
            <a:avLst/>
          </a:prstGeom>
        </p:spPr>
        <p:txBody>
          <a:bodyPr lIns="0" tIns="0" rIns="0" bIns="0" rtlCol="0" anchor="t">
            <a:spAutoFit/>
          </a:bodyPr>
          <a:lstStyle/>
          <a:p>
            <a:pPr algn="l">
              <a:lnSpc>
                <a:spcPts val="3000"/>
              </a:lnSpc>
            </a:pPr>
            <a:r>
              <a:rPr lang="en-US" sz="1874">
                <a:solidFill>
                  <a:srgbClr val="D9E1FF"/>
                </a:solidFill>
                <a:latin typeface="Arimo"/>
                <a:ea typeface="Arimo"/>
                <a:cs typeface="Arimo"/>
                <a:sym typeface="Arimo"/>
              </a:rPr>
              <a:t>Nghiên cứu của Đại học Stanford cho thấy những người giỏi tiếng Anh có thu nhập cao hơn 20% trong ngành CNTT.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descr="preencoded.png"/>
          <p:cNvSpPr/>
          <p:nvPr/>
        </p:nvSpPr>
        <p:spPr>
          <a:xfrm>
            <a:off x="0" y="0"/>
            <a:ext cx="18288000" cy="3451026"/>
          </a:xfrm>
          <a:custGeom>
            <a:avLst/>
            <a:gdLst/>
            <a:ahLst/>
            <a:cxnLst/>
            <a:rect l="l" t="t" r="r" b="b"/>
            <a:pathLst>
              <a:path w="18288000" h="3451026">
                <a:moveTo>
                  <a:pt x="0" y="0"/>
                </a:moveTo>
                <a:lnTo>
                  <a:pt x="18288000" y="0"/>
                </a:lnTo>
                <a:lnTo>
                  <a:pt x="18288000" y="3451026"/>
                </a:lnTo>
                <a:lnTo>
                  <a:pt x="0" y="3451026"/>
                </a:lnTo>
                <a:lnTo>
                  <a:pt x="0" y="0"/>
                </a:lnTo>
                <a:close/>
              </a:path>
            </a:pathLst>
          </a:custGeom>
          <a:blipFill>
            <a:blip r:embed="rId3"/>
            <a:stretch>
              <a:fillRect l="-43" r="-43"/>
            </a:stretch>
          </a:blipFill>
        </p:spPr>
      </p:sp>
      <p:sp>
        <p:nvSpPr>
          <p:cNvPr id="7" name="TextBox 7"/>
          <p:cNvSpPr txBox="1"/>
          <p:nvPr/>
        </p:nvSpPr>
        <p:spPr>
          <a:xfrm>
            <a:off x="1017091" y="4598342"/>
            <a:ext cx="15781884" cy="869156"/>
          </a:xfrm>
          <a:prstGeom prst="rect">
            <a:avLst/>
          </a:prstGeom>
        </p:spPr>
        <p:txBody>
          <a:bodyPr lIns="0" tIns="0" rIns="0" bIns="0" rtlCol="0" anchor="t">
            <a:spAutoFit/>
          </a:bodyPr>
          <a:lstStyle/>
          <a:p>
            <a:pPr algn="l">
              <a:lnSpc>
                <a:spcPts val="6374"/>
              </a:lnSpc>
            </a:pPr>
            <a:r>
              <a:rPr lang="en-US" sz="5062" b="1">
                <a:solidFill>
                  <a:srgbClr val="02C1C2"/>
                </a:solidFill>
                <a:latin typeface="Arimo Bold"/>
                <a:ea typeface="Arimo Bold"/>
                <a:cs typeface="Arimo Bold"/>
                <a:sym typeface="Arimo Bold"/>
              </a:rPr>
              <a:t>Kỹ Năng Đọc Hiểu (Reading Comprehension)</a:t>
            </a:r>
          </a:p>
        </p:txBody>
      </p:sp>
      <p:grpSp>
        <p:nvGrpSpPr>
          <p:cNvPr id="8" name="Group 8"/>
          <p:cNvGrpSpPr/>
          <p:nvPr/>
        </p:nvGrpSpPr>
        <p:grpSpPr>
          <a:xfrm>
            <a:off x="1017091" y="5881539"/>
            <a:ext cx="5233839" cy="2007096"/>
            <a:chOff x="0" y="0"/>
            <a:chExt cx="6978452" cy="2676128"/>
          </a:xfrm>
        </p:grpSpPr>
        <p:sp>
          <p:nvSpPr>
            <p:cNvPr id="9" name="Freeform 9"/>
            <p:cNvSpPr/>
            <p:nvPr/>
          </p:nvSpPr>
          <p:spPr>
            <a:xfrm>
              <a:off x="0" y="0"/>
              <a:ext cx="6978523" cy="2676144"/>
            </a:xfrm>
            <a:custGeom>
              <a:avLst/>
              <a:gdLst/>
              <a:ahLst/>
              <a:cxnLst/>
              <a:rect l="l" t="t" r="r" b="b"/>
              <a:pathLst>
                <a:path w="6978523" h="2676144">
                  <a:moveTo>
                    <a:pt x="0" y="55245"/>
                  </a:moveTo>
                  <a:cubicBezTo>
                    <a:pt x="0" y="24765"/>
                    <a:pt x="24765" y="0"/>
                    <a:pt x="55245" y="0"/>
                  </a:cubicBezTo>
                  <a:lnTo>
                    <a:pt x="6923278" y="0"/>
                  </a:lnTo>
                  <a:cubicBezTo>
                    <a:pt x="6953758" y="0"/>
                    <a:pt x="6978523" y="24765"/>
                    <a:pt x="6978523" y="55245"/>
                  </a:cubicBezTo>
                  <a:lnTo>
                    <a:pt x="6978523" y="2620899"/>
                  </a:lnTo>
                  <a:cubicBezTo>
                    <a:pt x="6978523" y="2651379"/>
                    <a:pt x="6953758" y="2676144"/>
                    <a:pt x="6923278" y="2676144"/>
                  </a:cubicBezTo>
                  <a:lnTo>
                    <a:pt x="55245" y="2676144"/>
                  </a:lnTo>
                  <a:cubicBezTo>
                    <a:pt x="24765" y="2676144"/>
                    <a:pt x="0" y="2651379"/>
                    <a:pt x="0" y="2620899"/>
                  </a:cubicBezTo>
                  <a:close/>
                </a:path>
              </a:pathLst>
            </a:custGeom>
            <a:solidFill>
              <a:srgbClr val="2B2952"/>
            </a:solidFill>
          </p:spPr>
        </p:sp>
      </p:grpSp>
      <p:sp>
        <p:nvSpPr>
          <p:cNvPr id="10" name="TextBox 10"/>
          <p:cNvSpPr txBox="1"/>
          <p:nvPr/>
        </p:nvSpPr>
        <p:spPr>
          <a:xfrm>
            <a:off x="1293168" y="6129040"/>
            <a:ext cx="3248025" cy="434429"/>
          </a:xfrm>
          <a:prstGeom prst="rect">
            <a:avLst/>
          </a:prstGeom>
        </p:spPr>
        <p:txBody>
          <a:bodyPr lIns="0" tIns="0" rIns="0" bIns="0" rtlCol="0" anchor="t">
            <a:spAutoFit/>
          </a:bodyPr>
          <a:lstStyle/>
          <a:p>
            <a:pPr algn="l">
              <a:lnSpc>
                <a:spcPts val="3187"/>
              </a:lnSpc>
            </a:pPr>
            <a:r>
              <a:rPr lang="en-US" sz="2499" b="1">
                <a:solidFill>
                  <a:srgbClr val="D9E1FF"/>
                </a:solidFill>
                <a:latin typeface="Arimo Bold"/>
                <a:ea typeface="Arimo Bold"/>
                <a:cs typeface="Arimo Bold"/>
                <a:sym typeface="Arimo Bold"/>
              </a:rPr>
              <a:t>Tài liệu kỹ thuật</a:t>
            </a:r>
          </a:p>
        </p:txBody>
      </p:sp>
      <p:sp>
        <p:nvSpPr>
          <p:cNvPr id="11" name="TextBox 11"/>
          <p:cNvSpPr txBox="1"/>
          <p:nvPr/>
        </p:nvSpPr>
        <p:spPr>
          <a:xfrm>
            <a:off x="1293168" y="6633865"/>
            <a:ext cx="4681686" cy="978694"/>
          </a:xfrm>
          <a:prstGeom prst="rect">
            <a:avLst/>
          </a:prstGeom>
        </p:spPr>
        <p:txBody>
          <a:bodyPr lIns="0" tIns="0" rIns="0" bIns="0" rtlCol="0" anchor="t">
            <a:spAutoFit/>
          </a:bodyPr>
          <a:lstStyle/>
          <a:p>
            <a:pPr algn="l">
              <a:lnSpc>
                <a:spcPts val="3437"/>
              </a:lnSpc>
            </a:pPr>
            <a:r>
              <a:rPr lang="en-US" sz="2125">
                <a:solidFill>
                  <a:srgbClr val="D9E1FF"/>
                </a:solidFill>
                <a:latin typeface="Arimo"/>
                <a:ea typeface="Arimo"/>
                <a:cs typeface="Arimo"/>
                <a:sym typeface="Arimo"/>
              </a:rPr>
              <a:t>Đọc hiểu sách, báo cáo, bài viết chuyên ngành.</a:t>
            </a:r>
          </a:p>
        </p:txBody>
      </p:sp>
      <p:grpSp>
        <p:nvGrpSpPr>
          <p:cNvPr id="12" name="Group 12"/>
          <p:cNvGrpSpPr/>
          <p:nvPr/>
        </p:nvGrpSpPr>
        <p:grpSpPr>
          <a:xfrm>
            <a:off x="6527006" y="5881539"/>
            <a:ext cx="5233839" cy="2007096"/>
            <a:chOff x="0" y="0"/>
            <a:chExt cx="6978452" cy="2676128"/>
          </a:xfrm>
        </p:grpSpPr>
        <p:sp>
          <p:nvSpPr>
            <p:cNvPr id="13" name="Freeform 13"/>
            <p:cNvSpPr/>
            <p:nvPr/>
          </p:nvSpPr>
          <p:spPr>
            <a:xfrm>
              <a:off x="0" y="0"/>
              <a:ext cx="6978523" cy="2676144"/>
            </a:xfrm>
            <a:custGeom>
              <a:avLst/>
              <a:gdLst/>
              <a:ahLst/>
              <a:cxnLst/>
              <a:rect l="l" t="t" r="r" b="b"/>
              <a:pathLst>
                <a:path w="6978523" h="2676144">
                  <a:moveTo>
                    <a:pt x="0" y="55245"/>
                  </a:moveTo>
                  <a:cubicBezTo>
                    <a:pt x="0" y="24765"/>
                    <a:pt x="24765" y="0"/>
                    <a:pt x="55245" y="0"/>
                  </a:cubicBezTo>
                  <a:lnTo>
                    <a:pt x="6923278" y="0"/>
                  </a:lnTo>
                  <a:cubicBezTo>
                    <a:pt x="6953758" y="0"/>
                    <a:pt x="6978523" y="24765"/>
                    <a:pt x="6978523" y="55245"/>
                  </a:cubicBezTo>
                  <a:lnTo>
                    <a:pt x="6978523" y="2620899"/>
                  </a:lnTo>
                  <a:cubicBezTo>
                    <a:pt x="6978523" y="2651379"/>
                    <a:pt x="6953758" y="2676144"/>
                    <a:pt x="6923278" y="2676144"/>
                  </a:cubicBezTo>
                  <a:lnTo>
                    <a:pt x="55245" y="2676144"/>
                  </a:lnTo>
                  <a:cubicBezTo>
                    <a:pt x="24765" y="2676144"/>
                    <a:pt x="0" y="2651379"/>
                    <a:pt x="0" y="2620899"/>
                  </a:cubicBezTo>
                  <a:close/>
                </a:path>
              </a:pathLst>
            </a:custGeom>
            <a:solidFill>
              <a:srgbClr val="2B2952"/>
            </a:solidFill>
          </p:spPr>
        </p:sp>
      </p:grpSp>
      <p:sp>
        <p:nvSpPr>
          <p:cNvPr id="14" name="TextBox 14"/>
          <p:cNvSpPr txBox="1"/>
          <p:nvPr/>
        </p:nvSpPr>
        <p:spPr>
          <a:xfrm>
            <a:off x="6803082" y="6129040"/>
            <a:ext cx="4054971" cy="434429"/>
          </a:xfrm>
          <a:prstGeom prst="rect">
            <a:avLst/>
          </a:prstGeom>
        </p:spPr>
        <p:txBody>
          <a:bodyPr lIns="0" tIns="0" rIns="0" bIns="0" rtlCol="0" anchor="t">
            <a:spAutoFit/>
          </a:bodyPr>
          <a:lstStyle/>
          <a:p>
            <a:pPr algn="l">
              <a:lnSpc>
                <a:spcPts val="3187"/>
              </a:lnSpc>
            </a:pPr>
            <a:r>
              <a:rPr lang="en-US" sz="2499" b="1">
                <a:solidFill>
                  <a:srgbClr val="D9E1FF"/>
                </a:solidFill>
                <a:latin typeface="Arimo Bold"/>
                <a:ea typeface="Arimo Bold"/>
                <a:cs typeface="Arimo Bold"/>
                <a:sym typeface="Arimo Bold"/>
              </a:rPr>
              <a:t>Từ vựng chuyên ngành</a:t>
            </a:r>
          </a:p>
        </p:txBody>
      </p:sp>
      <p:sp>
        <p:nvSpPr>
          <p:cNvPr id="15" name="TextBox 15"/>
          <p:cNvSpPr txBox="1"/>
          <p:nvPr/>
        </p:nvSpPr>
        <p:spPr>
          <a:xfrm>
            <a:off x="6803082" y="6633865"/>
            <a:ext cx="4681686" cy="978694"/>
          </a:xfrm>
          <a:prstGeom prst="rect">
            <a:avLst/>
          </a:prstGeom>
        </p:spPr>
        <p:txBody>
          <a:bodyPr lIns="0" tIns="0" rIns="0" bIns="0" rtlCol="0" anchor="t">
            <a:spAutoFit/>
          </a:bodyPr>
          <a:lstStyle/>
          <a:p>
            <a:pPr algn="l">
              <a:lnSpc>
                <a:spcPts val="3437"/>
              </a:lnSpc>
            </a:pPr>
            <a:r>
              <a:rPr lang="en-US" sz="2125">
                <a:solidFill>
                  <a:srgbClr val="D9E1FF"/>
                </a:solidFill>
                <a:latin typeface="Arimo"/>
                <a:ea typeface="Arimo"/>
                <a:cs typeface="Arimo"/>
                <a:sym typeface="Arimo"/>
              </a:rPr>
              <a:t>Nắm vững thuật ngữ, khái niệm (API, Cloud, IoT).</a:t>
            </a:r>
          </a:p>
        </p:txBody>
      </p:sp>
      <p:grpSp>
        <p:nvGrpSpPr>
          <p:cNvPr id="16" name="Group 16"/>
          <p:cNvGrpSpPr/>
          <p:nvPr/>
        </p:nvGrpSpPr>
        <p:grpSpPr>
          <a:xfrm>
            <a:off x="12036921" y="5881539"/>
            <a:ext cx="5233839" cy="2007096"/>
            <a:chOff x="0" y="0"/>
            <a:chExt cx="6978452" cy="2676128"/>
          </a:xfrm>
        </p:grpSpPr>
        <p:sp>
          <p:nvSpPr>
            <p:cNvPr id="17" name="Freeform 17"/>
            <p:cNvSpPr/>
            <p:nvPr/>
          </p:nvSpPr>
          <p:spPr>
            <a:xfrm>
              <a:off x="0" y="0"/>
              <a:ext cx="6978523" cy="2676144"/>
            </a:xfrm>
            <a:custGeom>
              <a:avLst/>
              <a:gdLst/>
              <a:ahLst/>
              <a:cxnLst/>
              <a:rect l="l" t="t" r="r" b="b"/>
              <a:pathLst>
                <a:path w="6978523" h="2676144">
                  <a:moveTo>
                    <a:pt x="0" y="55245"/>
                  </a:moveTo>
                  <a:cubicBezTo>
                    <a:pt x="0" y="24765"/>
                    <a:pt x="24765" y="0"/>
                    <a:pt x="55245" y="0"/>
                  </a:cubicBezTo>
                  <a:lnTo>
                    <a:pt x="6923278" y="0"/>
                  </a:lnTo>
                  <a:cubicBezTo>
                    <a:pt x="6953758" y="0"/>
                    <a:pt x="6978523" y="24765"/>
                    <a:pt x="6978523" y="55245"/>
                  </a:cubicBezTo>
                  <a:lnTo>
                    <a:pt x="6978523" y="2620899"/>
                  </a:lnTo>
                  <a:cubicBezTo>
                    <a:pt x="6978523" y="2651379"/>
                    <a:pt x="6953758" y="2676144"/>
                    <a:pt x="6923278" y="2676144"/>
                  </a:cubicBezTo>
                  <a:lnTo>
                    <a:pt x="55245" y="2676144"/>
                  </a:lnTo>
                  <a:cubicBezTo>
                    <a:pt x="24765" y="2676144"/>
                    <a:pt x="0" y="2651379"/>
                    <a:pt x="0" y="2620899"/>
                  </a:cubicBezTo>
                  <a:close/>
                </a:path>
              </a:pathLst>
            </a:custGeom>
            <a:solidFill>
              <a:srgbClr val="2B2952"/>
            </a:solidFill>
          </p:spPr>
        </p:sp>
      </p:grpSp>
      <p:sp>
        <p:nvSpPr>
          <p:cNvPr id="18" name="TextBox 18"/>
          <p:cNvSpPr txBox="1"/>
          <p:nvPr/>
        </p:nvSpPr>
        <p:spPr>
          <a:xfrm>
            <a:off x="12312998" y="6129040"/>
            <a:ext cx="3480048" cy="434429"/>
          </a:xfrm>
          <a:prstGeom prst="rect">
            <a:avLst/>
          </a:prstGeom>
        </p:spPr>
        <p:txBody>
          <a:bodyPr lIns="0" tIns="0" rIns="0" bIns="0" rtlCol="0" anchor="t">
            <a:spAutoFit/>
          </a:bodyPr>
          <a:lstStyle/>
          <a:p>
            <a:pPr algn="l">
              <a:lnSpc>
                <a:spcPts val="3187"/>
              </a:lnSpc>
            </a:pPr>
            <a:r>
              <a:rPr lang="en-US" sz="2499" b="1">
                <a:solidFill>
                  <a:srgbClr val="D9E1FF"/>
                </a:solidFill>
                <a:latin typeface="Arimo Bold"/>
                <a:ea typeface="Arimo Bold"/>
                <a:cs typeface="Arimo Bold"/>
                <a:sym typeface="Arimo Bold"/>
              </a:rPr>
              <a:t>Đọc nhanh hiệu quả</a:t>
            </a:r>
          </a:p>
        </p:txBody>
      </p:sp>
      <p:sp>
        <p:nvSpPr>
          <p:cNvPr id="19" name="TextBox 19"/>
          <p:cNvSpPr txBox="1"/>
          <p:nvPr/>
        </p:nvSpPr>
        <p:spPr>
          <a:xfrm>
            <a:off x="12312998" y="6633865"/>
            <a:ext cx="4681686" cy="978694"/>
          </a:xfrm>
          <a:prstGeom prst="rect">
            <a:avLst/>
          </a:prstGeom>
        </p:spPr>
        <p:txBody>
          <a:bodyPr lIns="0" tIns="0" rIns="0" bIns="0" rtlCol="0" anchor="t">
            <a:spAutoFit/>
          </a:bodyPr>
          <a:lstStyle/>
          <a:p>
            <a:pPr algn="l">
              <a:lnSpc>
                <a:spcPts val="3437"/>
              </a:lnSpc>
            </a:pPr>
            <a:r>
              <a:rPr lang="en-US" sz="2125">
                <a:solidFill>
                  <a:srgbClr val="D9E1FF"/>
                </a:solidFill>
                <a:latin typeface="Arimo"/>
                <a:ea typeface="Arimo"/>
                <a:cs typeface="Arimo"/>
                <a:sym typeface="Arimo"/>
              </a:rPr>
              <a:t>Sử dụng skimming và scanning để tìm kiếm thông tin.</a:t>
            </a:r>
          </a:p>
        </p:txBody>
      </p:sp>
      <p:sp>
        <p:nvSpPr>
          <p:cNvPr id="20" name="TextBox 20"/>
          <p:cNvSpPr txBox="1"/>
          <p:nvPr/>
        </p:nvSpPr>
        <p:spPr>
          <a:xfrm>
            <a:off x="1017091" y="8103840"/>
            <a:ext cx="16253817" cy="978694"/>
          </a:xfrm>
          <a:prstGeom prst="rect">
            <a:avLst/>
          </a:prstGeom>
        </p:spPr>
        <p:txBody>
          <a:bodyPr lIns="0" tIns="0" rIns="0" bIns="0" rtlCol="0" anchor="t">
            <a:spAutoFit/>
          </a:bodyPr>
          <a:lstStyle/>
          <a:p>
            <a:pPr algn="l">
              <a:lnSpc>
                <a:spcPts val="3437"/>
              </a:lnSpc>
            </a:pPr>
            <a:r>
              <a:rPr lang="en-US" sz="2125">
                <a:solidFill>
                  <a:srgbClr val="D9E1FF"/>
                </a:solidFill>
                <a:latin typeface="Arimo"/>
                <a:ea typeface="Arimo"/>
                <a:cs typeface="Arimo"/>
                <a:sym typeface="Arimo"/>
              </a:rPr>
              <a:t>Hãy tận dụng từ điển và công cụ dịch thuật như Google Translate. Luyện tập đọc các trang web uy tín như TechCrunch, Wired, The Verge.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sp>
        <p:nvSpPr>
          <p:cNvPr id="8" name="TextBox 8"/>
          <p:cNvSpPr txBox="1"/>
          <p:nvPr/>
        </p:nvSpPr>
        <p:spPr>
          <a:xfrm>
            <a:off x="1047155" y="2019746"/>
            <a:ext cx="8405366" cy="937171"/>
          </a:xfrm>
          <a:prstGeom prst="rect">
            <a:avLst/>
          </a:prstGeom>
        </p:spPr>
        <p:txBody>
          <a:bodyPr lIns="0" tIns="0" rIns="0" bIns="0" rtlCol="0" anchor="t">
            <a:spAutoFit/>
          </a:bodyPr>
          <a:lstStyle/>
          <a:p>
            <a:pPr algn="l">
              <a:lnSpc>
                <a:spcPts val="6875"/>
              </a:lnSpc>
            </a:pPr>
            <a:r>
              <a:rPr lang="en-US" sz="5500" b="1">
                <a:solidFill>
                  <a:srgbClr val="02C1C2"/>
                </a:solidFill>
                <a:latin typeface="Arimo Bold"/>
                <a:ea typeface="Arimo Bold"/>
                <a:cs typeface="Arimo Bold"/>
                <a:sym typeface="Arimo Bold"/>
              </a:rPr>
              <a:t>Kỹ Năng Viết (Writing)</a:t>
            </a:r>
          </a:p>
        </p:txBody>
      </p:sp>
      <p:sp>
        <p:nvSpPr>
          <p:cNvPr id="9" name="Freeform 9" descr="preencoded.png"/>
          <p:cNvSpPr/>
          <p:nvPr/>
        </p:nvSpPr>
        <p:spPr>
          <a:xfrm>
            <a:off x="1047155" y="3405634"/>
            <a:ext cx="715566" cy="715566"/>
          </a:xfrm>
          <a:custGeom>
            <a:avLst/>
            <a:gdLst/>
            <a:ahLst/>
            <a:cxnLst/>
            <a:rect l="l" t="t" r="r" b="b"/>
            <a:pathLst>
              <a:path w="715566" h="715566">
                <a:moveTo>
                  <a:pt x="0" y="0"/>
                </a:moveTo>
                <a:lnTo>
                  <a:pt x="715566" y="0"/>
                </a:lnTo>
                <a:lnTo>
                  <a:pt x="715566" y="715566"/>
                </a:lnTo>
                <a:lnTo>
                  <a:pt x="0" y="715566"/>
                </a:lnTo>
                <a:lnTo>
                  <a:pt x="0" y="0"/>
                </a:lnTo>
                <a:close/>
              </a:path>
            </a:pathLst>
          </a:custGeom>
          <a:blipFill>
            <a:blip r:embed="rId6"/>
            <a:stretch>
              <a:fillRect/>
            </a:stretch>
          </a:blipFill>
        </p:spPr>
      </p:sp>
      <p:sp>
        <p:nvSpPr>
          <p:cNvPr id="10" name="TextBox 10"/>
          <p:cNvSpPr txBox="1"/>
          <p:nvPr/>
        </p:nvSpPr>
        <p:spPr>
          <a:xfrm>
            <a:off x="1047155" y="4382244"/>
            <a:ext cx="2862560" cy="877888"/>
          </a:xfrm>
          <a:prstGeom prst="rect">
            <a:avLst/>
          </a:prstGeom>
        </p:spPr>
        <p:txBody>
          <a:bodyPr lIns="0" tIns="0" rIns="0" bIns="0" rtlCol="0" anchor="t">
            <a:spAutoFit/>
          </a:bodyPr>
          <a:lstStyle/>
          <a:p>
            <a:pPr algn="l">
              <a:lnSpc>
                <a:spcPts val="3437"/>
              </a:lnSpc>
            </a:pPr>
            <a:r>
              <a:rPr lang="en-US" sz="2750" b="1">
                <a:solidFill>
                  <a:srgbClr val="F3D339"/>
                </a:solidFill>
                <a:latin typeface="Arimo Bold"/>
                <a:ea typeface="Arimo Bold"/>
                <a:cs typeface="Arimo Bold"/>
                <a:sym typeface="Arimo Bold"/>
              </a:rPr>
              <a:t>Email chuyên nghiệp</a:t>
            </a:r>
          </a:p>
        </p:txBody>
      </p:sp>
      <p:sp>
        <p:nvSpPr>
          <p:cNvPr id="11" name="TextBox 11"/>
          <p:cNvSpPr txBox="1"/>
          <p:nvPr/>
        </p:nvSpPr>
        <p:spPr>
          <a:xfrm>
            <a:off x="1047155" y="5365402"/>
            <a:ext cx="2862560" cy="155064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Viết email yêu cầu, báo cáo tiến độ, trao đổi.</a:t>
            </a:r>
          </a:p>
        </p:txBody>
      </p:sp>
      <p:sp>
        <p:nvSpPr>
          <p:cNvPr id="12" name="Freeform 12" descr="preencoded.png"/>
          <p:cNvSpPr/>
          <p:nvPr/>
        </p:nvSpPr>
        <p:spPr>
          <a:xfrm>
            <a:off x="4283720" y="3405634"/>
            <a:ext cx="715566" cy="715566"/>
          </a:xfrm>
          <a:custGeom>
            <a:avLst/>
            <a:gdLst/>
            <a:ahLst/>
            <a:cxnLst/>
            <a:rect l="l" t="t" r="r" b="b"/>
            <a:pathLst>
              <a:path w="715566" h="715566">
                <a:moveTo>
                  <a:pt x="0" y="0"/>
                </a:moveTo>
                <a:lnTo>
                  <a:pt x="715566" y="0"/>
                </a:lnTo>
                <a:lnTo>
                  <a:pt x="715566" y="715566"/>
                </a:lnTo>
                <a:lnTo>
                  <a:pt x="0" y="715566"/>
                </a:lnTo>
                <a:lnTo>
                  <a:pt x="0" y="0"/>
                </a:lnTo>
                <a:close/>
              </a:path>
            </a:pathLst>
          </a:custGeom>
          <a:blipFill>
            <a:blip r:embed="rId7"/>
            <a:stretch>
              <a:fillRect/>
            </a:stretch>
          </a:blipFill>
        </p:spPr>
      </p:sp>
      <p:sp>
        <p:nvSpPr>
          <p:cNvPr id="13" name="TextBox 13"/>
          <p:cNvSpPr txBox="1"/>
          <p:nvPr/>
        </p:nvSpPr>
        <p:spPr>
          <a:xfrm>
            <a:off x="4283720" y="4382244"/>
            <a:ext cx="2862560" cy="917973"/>
          </a:xfrm>
          <a:prstGeom prst="rect">
            <a:avLst/>
          </a:prstGeom>
        </p:spPr>
        <p:txBody>
          <a:bodyPr lIns="0" tIns="0" rIns="0" bIns="0" rtlCol="0" anchor="t">
            <a:spAutoFit/>
          </a:bodyPr>
          <a:lstStyle/>
          <a:p>
            <a:pPr algn="l">
              <a:lnSpc>
                <a:spcPts val="3437"/>
              </a:lnSpc>
            </a:pPr>
            <a:r>
              <a:rPr lang="en-US" sz="2750" b="1">
                <a:solidFill>
                  <a:srgbClr val="F3D339"/>
                </a:solidFill>
                <a:latin typeface="Arimo Bold"/>
                <a:ea typeface="Arimo Bold"/>
                <a:cs typeface="Arimo Bold"/>
                <a:sym typeface="Arimo Bold"/>
              </a:rPr>
              <a:t>Tài liệu kỹ thuật</a:t>
            </a:r>
          </a:p>
        </p:txBody>
      </p:sp>
      <p:sp>
        <p:nvSpPr>
          <p:cNvPr id="14" name="TextBox 14"/>
          <p:cNvSpPr txBox="1"/>
          <p:nvPr/>
        </p:nvSpPr>
        <p:spPr>
          <a:xfrm>
            <a:off x="4283720" y="5365402"/>
            <a:ext cx="2862560" cy="155064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Soạn thảo hướng dẫn sử dụng, đặc tả kỹ thuật.</a:t>
            </a:r>
          </a:p>
        </p:txBody>
      </p:sp>
      <p:sp>
        <p:nvSpPr>
          <p:cNvPr id="15" name="Freeform 15" descr="preencoded.png"/>
          <p:cNvSpPr/>
          <p:nvPr/>
        </p:nvSpPr>
        <p:spPr>
          <a:xfrm>
            <a:off x="7520285" y="3405634"/>
            <a:ext cx="715566" cy="715566"/>
          </a:xfrm>
          <a:custGeom>
            <a:avLst/>
            <a:gdLst/>
            <a:ahLst/>
            <a:cxnLst/>
            <a:rect l="l" t="t" r="r" b="b"/>
            <a:pathLst>
              <a:path w="715566" h="715566">
                <a:moveTo>
                  <a:pt x="0" y="0"/>
                </a:moveTo>
                <a:lnTo>
                  <a:pt x="715566" y="0"/>
                </a:lnTo>
                <a:lnTo>
                  <a:pt x="715566" y="715566"/>
                </a:lnTo>
                <a:lnTo>
                  <a:pt x="0" y="715566"/>
                </a:lnTo>
                <a:lnTo>
                  <a:pt x="0" y="0"/>
                </a:lnTo>
                <a:close/>
              </a:path>
            </a:pathLst>
          </a:custGeom>
          <a:blipFill>
            <a:blip r:embed="rId8"/>
            <a:stretch>
              <a:fillRect/>
            </a:stretch>
          </a:blipFill>
        </p:spPr>
      </p:sp>
      <p:sp>
        <p:nvSpPr>
          <p:cNvPr id="16" name="TextBox 16"/>
          <p:cNvSpPr txBox="1"/>
          <p:nvPr/>
        </p:nvSpPr>
        <p:spPr>
          <a:xfrm>
            <a:off x="7520285" y="4382244"/>
            <a:ext cx="2862560" cy="478036"/>
          </a:xfrm>
          <a:prstGeom prst="rect">
            <a:avLst/>
          </a:prstGeom>
        </p:spPr>
        <p:txBody>
          <a:bodyPr lIns="0" tIns="0" rIns="0" bIns="0" rtlCol="0" anchor="t">
            <a:spAutoFit/>
          </a:bodyPr>
          <a:lstStyle/>
          <a:p>
            <a:pPr algn="l">
              <a:lnSpc>
                <a:spcPts val="3437"/>
              </a:lnSpc>
            </a:pPr>
            <a:r>
              <a:rPr lang="en-US" sz="2750" b="1">
                <a:solidFill>
                  <a:srgbClr val="F3D339"/>
                </a:solidFill>
                <a:latin typeface="Arimo Bold"/>
                <a:ea typeface="Arimo Bold"/>
                <a:cs typeface="Arimo Bold"/>
                <a:sym typeface="Arimo Bold"/>
              </a:rPr>
              <a:t>Bình luận mã</a:t>
            </a:r>
          </a:p>
        </p:txBody>
      </p:sp>
      <p:sp>
        <p:nvSpPr>
          <p:cNvPr id="17" name="TextBox 17"/>
          <p:cNvSpPr txBox="1"/>
          <p:nvPr/>
        </p:nvSpPr>
        <p:spPr>
          <a:xfrm>
            <a:off x="7520285" y="4925466"/>
            <a:ext cx="2862560"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Viết code comments rõ ràng, dễ hiểu.</a:t>
            </a:r>
          </a:p>
        </p:txBody>
      </p:sp>
      <p:sp>
        <p:nvSpPr>
          <p:cNvPr id="18" name="TextBox 18"/>
          <p:cNvSpPr txBox="1"/>
          <p:nvPr/>
        </p:nvSpPr>
        <p:spPr>
          <a:xfrm>
            <a:off x="1047155" y="7138244"/>
            <a:ext cx="9335691"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Sử dụng các công cụ kiểm tra ngữ pháp như Grammarly. Tham gia viết blog hoặc diễn đàn trực tuyến để cải thiện kỹ năng viết.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TextBox 6"/>
          <p:cNvSpPr txBox="1"/>
          <p:nvPr/>
        </p:nvSpPr>
        <p:spPr>
          <a:xfrm>
            <a:off x="1047155" y="697185"/>
            <a:ext cx="9619655" cy="937171"/>
          </a:xfrm>
          <a:prstGeom prst="rect">
            <a:avLst/>
          </a:prstGeom>
        </p:spPr>
        <p:txBody>
          <a:bodyPr lIns="0" tIns="0" rIns="0" bIns="0" rtlCol="0" anchor="t">
            <a:spAutoFit/>
          </a:bodyPr>
          <a:lstStyle/>
          <a:p>
            <a:pPr algn="l">
              <a:lnSpc>
                <a:spcPts val="6875"/>
              </a:lnSpc>
            </a:pPr>
            <a:r>
              <a:rPr lang="en-US" sz="5500" b="1">
                <a:solidFill>
                  <a:srgbClr val="02C1C2"/>
                </a:solidFill>
                <a:latin typeface="Arimo Bold"/>
                <a:ea typeface="Arimo Bold"/>
                <a:cs typeface="Arimo Bold"/>
                <a:sym typeface="Arimo Bold"/>
              </a:rPr>
              <a:t>Kỹ Năng Nghe (Listening)</a:t>
            </a:r>
          </a:p>
        </p:txBody>
      </p:sp>
      <p:sp>
        <p:nvSpPr>
          <p:cNvPr id="7" name="TextBox 7"/>
          <p:cNvSpPr txBox="1"/>
          <p:nvPr/>
        </p:nvSpPr>
        <p:spPr>
          <a:xfrm>
            <a:off x="1918544" y="3119289"/>
            <a:ext cx="3520231"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Giảng, hội thảo</a:t>
            </a:r>
          </a:p>
        </p:txBody>
      </p:sp>
      <p:sp>
        <p:nvSpPr>
          <p:cNvPr id="8" name="TextBox 8"/>
          <p:cNvSpPr txBox="1"/>
          <p:nvPr/>
        </p:nvSpPr>
        <p:spPr>
          <a:xfrm>
            <a:off x="1047155" y="3662511"/>
            <a:ext cx="5263009" cy="923925"/>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Nghe và hiểu các webinar trực tuyến về CNTT.</a:t>
            </a:r>
          </a:p>
        </p:txBody>
      </p:sp>
      <p:sp>
        <p:nvSpPr>
          <p:cNvPr id="9" name="Freeform 9"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3"/>
            <a:stretch>
              <a:fillRect/>
            </a:stretch>
          </a:blipFill>
        </p:spPr>
      </p:sp>
      <p:sp>
        <p:nvSpPr>
          <p:cNvPr id="10" name="Freeform 10" descr="preencoded.png"/>
          <p:cNvSpPr/>
          <p:nvPr/>
        </p:nvSpPr>
        <p:spPr>
          <a:xfrm>
            <a:off x="7901582" y="4180135"/>
            <a:ext cx="420738" cy="525959"/>
          </a:xfrm>
          <a:custGeom>
            <a:avLst/>
            <a:gdLst/>
            <a:ahLst/>
            <a:cxnLst/>
            <a:rect l="l" t="t" r="r" b="b"/>
            <a:pathLst>
              <a:path w="420738" h="525959">
                <a:moveTo>
                  <a:pt x="0" y="0"/>
                </a:moveTo>
                <a:lnTo>
                  <a:pt x="420738" y="0"/>
                </a:lnTo>
                <a:lnTo>
                  <a:pt x="420738" y="525959"/>
                </a:lnTo>
                <a:lnTo>
                  <a:pt x="0" y="525959"/>
                </a:lnTo>
                <a:lnTo>
                  <a:pt x="0" y="0"/>
                </a:lnTo>
                <a:close/>
              </a:path>
            </a:pathLst>
          </a:custGeom>
          <a:blipFill>
            <a:blip r:embed="rId4"/>
            <a:stretch>
              <a:fillRect l="-3" r="-3"/>
            </a:stretch>
          </a:blipFill>
        </p:spPr>
      </p:sp>
      <p:sp>
        <p:nvSpPr>
          <p:cNvPr id="11" name="TextBox 11"/>
          <p:cNvSpPr txBox="1"/>
          <p:nvPr/>
        </p:nvSpPr>
        <p:spPr>
          <a:xfrm>
            <a:off x="12250142" y="3119289"/>
            <a:ext cx="4308574"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Thảo luận chuyên môn</a:t>
            </a:r>
          </a:p>
        </p:txBody>
      </p:sp>
      <p:sp>
        <p:nvSpPr>
          <p:cNvPr id="12" name="TextBox 12"/>
          <p:cNvSpPr txBox="1"/>
          <p:nvPr/>
        </p:nvSpPr>
        <p:spPr>
          <a:xfrm>
            <a:off x="11977836" y="3662511"/>
            <a:ext cx="5263009"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Hiểu các cuộc trò chuyện và thảo luận chuyên môn.</a:t>
            </a:r>
          </a:p>
        </p:txBody>
      </p:sp>
      <p:sp>
        <p:nvSpPr>
          <p:cNvPr id="13" name="Freeform 13"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5"/>
            <a:stretch>
              <a:fillRect/>
            </a:stretch>
          </a:blipFill>
        </p:spPr>
      </p:sp>
      <p:sp>
        <p:nvSpPr>
          <p:cNvPr id="14" name="Freeform 14" descr="preencoded.png"/>
          <p:cNvSpPr/>
          <p:nvPr/>
        </p:nvSpPr>
        <p:spPr>
          <a:xfrm>
            <a:off x="9965382" y="4180135"/>
            <a:ext cx="420738" cy="525959"/>
          </a:xfrm>
          <a:custGeom>
            <a:avLst/>
            <a:gdLst/>
            <a:ahLst/>
            <a:cxnLst/>
            <a:rect l="l" t="t" r="r" b="b"/>
            <a:pathLst>
              <a:path w="420738" h="525959">
                <a:moveTo>
                  <a:pt x="0" y="0"/>
                </a:moveTo>
                <a:lnTo>
                  <a:pt x="420738" y="0"/>
                </a:lnTo>
                <a:lnTo>
                  <a:pt x="420738" y="525959"/>
                </a:lnTo>
                <a:lnTo>
                  <a:pt x="0" y="525959"/>
                </a:lnTo>
                <a:lnTo>
                  <a:pt x="0" y="0"/>
                </a:lnTo>
                <a:close/>
              </a:path>
            </a:pathLst>
          </a:custGeom>
          <a:blipFill>
            <a:blip r:embed="rId6"/>
            <a:stretch>
              <a:fillRect l="-3" r="-3"/>
            </a:stretch>
          </a:blipFill>
        </p:spPr>
      </p:sp>
      <p:sp>
        <p:nvSpPr>
          <p:cNvPr id="15" name="TextBox 15"/>
          <p:cNvSpPr txBox="1"/>
          <p:nvPr/>
        </p:nvSpPr>
        <p:spPr>
          <a:xfrm>
            <a:off x="12644314" y="6057652"/>
            <a:ext cx="3520231"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Podcast, video</a:t>
            </a:r>
          </a:p>
        </p:txBody>
      </p:sp>
      <p:sp>
        <p:nvSpPr>
          <p:cNvPr id="16" name="TextBox 16"/>
          <p:cNvSpPr txBox="1"/>
          <p:nvPr/>
        </p:nvSpPr>
        <p:spPr>
          <a:xfrm>
            <a:off x="11977836" y="6720780"/>
            <a:ext cx="5263009"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Luyện nghe các podcast và video về CNTT.</a:t>
            </a:r>
          </a:p>
        </p:txBody>
      </p:sp>
      <p:sp>
        <p:nvSpPr>
          <p:cNvPr id="17" name="Freeform 17"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7"/>
            <a:stretch>
              <a:fillRect/>
            </a:stretch>
          </a:blipFill>
        </p:spPr>
      </p:sp>
      <p:sp>
        <p:nvSpPr>
          <p:cNvPr id="18" name="Freeform 18" descr="preencoded.png"/>
          <p:cNvSpPr/>
          <p:nvPr/>
        </p:nvSpPr>
        <p:spPr>
          <a:xfrm>
            <a:off x="9965382" y="6243935"/>
            <a:ext cx="420738" cy="525959"/>
          </a:xfrm>
          <a:custGeom>
            <a:avLst/>
            <a:gdLst/>
            <a:ahLst/>
            <a:cxnLst/>
            <a:rect l="l" t="t" r="r" b="b"/>
            <a:pathLst>
              <a:path w="420738" h="525959">
                <a:moveTo>
                  <a:pt x="0" y="0"/>
                </a:moveTo>
                <a:lnTo>
                  <a:pt x="420738" y="0"/>
                </a:lnTo>
                <a:lnTo>
                  <a:pt x="420738" y="525959"/>
                </a:lnTo>
                <a:lnTo>
                  <a:pt x="0" y="525959"/>
                </a:lnTo>
                <a:lnTo>
                  <a:pt x="0" y="0"/>
                </a:lnTo>
                <a:close/>
              </a:path>
            </a:pathLst>
          </a:custGeom>
          <a:blipFill>
            <a:blip r:embed="rId8"/>
            <a:stretch>
              <a:fillRect l="-3" r="-3"/>
            </a:stretch>
          </a:blipFill>
        </p:spPr>
      </p:sp>
      <p:sp>
        <p:nvSpPr>
          <p:cNvPr id="19" name="TextBox 19"/>
          <p:cNvSpPr txBox="1"/>
          <p:nvPr/>
        </p:nvSpPr>
        <p:spPr>
          <a:xfrm>
            <a:off x="1918544" y="6177558"/>
            <a:ext cx="3520231"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Phụ đề</a:t>
            </a:r>
          </a:p>
        </p:txBody>
      </p:sp>
      <p:sp>
        <p:nvSpPr>
          <p:cNvPr id="20" name="TextBox 20"/>
          <p:cNvSpPr txBox="1"/>
          <p:nvPr/>
        </p:nvSpPr>
        <p:spPr>
          <a:xfrm>
            <a:off x="1047155" y="6720780"/>
            <a:ext cx="5263009" cy="923925"/>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Sử dụng phụ đề để hỗ trợ nghe hiểu khi cần.</a:t>
            </a:r>
          </a:p>
        </p:txBody>
      </p:sp>
      <p:sp>
        <p:nvSpPr>
          <p:cNvPr id="21" name="Freeform 21"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9"/>
            <a:stretch>
              <a:fillRect/>
            </a:stretch>
          </a:blipFill>
        </p:spPr>
      </p:sp>
      <p:sp>
        <p:nvSpPr>
          <p:cNvPr id="22" name="Freeform 22" descr="preencoded.png"/>
          <p:cNvSpPr/>
          <p:nvPr/>
        </p:nvSpPr>
        <p:spPr>
          <a:xfrm>
            <a:off x="7901582" y="6243935"/>
            <a:ext cx="420738" cy="525959"/>
          </a:xfrm>
          <a:custGeom>
            <a:avLst/>
            <a:gdLst/>
            <a:ahLst/>
            <a:cxnLst/>
            <a:rect l="l" t="t" r="r" b="b"/>
            <a:pathLst>
              <a:path w="420738" h="525959">
                <a:moveTo>
                  <a:pt x="0" y="0"/>
                </a:moveTo>
                <a:lnTo>
                  <a:pt x="420738" y="0"/>
                </a:lnTo>
                <a:lnTo>
                  <a:pt x="420738" y="525959"/>
                </a:lnTo>
                <a:lnTo>
                  <a:pt x="0" y="525959"/>
                </a:lnTo>
                <a:lnTo>
                  <a:pt x="0" y="0"/>
                </a:lnTo>
                <a:close/>
              </a:path>
            </a:pathLst>
          </a:custGeom>
          <a:blipFill>
            <a:blip r:embed="rId10"/>
            <a:stretch>
              <a:fillRect l="-3" r="-3"/>
            </a:stretch>
          </a:blipFill>
        </p:spPr>
      </p:sp>
      <p:sp>
        <p:nvSpPr>
          <p:cNvPr id="23" name="TextBox 23"/>
          <p:cNvSpPr txBox="1"/>
          <p:nvPr/>
        </p:nvSpPr>
        <p:spPr>
          <a:xfrm>
            <a:off x="1028700" y="8794700"/>
            <a:ext cx="16193690" cy="517336"/>
          </a:xfrm>
          <a:prstGeom prst="rect">
            <a:avLst/>
          </a:prstGeom>
        </p:spPr>
        <p:txBody>
          <a:bodyPr lIns="0" tIns="0" rIns="0" bIns="0" rtlCol="0" anchor="t">
            <a:spAutoFit/>
          </a:bodyPr>
          <a:lstStyle/>
          <a:p>
            <a:pPr algn="l">
              <a:lnSpc>
                <a:spcPts val="4236"/>
              </a:lnSpc>
            </a:pPr>
            <a:r>
              <a:rPr lang="en-US" sz="2612">
                <a:solidFill>
                  <a:srgbClr val="D9E1FF"/>
                </a:solidFill>
                <a:latin typeface="Arimo"/>
                <a:ea typeface="Arimo"/>
                <a:cs typeface="Arimo"/>
                <a:sym typeface="Arimo"/>
              </a:rPr>
              <a:t>Chú trọng luyện nghe giọng Anh-Mỹ và Anh-Anh để làm quen với các accent khác nhau.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p:cNvSpPr/>
          <p:nvPr/>
        </p:nvSpPr>
        <p:spPr>
          <a:xfrm>
            <a:off x="1550109" y="5713801"/>
            <a:ext cx="5901735" cy="3999721"/>
          </a:xfrm>
          <a:custGeom>
            <a:avLst/>
            <a:gdLst/>
            <a:ahLst/>
            <a:cxnLst/>
            <a:rect l="l" t="t" r="r" b="b"/>
            <a:pathLst>
              <a:path w="5901735" h="3999721">
                <a:moveTo>
                  <a:pt x="0" y="0"/>
                </a:moveTo>
                <a:lnTo>
                  <a:pt x="5901736" y="0"/>
                </a:lnTo>
                <a:lnTo>
                  <a:pt x="5901736" y="3999720"/>
                </a:lnTo>
                <a:lnTo>
                  <a:pt x="0" y="3999720"/>
                </a:lnTo>
                <a:lnTo>
                  <a:pt x="0" y="0"/>
                </a:lnTo>
                <a:close/>
              </a:path>
            </a:pathLst>
          </a:custGeom>
          <a:blipFill>
            <a:blip r:embed="rId3"/>
            <a:stretch>
              <a:fillRect t="-3277" b="-3277"/>
            </a:stretch>
          </a:blipFill>
        </p:spPr>
      </p:sp>
      <p:sp>
        <p:nvSpPr>
          <p:cNvPr id="7" name="Freeform 7"/>
          <p:cNvSpPr/>
          <p:nvPr/>
        </p:nvSpPr>
        <p:spPr>
          <a:xfrm>
            <a:off x="10337311" y="5713801"/>
            <a:ext cx="6921989" cy="3999721"/>
          </a:xfrm>
          <a:custGeom>
            <a:avLst/>
            <a:gdLst/>
            <a:ahLst/>
            <a:cxnLst/>
            <a:rect l="l" t="t" r="r" b="b"/>
            <a:pathLst>
              <a:path w="6921989" h="3999721">
                <a:moveTo>
                  <a:pt x="0" y="0"/>
                </a:moveTo>
                <a:lnTo>
                  <a:pt x="6921989" y="0"/>
                </a:lnTo>
                <a:lnTo>
                  <a:pt x="6921989" y="3999720"/>
                </a:lnTo>
                <a:lnTo>
                  <a:pt x="0" y="3999720"/>
                </a:lnTo>
                <a:lnTo>
                  <a:pt x="0" y="0"/>
                </a:lnTo>
                <a:close/>
              </a:path>
            </a:pathLst>
          </a:custGeom>
          <a:blipFill>
            <a:blip r:embed="rId4"/>
            <a:stretch>
              <a:fillRect t="-3837"/>
            </a:stretch>
          </a:blipFill>
        </p:spPr>
      </p:sp>
      <p:sp>
        <p:nvSpPr>
          <p:cNvPr id="8" name="TextBox 8"/>
          <p:cNvSpPr txBox="1"/>
          <p:nvPr/>
        </p:nvSpPr>
        <p:spPr>
          <a:xfrm>
            <a:off x="1028700" y="415876"/>
            <a:ext cx="8966299" cy="937171"/>
          </a:xfrm>
          <a:prstGeom prst="rect">
            <a:avLst/>
          </a:prstGeom>
        </p:spPr>
        <p:txBody>
          <a:bodyPr lIns="0" tIns="0" rIns="0" bIns="0" rtlCol="0" anchor="t">
            <a:spAutoFit/>
          </a:bodyPr>
          <a:lstStyle/>
          <a:p>
            <a:pPr algn="l">
              <a:lnSpc>
                <a:spcPts val="6875"/>
              </a:lnSpc>
            </a:pPr>
            <a:r>
              <a:rPr lang="en-US" sz="5500" b="1">
                <a:solidFill>
                  <a:srgbClr val="02C1C2"/>
                </a:solidFill>
                <a:latin typeface="Arimo Bold"/>
                <a:ea typeface="Arimo Bold"/>
                <a:cs typeface="Arimo Bold"/>
                <a:sym typeface="Arimo Bold"/>
              </a:rPr>
              <a:t>Kỹ Năng Nói (Speaking)</a:t>
            </a:r>
          </a:p>
        </p:txBody>
      </p:sp>
      <p:sp>
        <p:nvSpPr>
          <p:cNvPr id="9" name="TextBox 9"/>
          <p:cNvSpPr txBox="1"/>
          <p:nvPr/>
        </p:nvSpPr>
        <p:spPr>
          <a:xfrm>
            <a:off x="1137924" y="2456139"/>
            <a:ext cx="3520231" cy="478036"/>
          </a:xfrm>
          <a:prstGeom prst="rect">
            <a:avLst/>
          </a:prstGeom>
        </p:spPr>
        <p:txBody>
          <a:bodyPr lIns="0" tIns="0" rIns="0" bIns="0" rtlCol="0" anchor="t">
            <a:spAutoFit/>
          </a:bodyPr>
          <a:lstStyle/>
          <a:p>
            <a:pPr algn="l">
              <a:lnSpc>
                <a:spcPts val="3437"/>
              </a:lnSpc>
            </a:pPr>
            <a:r>
              <a:rPr lang="en-US" sz="2750" b="1">
                <a:solidFill>
                  <a:srgbClr val="FFFFFF"/>
                </a:solidFill>
                <a:latin typeface="Arimo Bold"/>
                <a:ea typeface="Arimo Bold"/>
                <a:cs typeface="Arimo Bold"/>
                <a:sym typeface="Arimo Bold"/>
              </a:rPr>
              <a:t>Thuyết trình dự án</a:t>
            </a:r>
          </a:p>
        </p:txBody>
      </p:sp>
      <p:sp>
        <p:nvSpPr>
          <p:cNvPr id="10" name="TextBox 10"/>
          <p:cNvSpPr txBox="1"/>
          <p:nvPr/>
        </p:nvSpPr>
        <p:spPr>
          <a:xfrm>
            <a:off x="1137924" y="3164404"/>
            <a:ext cx="4910732"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Thuyết trình về các dự án CNTT bằng tiếng Anh.</a:t>
            </a:r>
          </a:p>
        </p:txBody>
      </p:sp>
      <p:sp>
        <p:nvSpPr>
          <p:cNvPr id="11" name="TextBox 11"/>
          <p:cNvSpPr txBox="1"/>
          <p:nvPr/>
        </p:nvSpPr>
        <p:spPr>
          <a:xfrm>
            <a:off x="7181366" y="2456139"/>
            <a:ext cx="3520231" cy="478036"/>
          </a:xfrm>
          <a:prstGeom prst="rect">
            <a:avLst/>
          </a:prstGeom>
        </p:spPr>
        <p:txBody>
          <a:bodyPr lIns="0" tIns="0" rIns="0" bIns="0" rtlCol="0" anchor="t">
            <a:spAutoFit/>
          </a:bodyPr>
          <a:lstStyle/>
          <a:p>
            <a:pPr algn="l">
              <a:lnSpc>
                <a:spcPts val="3437"/>
              </a:lnSpc>
            </a:pPr>
            <a:r>
              <a:rPr lang="en-US" sz="2750" b="1">
                <a:solidFill>
                  <a:srgbClr val="FFFFFF"/>
                </a:solidFill>
                <a:latin typeface="Arimo Bold"/>
                <a:ea typeface="Arimo Bold"/>
                <a:cs typeface="Arimo Bold"/>
                <a:sym typeface="Arimo Bold"/>
              </a:rPr>
              <a:t>Tham gia họp</a:t>
            </a:r>
          </a:p>
        </p:txBody>
      </p:sp>
      <p:sp>
        <p:nvSpPr>
          <p:cNvPr id="12" name="TextBox 12"/>
          <p:cNvSpPr txBox="1"/>
          <p:nvPr/>
        </p:nvSpPr>
        <p:spPr>
          <a:xfrm>
            <a:off x="7181366" y="3164404"/>
            <a:ext cx="4910732"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Tham gia các cuộc họp và thảo luận nhóm.</a:t>
            </a:r>
          </a:p>
        </p:txBody>
      </p:sp>
      <p:sp>
        <p:nvSpPr>
          <p:cNvPr id="13" name="TextBox 13"/>
          <p:cNvSpPr txBox="1"/>
          <p:nvPr/>
        </p:nvSpPr>
        <p:spPr>
          <a:xfrm>
            <a:off x="12876860" y="2456139"/>
            <a:ext cx="3520231" cy="478036"/>
          </a:xfrm>
          <a:prstGeom prst="rect">
            <a:avLst/>
          </a:prstGeom>
        </p:spPr>
        <p:txBody>
          <a:bodyPr lIns="0" tIns="0" rIns="0" bIns="0" rtlCol="0" anchor="t">
            <a:spAutoFit/>
          </a:bodyPr>
          <a:lstStyle/>
          <a:p>
            <a:pPr algn="l">
              <a:lnSpc>
                <a:spcPts val="3437"/>
              </a:lnSpc>
            </a:pPr>
            <a:r>
              <a:rPr lang="en-US" sz="2750" b="1">
                <a:solidFill>
                  <a:srgbClr val="FFFFFF"/>
                </a:solidFill>
                <a:latin typeface="Arimo Bold"/>
                <a:ea typeface="Arimo Bold"/>
                <a:cs typeface="Arimo Bold"/>
                <a:sym typeface="Arimo Bold"/>
              </a:rPr>
              <a:t>Giao tiếp</a:t>
            </a:r>
          </a:p>
        </p:txBody>
      </p:sp>
      <p:sp>
        <p:nvSpPr>
          <p:cNvPr id="14" name="TextBox 14"/>
          <p:cNvSpPr txBox="1"/>
          <p:nvPr/>
        </p:nvSpPr>
        <p:spPr>
          <a:xfrm>
            <a:off x="12876860" y="3164404"/>
            <a:ext cx="4910732"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Giao tiếp với đồng nghiệp và khách hàng quốc tế.</a:t>
            </a:r>
          </a:p>
        </p:txBody>
      </p:sp>
      <p:sp>
        <p:nvSpPr>
          <p:cNvPr id="15" name="TextBox 15"/>
          <p:cNvSpPr txBox="1"/>
          <p:nvPr/>
        </p:nvSpPr>
        <p:spPr>
          <a:xfrm>
            <a:off x="1379974" y="4789810"/>
            <a:ext cx="16193690" cy="59308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Luyện tập phát âm chuẩn và ngữ điệu tự nhiên. Tham gia các câu lạc bộ tiếng Anh hoặc tìm bạn để luyện nói.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TextBox 6"/>
          <p:cNvSpPr txBox="1"/>
          <p:nvPr/>
        </p:nvSpPr>
        <p:spPr>
          <a:xfrm>
            <a:off x="1047155" y="953244"/>
            <a:ext cx="12713345" cy="698152"/>
          </a:xfrm>
          <a:prstGeom prst="rect">
            <a:avLst/>
          </a:prstGeom>
        </p:spPr>
        <p:txBody>
          <a:bodyPr lIns="0" tIns="0" rIns="0" bIns="0" rtlCol="0" anchor="t">
            <a:spAutoFit/>
          </a:bodyPr>
          <a:lstStyle/>
          <a:p>
            <a:pPr algn="l">
              <a:lnSpc>
                <a:spcPts val="5187"/>
              </a:lnSpc>
            </a:pPr>
            <a:r>
              <a:rPr lang="en-US" sz="4124" b="1">
                <a:solidFill>
                  <a:srgbClr val="02C1C2"/>
                </a:solidFill>
                <a:latin typeface="Arimo Bold"/>
                <a:ea typeface="Arimo Bold"/>
                <a:cs typeface="Arimo Bold"/>
                <a:sym typeface="Arimo Bold"/>
              </a:rPr>
              <a:t>Các Nguồn Tài Nguyên Học Tiếng Anh CNTT</a:t>
            </a:r>
          </a:p>
        </p:txBody>
      </p:sp>
      <p:sp>
        <p:nvSpPr>
          <p:cNvPr id="7" name="Freeform 7" descr="preencoded.png"/>
          <p:cNvSpPr/>
          <p:nvPr/>
        </p:nvSpPr>
        <p:spPr>
          <a:xfrm>
            <a:off x="4293989" y="2100114"/>
            <a:ext cx="1603028" cy="1272034"/>
          </a:xfrm>
          <a:custGeom>
            <a:avLst/>
            <a:gdLst/>
            <a:ahLst/>
            <a:cxnLst/>
            <a:rect l="l" t="t" r="r" b="b"/>
            <a:pathLst>
              <a:path w="1603028" h="1272034">
                <a:moveTo>
                  <a:pt x="0" y="0"/>
                </a:moveTo>
                <a:lnTo>
                  <a:pt x="1603027" y="0"/>
                </a:lnTo>
                <a:lnTo>
                  <a:pt x="1603027" y="1272033"/>
                </a:lnTo>
                <a:lnTo>
                  <a:pt x="0" y="1272033"/>
                </a:lnTo>
                <a:lnTo>
                  <a:pt x="0" y="0"/>
                </a:lnTo>
                <a:close/>
              </a:path>
            </a:pathLst>
          </a:custGeom>
          <a:blipFill>
            <a:blip r:embed="rId3"/>
            <a:stretch>
              <a:fillRect t="-258" b="-258"/>
            </a:stretch>
          </a:blipFill>
        </p:spPr>
      </p:sp>
      <p:sp>
        <p:nvSpPr>
          <p:cNvPr id="8" name="TextBox 8"/>
          <p:cNvSpPr txBox="1"/>
          <p:nvPr/>
        </p:nvSpPr>
        <p:spPr>
          <a:xfrm>
            <a:off x="4937671" y="2591246"/>
            <a:ext cx="315516" cy="499170"/>
          </a:xfrm>
          <a:prstGeom prst="rect">
            <a:avLst/>
          </a:prstGeom>
        </p:spPr>
        <p:txBody>
          <a:bodyPr lIns="0" tIns="0" rIns="0" bIns="0" rtlCol="0" anchor="t">
            <a:spAutoFit/>
          </a:bodyPr>
          <a:lstStyle/>
          <a:p>
            <a:pPr algn="ctr">
              <a:lnSpc>
                <a:spcPts val="3937"/>
              </a:lnSpc>
            </a:pPr>
            <a:r>
              <a:rPr lang="en-US" sz="2437" b="1">
                <a:solidFill>
                  <a:srgbClr val="D9E1FF"/>
                </a:solidFill>
                <a:latin typeface="Arimo Bold"/>
                <a:ea typeface="Arimo Bold"/>
                <a:cs typeface="Arimo Bold"/>
                <a:sym typeface="Arimo Bold"/>
              </a:rPr>
              <a:t>1</a:t>
            </a:r>
          </a:p>
        </p:txBody>
      </p:sp>
      <p:sp>
        <p:nvSpPr>
          <p:cNvPr id="9" name="TextBox 9"/>
          <p:cNvSpPr txBox="1"/>
          <p:nvPr/>
        </p:nvSpPr>
        <p:spPr>
          <a:xfrm>
            <a:off x="6180088" y="2201762"/>
            <a:ext cx="2640211"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Sách &amp; Tài liệu</a:t>
            </a:r>
          </a:p>
        </p:txBody>
      </p:sp>
      <p:sp>
        <p:nvSpPr>
          <p:cNvPr id="10" name="TextBox 10"/>
          <p:cNvSpPr txBox="1"/>
          <p:nvPr/>
        </p:nvSpPr>
        <p:spPr>
          <a:xfrm>
            <a:off x="6121301" y="2703165"/>
            <a:ext cx="5643161" cy="389300"/>
          </a:xfrm>
          <a:prstGeom prst="rect">
            <a:avLst/>
          </a:prstGeom>
        </p:spPr>
        <p:txBody>
          <a:bodyPr lIns="0" tIns="0" rIns="0" bIns="0" rtlCol="0" anchor="t">
            <a:spAutoFit/>
          </a:bodyPr>
          <a:lstStyle/>
          <a:p>
            <a:pPr algn="l">
              <a:lnSpc>
                <a:spcPts val="3294"/>
              </a:lnSpc>
            </a:pPr>
            <a:r>
              <a:rPr lang="en-US" sz="2049">
                <a:solidFill>
                  <a:srgbClr val="D9E1FF"/>
                </a:solidFill>
                <a:latin typeface="Arimo"/>
                <a:ea typeface="Arimo"/>
                <a:cs typeface="Arimo"/>
                <a:sym typeface="Arimo"/>
              </a:rPr>
              <a:t>Sách giáo trình và tài liệu CNTT bằng tiếng Anh.</a:t>
            </a:r>
          </a:p>
        </p:txBody>
      </p:sp>
      <p:grpSp>
        <p:nvGrpSpPr>
          <p:cNvPr id="11" name="Group 11"/>
          <p:cNvGrpSpPr/>
          <p:nvPr/>
        </p:nvGrpSpPr>
        <p:grpSpPr>
          <a:xfrm>
            <a:off x="5952976" y="3388221"/>
            <a:ext cx="11231910" cy="14288"/>
            <a:chOff x="0" y="0"/>
            <a:chExt cx="14975880" cy="19050"/>
          </a:xfrm>
        </p:grpSpPr>
        <p:sp>
          <p:nvSpPr>
            <p:cNvPr id="12" name="Freeform 12"/>
            <p:cNvSpPr/>
            <p:nvPr/>
          </p:nvSpPr>
          <p:spPr>
            <a:xfrm>
              <a:off x="0" y="0"/>
              <a:ext cx="14975839" cy="19050"/>
            </a:xfrm>
            <a:custGeom>
              <a:avLst/>
              <a:gdLst/>
              <a:ahLst/>
              <a:cxnLst/>
              <a:rect l="l" t="t" r="r" b="b"/>
              <a:pathLst>
                <a:path w="14975839" h="19050">
                  <a:moveTo>
                    <a:pt x="0" y="9525"/>
                  </a:moveTo>
                  <a:cubicBezTo>
                    <a:pt x="0" y="4318"/>
                    <a:pt x="4318" y="0"/>
                    <a:pt x="9525" y="0"/>
                  </a:cubicBezTo>
                  <a:lnTo>
                    <a:pt x="14966314" y="0"/>
                  </a:lnTo>
                  <a:cubicBezTo>
                    <a:pt x="14971522" y="0"/>
                    <a:pt x="14975839" y="4318"/>
                    <a:pt x="14975839" y="9525"/>
                  </a:cubicBezTo>
                  <a:cubicBezTo>
                    <a:pt x="14975839" y="14732"/>
                    <a:pt x="14971522" y="19050"/>
                    <a:pt x="14966314" y="19050"/>
                  </a:cubicBezTo>
                  <a:lnTo>
                    <a:pt x="9525" y="19050"/>
                  </a:lnTo>
                  <a:cubicBezTo>
                    <a:pt x="4318" y="19050"/>
                    <a:pt x="0" y="14732"/>
                    <a:pt x="0" y="9525"/>
                  </a:cubicBezTo>
                  <a:close/>
                </a:path>
              </a:pathLst>
            </a:custGeom>
            <a:solidFill>
              <a:srgbClr val="44426B"/>
            </a:solidFill>
          </p:spPr>
        </p:sp>
      </p:grpSp>
      <p:sp>
        <p:nvSpPr>
          <p:cNvPr id="13" name="Freeform 13" descr="preencoded.png"/>
          <p:cNvSpPr/>
          <p:nvPr/>
        </p:nvSpPr>
        <p:spPr>
          <a:xfrm>
            <a:off x="3492401" y="3428107"/>
            <a:ext cx="3206204" cy="1272034"/>
          </a:xfrm>
          <a:custGeom>
            <a:avLst/>
            <a:gdLst/>
            <a:ahLst/>
            <a:cxnLst/>
            <a:rect l="l" t="t" r="r" b="b"/>
            <a:pathLst>
              <a:path w="3206204" h="1272034">
                <a:moveTo>
                  <a:pt x="0" y="0"/>
                </a:moveTo>
                <a:lnTo>
                  <a:pt x="3206204" y="0"/>
                </a:lnTo>
                <a:lnTo>
                  <a:pt x="3206204" y="1272034"/>
                </a:lnTo>
                <a:lnTo>
                  <a:pt x="0" y="1272034"/>
                </a:lnTo>
                <a:lnTo>
                  <a:pt x="0" y="0"/>
                </a:lnTo>
                <a:close/>
              </a:path>
            </a:pathLst>
          </a:custGeom>
          <a:blipFill>
            <a:blip r:embed="rId4"/>
            <a:stretch>
              <a:fillRect t="-111" b="-111"/>
            </a:stretch>
          </a:blipFill>
        </p:spPr>
      </p:sp>
      <p:sp>
        <p:nvSpPr>
          <p:cNvPr id="14" name="TextBox 14"/>
          <p:cNvSpPr txBox="1"/>
          <p:nvPr/>
        </p:nvSpPr>
        <p:spPr>
          <a:xfrm>
            <a:off x="4937671" y="3762077"/>
            <a:ext cx="315516" cy="499170"/>
          </a:xfrm>
          <a:prstGeom prst="rect">
            <a:avLst/>
          </a:prstGeom>
        </p:spPr>
        <p:txBody>
          <a:bodyPr lIns="0" tIns="0" rIns="0" bIns="0" rtlCol="0" anchor="t">
            <a:spAutoFit/>
          </a:bodyPr>
          <a:lstStyle/>
          <a:p>
            <a:pPr algn="ctr">
              <a:lnSpc>
                <a:spcPts val="3937"/>
              </a:lnSpc>
            </a:pPr>
            <a:r>
              <a:rPr lang="en-US" sz="2437" b="1">
                <a:solidFill>
                  <a:srgbClr val="D9E1FF"/>
                </a:solidFill>
                <a:latin typeface="Arimo Bold"/>
                <a:ea typeface="Arimo Bold"/>
                <a:cs typeface="Arimo Bold"/>
                <a:sym typeface="Arimo Bold"/>
              </a:rPr>
              <a:t>2</a:t>
            </a:r>
          </a:p>
        </p:txBody>
      </p:sp>
      <p:sp>
        <p:nvSpPr>
          <p:cNvPr id="15" name="TextBox 15"/>
          <p:cNvSpPr txBox="1"/>
          <p:nvPr/>
        </p:nvSpPr>
        <p:spPr>
          <a:xfrm>
            <a:off x="6922889" y="3633341"/>
            <a:ext cx="2917924"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Khóa học trực tuyến</a:t>
            </a:r>
          </a:p>
        </p:txBody>
      </p:sp>
      <p:sp>
        <p:nvSpPr>
          <p:cNvPr id="16" name="TextBox 16"/>
          <p:cNvSpPr txBox="1"/>
          <p:nvPr/>
        </p:nvSpPr>
        <p:spPr>
          <a:xfrm>
            <a:off x="6922889" y="4031159"/>
            <a:ext cx="2917924" cy="389300"/>
          </a:xfrm>
          <a:prstGeom prst="rect">
            <a:avLst/>
          </a:prstGeom>
        </p:spPr>
        <p:txBody>
          <a:bodyPr lIns="0" tIns="0" rIns="0" bIns="0" rtlCol="0" anchor="t">
            <a:spAutoFit/>
          </a:bodyPr>
          <a:lstStyle/>
          <a:p>
            <a:pPr algn="l">
              <a:lnSpc>
                <a:spcPts val="3294"/>
              </a:lnSpc>
            </a:pPr>
            <a:r>
              <a:rPr lang="en-US" sz="2049">
                <a:solidFill>
                  <a:srgbClr val="D9E1FF"/>
                </a:solidFill>
                <a:latin typeface="Arimo"/>
                <a:ea typeface="Arimo"/>
                <a:cs typeface="Arimo"/>
                <a:sym typeface="Arimo"/>
              </a:rPr>
              <a:t>Coursera, edX, Udemy.</a:t>
            </a:r>
          </a:p>
        </p:txBody>
      </p:sp>
      <p:grpSp>
        <p:nvGrpSpPr>
          <p:cNvPr id="17" name="Group 17"/>
          <p:cNvGrpSpPr/>
          <p:nvPr/>
        </p:nvGrpSpPr>
        <p:grpSpPr>
          <a:xfrm>
            <a:off x="6754565" y="4716215"/>
            <a:ext cx="10430321" cy="14288"/>
            <a:chOff x="0" y="0"/>
            <a:chExt cx="13907095" cy="19050"/>
          </a:xfrm>
        </p:grpSpPr>
        <p:sp>
          <p:nvSpPr>
            <p:cNvPr id="18" name="Freeform 18"/>
            <p:cNvSpPr/>
            <p:nvPr/>
          </p:nvSpPr>
          <p:spPr>
            <a:xfrm>
              <a:off x="0" y="0"/>
              <a:ext cx="13907136" cy="19050"/>
            </a:xfrm>
            <a:custGeom>
              <a:avLst/>
              <a:gdLst/>
              <a:ahLst/>
              <a:cxnLst/>
              <a:rect l="l" t="t" r="r" b="b"/>
              <a:pathLst>
                <a:path w="13907136" h="19050">
                  <a:moveTo>
                    <a:pt x="0" y="9525"/>
                  </a:moveTo>
                  <a:cubicBezTo>
                    <a:pt x="0" y="4318"/>
                    <a:pt x="4318" y="0"/>
                    <a:pt x="9525" y="0"/>
                  </a:cubicBezTo>
                  <a:lnTo>
                    <a:pt x="13897611" y="0"/>
                  </a:lnTo>
                  <a:cubicBezTo>
                    <a:pt x="13902818" y="0"/>
                    <a:pt x="13907136" y="4318"/>
                    <a:pt x="13907136" y="9525"/>
                  </a:cubicBezTo>
                  <a:cubicBezTo>
                    <a:pt x="13907136" y="14732"/>
                    <a:pt x="13902818" y="19050"/>
                    <a:pt x="13897611" y="19050"/>
                  </a:cubicBezTo>
                  <a:lnTo>
                    <a:pt x="9525" y="19050"/>
                  </a:lnTo>
                  <a:cubicBezTo>
                    <a:pt x="4318" y="19050"/>
                    <a:pt x="0" y="14732"/>
                    <a:pt x="0" y="9525"/>
                  </a:cubicBezTo>
                  <a:close/>
                </a:path>
              </a:pathLst>
            </a:custGeom>
            <a:solidFill>
              <a:srgbClr val="44426B"/>
            </a:solidFill>
          </p:spPr>
        </p:sp>
      </p:grpSp>
      <p:sp>
        <p:nvSpPr>
          <p:cNvPr id="19" name="Freeform 19" descr="preencoded.png"/>
          <p:cNvSpPr/>
          <p:nvPr/>
        </p:nvSpPr>
        <p:spPr>
          <a:xfrm>
            <a:off x="2690812" y="4756100"/>
            <a:ext cx="4809381" cy="1272034"/>
          </a:xfrm>
          <a:custGeom>
            <a:avLst/>
            <a:gdLst/>
            <a:ahLst/>
            <a:cxnLst/>
            <a:rect l="l" t="t" r="r" b="b"/>
            <a:pathLst>
              <a:path w="4809381" h="1272034">
                <a:moveTo>
                  <a:pt x="0" y="0"/>
                </a:moveTo>
                <a:lnTo>
                  <a:pt x="4809382" y="0"/>
                </a:lnTo>
                <a:lnTo>
                  <a:pt x="4809382" y="1272034"/>
                </a:lnTo>
                <a:lnTo>
                  <a:pt x="0" y="1272034"/>
                </a:lnTo>
                <a:lnTo>
                  <a:pt x="0" y="0"/>
                </a:lnTo>
                <a:close/>
              </a:path>
            </a:pathLst>
          </a:custGeom>
          <a:blipFill>
            <a:blip r:embed="rId5"/>
            <a:stretch>
              <a:fillRect t="-161" b="-161"/>
            </a:stretch>
          </a:blipFill>
        </p:spPr>
      </p:sp>
      <p:sp>
        <p:nvSpPr>
          <p:cNvPr id="20" name="TextBox 20"/>
          <p:cNvSpPr txBox="1"/>
          <p:nvPr/>
        </p:nvSpPr>
        <p:spPr>
          <a:xfrm>
            <a:off x="4937671" y="5090071"/>
            <a:ext cx="315516" cy="499170"/>
          </a:xfrm>
          <a:prstGeom prst="rect">
            <a:avLst/>
          </a:prstGeom>
        </p:spPr>
        <p:txBody>
          <a:bodyPr lIns="0" tIns="0" rIns="0" bIns="0" rtlCol="0" anchor="t">
            <a:spAutoFit/>
          </a:bodyPr>
          <a:lstStyle/>
          <a:p>
            <a:pPr algn="ctr">
              <a:lnSpc>
                <a:spcPts val="3937"/>
              </a:lnSpc>
            </a:pPr>
            <a:r>
              <a:rPr lang="en-US" sz="2437" b="1">
                <a:solidFill>
                  <a:srgbClr val="D9E1FF"/>
                </a:solidFill>
                <a:latin typeface="Arimo Bold"/>
                <a:ea typeface="Arimo Bold"/>
                <a:cs typeface="Arimo Bold"/>
                <a:sym typeface="Arimo Bold"/>
              </a:rPr>
              <a:t>3</a:t>
            </a:r>
          </a:p>
        </p:txBody>
      </p:sp>
      <p:sp>
        <p:nvSpPr>
          <p:cNvPr id="21" name="TextBox 21"/>
          <p:cNvSpPr txBox="1"/>
          <p:nvPr/>
        </p:nvSpPr>
        <p:spPr>
          <a:xfrm>
            <a:off x="7724477" y="4961335"/>
            <a:ext cx="2508796"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Ứng dụng học tập</a:t>
            </a:r>
          </a:p>
        </p:txBody>
      </p:sp>
      <p:sp>
        <p:nvSpPr>
          <p:cNvPr id="22" name="TextBox 22"/>
          <p:cNvSpPr txBox="1"/>
          <p:nvPr/>
        </p:nvSpPr>
        <p:spPr>
          <a:xfrm>
            <a:off x="7724477" y="5359152"/>
            <a:ext cx="2508796" cy="389300"/>
          </a:xfrm>
          <a:prstGeom prst="rect">
            <a:avLst/>
          </a:prstGeom>
        </p:spPr>
        <p:txBody>
          <a:bodyPr lIns="0" tIns="0" rIns="0" bIns="0" rtlCol="0" anchor="t">
            <a:spAutoFit/>
          </a:bodyPr>
          <a:lstStyle/>
          <a:p>
            <a:pPr algn="l">
              <a:lnSpc>
                <a:spcPts val="3294"/>
              </a:lnSpc>
            </a:pPr>
            <a:r>
              <a:rPr lang="en-US" sz="2049">
                <a:solidFill>
                  <a:srgbClr val="D9E1FF"/>
                </a:solidFill>
                <a:latin typeface="Arimo"/>
                <a:ea typeface="Arimo"/>
                <a:cs typeface="Arimo"/>
                <a:sym typeface="Arimo"/>
              </a:rPr>
              <a:t>Duolingo, Memrise.</a:t>
            </a:r>
          </a:p>
        </p:txBody>
      </p:sp>
      <p:grpSp>
        <p:nvGrpSpPr>
          <p:cNvPr id="23" name="Group 23"/>
          <p:cNvGrpSpPr/>
          <p:nvPr/>
        </p:nvGrpSpPr>
        <p:grpSpPr>
          <a:xfrm>
            <a:off x="7556152" y="6044208"/>
            <a:ext cx="9628734" cy="14288"/>
            <a:chOff x="0" y="0"/>
            <a:chExt cx="12838312" cy="19050"/>
          </a:xfrm>
        </p:grpSpPr>
        <p:sp>
          <p:nvSpPr>
            <p:cNvPr id="24" name="Freeform 24"/>
            <p:cNvSpPr/>
            <p:nvPr/>
          </p:nvSpPr>
          <p:spPr>
            <a:xfrm>
              <a:off x="0" y="0"/>
              <a:ext cx="12838303" cy="19050"/>
            </a:xfrm>
            <a:custGeom>
              <a:avLst/>
              <a:gdLst/>
              <a:ahLst/>
              <a:cxnLst/>
              <a:rect l="l" t="t" r="r" b="b"/>
              <a:pathLst>
                <a:path w="12838303" h="19050">
                  <a:moveTo>
                    <a:pt x="0" y="9525"/>
                  </a:moveTo>
                  <a:cubicBezTo>
                    <a:pt x="0" y="4318"/>
                    <a:pt x="4318" y="0"/>
                    <a:pt x="9525" y="0"/>
                  </a:cubicBezTo>
                  <a:lnTo>
                    <a:pt x="12828778" y="0"/>
                  </a:lnTo>
                  <a:cubicBezTo>
                    <a:pt x="12833986" y="0"/>
                    <a:pt x="12838303" y="4318"/>
                    <a:pt x="12838303" y="9525"/>
                  </a:cubicBezTo>
                  <a:cubicBezTo>
                    <a:pt x="12838303" y="14732"/>
                    <a:pt x="12833986" y="19050"/>
                    <a:pt x="12828778" y="19050"/>
                  </a:cubicBezTo>
                  <a:lnTo>
                    <a:pt x="9525" y="19050"/>
                  </a:lnTo>
                  <a:cubicBezTo>
                    <a:pt x="4318" y="19050"/>
                    <a:pt x="0" y="14732"/>
                    <a:pt x="0" y="9525"/>
                  </a:cubicBezTo>
                  <a:close/>
                </a:path>
              </a:pathLst>
            </a:custGeom>
            <a:solidFill>
              <a:srgbClr val="44426B"/>
            </a:solidFill>
          </p:spPr>
        </p:sp>
      </p:grpSp>
      <p:sp>
        <p:nvSpPr>
          <p:cNvPr id="25" name="Freeform 25" descr="preencoded.png"/>
          <p:cNvSpPr/>
          <p:nvPr/>
        </p:nvSpPr>
        <p:spPr>
          <a:xfrm>
            <a:off x="1889224" y="6084094"/>
            <a:ext cx="6412558" cy="1272034"/>
          </a:xfrm>
          <a:custGeom>
            <a:avLst/>
            <a:gdLst/>
            <a:ahLst/>
            <a:cxnLst/>
            <a:rect l="l" t="t" r="r" b="b"/>
            <a:pathLst>
              <a:path w="6412558" h="1272034">
                <a:moveTo>
                  <a:pt x="0" y="0"/>
                </a:moveTo>
                <a:lnTo>
                  <a:pt x="6412557" y="0"/>
                </a:lnTo>
                <a:lnTo>
                  <a:pt x="6412557" y="1272033"/>
                </a:lnTo>
                <a:lnTo>
                  <a:pt x="0" y="1272033"/>
                </a:lnTo>
                <a:lnTo>
                  <a:pt x="0" y="0"/>
                </a:lnTo>
                <a:close/>
              </a:path>
            </a:pathLst>
          </a:custGeom>
          <a:blipFill>
            <a:blip r:embed="rId6"/>
            <a:stretch>
              <a:fillRect t="-187" b="-187"/>
            </a:stretch>
          </a:blipFill>
        </p:spPr>
      </p:sp>
      <p:sp>
        <p:nvSpPr>
          <p:cNvPr id="26" name="TextBox 26"/>
          <p:cNvSpPr txBox="1"/>
          <p:nvPr/>
        </p:nvSpPr>
        <p:spPr>
          <a:xfrm>
            <a:off x="4937671" y="6418064"/>
            <a:ext cx="315516" cy="499170"/>
          </a:xfrm>
          <a:prstGeom prst="rect">
            <a:avLst/>
          </a:prstGeom>
        </p:spPr>
        <p:txBody>
          <a:bodyPr lIns="0" tIns="0" rIns="0" bIns="0" rtlCol="0" anchor="t">
            <a:spAutoFit/>
          </a:bodyPr>
          <a:lstStyle/>
          <a:p>
            <a:pPr algn="ctr">
              <a:lnSpc>
                <a:spcPts val="3937"/>
              </a:lnSpc>
            </a:pPr>
            <a:r>
              <a:rPr lang="en-US" sz="2437" b="1">
                <a:solidFill>
                  <a:srgbClr val="D9E1FF"/>
                </a:solidFill>
                <a:latin typeface="Arimo Bold"/>
                <a:ea typeface="Arimo Bold"/>
                <a:cs typeface="Arimo Bold"/>
                <a:sym typeface="Arimo Bold"/>
              </a:rPr>
              <a:t>4</a:t>
            </a:r>
          </a:p>
        </p:txBody>
      </p:sp>
      <p:sp>
        <p:nvSpPr>
          <p:cNvPr id="27" name="TextBox 27"/>
          <p:cNvSpPr txBox="1"/>
          <p:nvPr/>
        </p:nvSpPr>
        <p:spPr>
          <a:xfrm>
            <a:off x="8526066" y="6289327"/>
            <a:ext cx="2499718"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Trang web &amp; Blog</a:t>
            </a:r>
          </a:p>
        </p:txBody>
      </p:sp>
      <p:sp>
        <p:nvSpPr>
          <p:cNvPr id="28" name="TextBox 28"/>
          <p:cNvSpPr txBox="1"/>
          <p:nvPr/>
        </p:nvSpPr>
        <p:spPr>
          <a:xfrm>
            <a:off x="8526066" y="6687145"/>
            <a:ext cx="3042865" cy="389300"/>
          </a:xfrm>
          <a:prstGeom prst="rect">
            <a:avLst/>
          </a:prstGeom>
        </p:spPr>
        <p:txBody>
          <a:bodyPr lIns="0" tIns="0" rIns="0" bIns="0" rtlCol="0" anchor="t">
            <a:spAutoFit/>
          </a:bodyPr>
          <a:lstStyle/>
          <a:p>
            <a:pPr algn="l">
              <a:lnSpc>
                <a:spcPts val="3294"/>
              </a:lnSpc>
            </a:pPr>
            <a:r>
              <a:rPr lang="en-US" sz="2049">
                <a:solidFill>
                  <a:srgbClr val="D9E1FF"/>
                </a:solidFill>
                <a:latin typeface="Arimo"/>
                <a:ea typeface="Arimo"/>
                <a:cs typeface="Arimo"/>
                <a:sym typeface="Arimo"/>
              </a:rPr>
              <a:t>Stack Overflow, GitHub.</a:t>
            </a:r>
          </a:p>
        </p:txBody>
      </p:sp>
      <p:grpSp>
        <p:nvGrpSpPr>
          <p:cNvPr id="29" name="Group 29"/>
          <p:cNvGrpSpPr/>
          <p:nvPr/>
        </p:nvGrpSpPr>
        <p:grpSpPr>
          <a:xfrm>
            <a:off x="8357741" y="7372201"/>
            <a:ext cx="8827145" cy="14288"/>
            <a:chOff x="0" y="0"/>
            <a:chExt cx="11769527" cy="19050"/>
          </a:xfrm>
        </p:grpSpPr>
        <p:sp>
          <p:nvSpPr>
            <p:cNvPr id="30" name="Freeform 30"/>
            <p:cNvSpPr/>
            <p:nvPr/>
          </p:nvSpPr>
          <p:spPr>
            <a:xfrm>
              <a:off x="0" y="0"/>
              <a:ext cx="11769471" cy="19050"/>
            </a:xfrm>
            <a:custGeom>
              <a:avLst/>
              <a:gdLst/>
              <a:ahLst/>
              <a:cxnLst/>
              <a:rect l="l" t="t" r="r" b="b"/>
              <a:pathLst>
                <a:path w="11769471" h="19050">
                  <a:moveTo>
                    <a:pt x="0" y="9525"/>
                  </a:moveTo>
                  <a:cubicBezTo>
                    <a:pt x="0" y="4318"/>
                    <a:pt x="4318" y="0"/>
                    <a:pt x="9525" y="0"/>
                  </a:cubicBezTo>
                  <a:lnTo>
                    <a:pt x="11759946" y="0"/>
                  </a:lnTo>
                  <a:cubicBezTo>
                    <a:pt x="11765152" y="0"/>
                    <a:pt x="11769471" y="4318"/>
                    <a:pt x="11769471" y="9525"/>
                  </a:cubicBezTo>
                  <a:cubicBezTo>
                    <a:pt x="11769471" y="14732"/>
                    <a:pt x="11765152" y="19050"/>
                    <a:pt x="11759946" y="19050"/>
                  </a:cubicBezTo>
                  <a:lnTo>
                    <a:pt x="9525" y="19050"/>
                  </a:lnTo>
                  <a:cubicBezTo>
                    <a:pt x="4318" y="19050"/>
                    <a:pt x="0" y="14732"/>
                    <a:pt x="0" y="9525"/>
                  </a:cubicBezTo>
                  <a:close/>
                </a:path>
              </a:pathLst>
            </a:custGeom>
            <a:solidFill>
              <a:srgbClr val="44426B"/>
            </a:solidFill>
          </p:spPr>
        </p:sp>
      </p:grpSp>
      <p:sp>
        <p:nvSpPr>
          <p:cNvPr id="31" name="Freeform 31" descr="preencoded.png"/>
          <p:cNvSpPr/>
          <p:nvPr/>
        </p:nvSpPr>
        <p:spPr>
          <a:xfrm>
            <a:off x="1087636" y="7412088"/>
            <a:ext cx="8015734" cy="1272034"/>
          </a:xfrm>
          <a:custGeom>
            <a:avLst/>
            <a:gdLst/>
            <a:ahLst/>
            <a:cxnLst/>
            <a:rect l="l" t="t" r="r" b="b"/>
            <a:pathLst>
              <a:path w="8015734" h="1272034">
                <a:moveTo>
                  <a:pt x="0" y="0"/>
                </a:moveTo>
                <a:lnTo>
                  <a:pt x="8015734" y="0"/>
                </a:lnTo>
                <a:lnTo>
                  <a:pt x="8015734" y="1272033"/>
                </a:lnTo>
                <a:lnTo>
                  <a:pt x="0" y="1272033"/>
                </a:lnTo>
                <a:lnTo>
                  <a:pt x="0" y="0"/>
                </a:lnTo>
                <a:close/>
              </a:path>
            </a:pathLst>
          </a:custGeom>
          <a:blipFill>
            <a:blip r:embed="rId7"/>
            <a:stretch>
              <a:fillRect t="-142" b="-142"/>
            </a:stretch>
          </a:blipFill>
        </p:spPr>
      </p:sp>
      <p:sp>
        <p:nvSpPr>
          <p:cNvPr id="32" name="TextBox 32"/>
          <p:cNvSpPr txBox="1"/>
          <p:nvPr/>
        </p:nvSpPr>
        <p:spPr>
          <a:xfrm>
            <a:off x="4937671" y="7746057"/>
            <a:ext cx="315516" cy="499170"/>
          </a:xfrm>
          <a:prstGeom prst="rect">
            <a:avLst/>
          </a:prstGeom>
        </p:spPr>
        <p:txBody>
          <a:bodyPr lIns="0" tIns="0" rIns="0" bIns="0" rtlCol="0" anchor="t">
            <a:spAutoFit/>
          </a:bodyPr>
          <a:lstStyle/>
          <a:p>
            <a:pPr algn="ctr">
              <a:lnSpc>
                <a:spcPts val="3937"/>
              </a:lnSpc>
            </a:pPr>
            <a:r>
              <a:rPr lang="en-US" sz="2437" b="1">
                <a:solidFill>
                  <a:srgbClr val="D9E1FF"/>
                </a:solidFill>
                <a:latin typeface="Arimo Bold"/>
                <a:ea typeface="Arimo Bold"/>
                <a:cs typeface="Arimo Bold"/>
                <a:sym typeface="Arimo Bold"/>
              </a:rPr>
              <a:t>5</a:t>
            </a:r>
          </a:p>
        </p:txBody>
      </p:sp>
      <p:sp>
        <p:nvSpPr>
          <p:cNvPr id="33" name="TextBox 33"/>
          <p:cNvSpPr txBox="1"/>
          <p:nvPr/>
        </p:nvSpPr>
        <p:spPr>
          <a:xfrm>
            <a:off x="9327654" y="7617321"/>
            <a:ext cx="2846338"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Diễn đàn trực tuyến</a:t>
            </a:r>
          </a:p>
        </p:txBody>
      </p:sp>
      <p:sp>
        <p:nvSpPr>
          <p:cNvPr id="34" name="TextBox 34"/>
          <p:cNvSpPr txBox="1"/>
          <p:nvPr/>
        </p:nvSpPr>
        <p:spPr>
          <a:xfrm>
            <a:off x="9327654" y="8015139"/>
            <a:ext cx="2846338" cy="389300"/>
          </a:xfrm>
          <a:prstGeom prst="rect">
            <a:avLst/>
          </a:prstGeom>
        </p:spPr>
        <p:txBody>
          <a:bodyPr lIns="0" tIns="0" rIns="0" bIns="0" rtlCol="0" anchor="t">
            <a:spAutoFit/>
          </a:bodyPr>
          <a:lstStyle/>
          <a:p>
            <a:pPr algn="l">
              <a:lnSpc>
                <a:spcPts val="3294"/>
              </a:lnSpc>
            </a:pPr>
            <a:r>
              <a:rPr lang="en-US" sz="2049">
                <a:solidFill>
                  <a:srgbClr val="D9E1FF"/>
                </a:solidFill>
                <a:latin typeface="Arimo"/>
                <a:ea typeface="Arimo"/>
                <a:cs typeface="Arimo"/>
                <a:sym typeface="Arimo"/>
              </a:rPr>
              <a:t>Reddit, Quora.</a:t>
            </a:r>
          </a:p>
        </p:txBody>
      </p:sp>
      <p:sp>
        <p:nvSpPr>
          <p:cNvPr id="35" name="TextBox 35"/>
          <p:cNvSpPr txBox="1"/>
          <p:nvPr/>
        </p:nvSpPr>
        <p:spPr>
          <a:xfrm>
            <a:off x="1047155" y="8841284"/>
            <a:ext cx="16193690" cy="422230"/>
          </a:xfrm>
          <a:prstGeom prst="rect">
            <a:avLst/>
          </a:prstGeom>
        </p:spPr>
        <p:txBody>
          <a:bodyPr lIns="0" tIns="0" rIns="0" bIns="0" rtlCol="0" anchor="t">
            <a:spAutoFit/>
          </a:bodyPr>
          <a:lstStyle/>
          <a:p>
            <a:pPr algn="l">
              <a:lnSpc>
                <a:spcPts val="3455"/>
              </a:lnSpc>
            </a:pPr>
            <a:r>
              <a:rPr lang="en-US" sz="2149">
                <a:solidFill>
                  <a:srgbClr val="D9E1FF"/>
                </a:solidFill>
                <a:latin typeface="Arimo"/>
                <a:ea typeface="Arimo"/>
                <a:cs typeface="Arimo"/>
                <a:sym typeface="Arimo"/>
              </a:rPr>
              <a:t>Tận dụng tối đa các nguồn tài nguyên này để nâng cao kỹ năng tiếng Anh của bạn.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Freeform 6" descr="preencoded.png"/>
          <p:cNvSpPr/>
          <p:nvPr/>
        </p:nvSpPr>
        <p:spPr>
          <a:xfrm>
            <a:off x="1047155" y="2025997"/>
            <a:ext cx="1122015" cy="1346447"/>
          </a:xfrm>
          <a:custGeom>
            <a:avLst/>
            <a:gdLst/>
            <a:ahLst/>
            <a:cxnLst/>
            <a:rect l="l" t="t" r="r" b="b"/>
            <a:pathLst>
              <a:path w="1122015" h="1346447">
                <a:moveTo>
                  <a:pt x="0" y="0"/>
                </a:moveTo>
                <a:lnTo>
                  <a:pt x="1122015" y="0"/>
                </a:lnTo>
                <a:lnTo>
                  <a:pt x="1122015" y="1346448"/>
                </a:lnTo>
                <a:lnTo>
                  <a:pt x="0" y="1346448"/>
                </a:lnTo>
                <a:lnTo>
                  <a:pt x="0" y="0"/>
                </a:lnTo>
                <a:close/>
              </a:path>
            </a:pathLst>
          </a:custGeom>
          <a:blipFill>
            <a:blip r:embed="rId3"/>
            <a:stretch>
              <a:fillRect l="-213" r="-213"/>
            </a:stretch>
          </a:blipFill>
        </p:spPr>
      </p:sp>
      <p:sp>
        <p:nvSpPr>
          <p:cNvPr id="7" name="Freeform 7" descr="preencoded.png"/>
          <p:cNvSpPr/>
          <p:nvPr/>
        </p:nvSpPr>
        <p:spPr>
          <a:xfrm>
            <a:off x="1047155" y="3372445"/>
            <a:ext cx="1122015" cy="1346447"/>
          </a:xfrm>
          <a:custGeom>
            <a:avLst/>
            <a:gdLst/>
            <a:ahLst/>
            <a:cxnLst/>
            <a:rect l="l" t="t" r="r" b="b"/>
            <a:pathLst>
              <a:path w="1122015" h="1346447">
                <a:moveTo>
                  <a:pt x="0" y="0"/>
                </a:moveTo>
                <a:lnTo>
                  <a:pt x="1122015" y="0"/>
                </a:lnTo>
                <a:lnTo>
                  <a:pt x="1122015" y="1346447"/>
                </a:lnTo>
                <a:lnTo>
                  <a:pt x="0" y="1346447"/>
                </a:lnTo>
                <a:lnTo>
                  <a:pt x="0" y="0"/>
                </a:lnTo>
                <a:close/>
              </a:path>
            </a:pathLst>
          </a:custGeom>
          <a:blipFill>
            <a:blip r:embed="rId4"/>
            <a:stretch>
              <a:fillRect l="-213" r="-213"/>
            </a:stretch>
          </a:blipFill>
        </p:spPr>
      </p:sp>
      <p:sp>
        <p:nvSpPr>
          <p:cNvPr id="8" name="Freeform 8" descr="preencoded.png"/>
          <p:cNvSpPr/>
          <p:nvPr/>
        </p:nvSpPr>
        <p:spPr>
          <a:xfrm>
            <a:off x="1047155" y="4718894"/>
            <a:ext cx="1122015" cy="1346447"/>
          </a:xfrm>
          <a:custGeom>
            <a:avLst/>
            <a:gdLst/>
            <a:ahLst/>
            <a:cxnLst/>
            <a:rect l="l" t="t" r="r" b="b"/>
            <a:pathLst>
              <a:path w="1122015" h="1346447">
                <a:moveTo>
                  <a:pt x="0" y="0"/>
                </a:moveTo>
                <a:lnTo>
                  <a:pt x="1122015" y="0"/>
                </a:lnTo>
                <a:lnTo>
                  <a:pt x="1122015" y="1346447"/>
                </a:lnTo>
                <a:lnTo>
                  <a:pt x="0" y="1346447"/>
                </a:lnTo>
                <a:lnTo>
                  <a:pt x="0" y="0"/>
                </a:lnTo>
                <a:close/>
              </a:path>
            </a:pathLst>
          </a:custGeom>
          <a:blipFill>
            <a:blip r:embed="rId5"/>
            <a:stretch>
              <a:fillRect l="-213" r="-213"/>
            </a:stretch>
          </a:blipFill>
        </p:spPr>
      </p:sp>
      <p:sp>
        <p:nvSpPr>
          <p:cNvPr id="9" name="Freeform 9" descr="preencoded.png"/>
          <p:cNvSpPr/>
          <p:nvPr/>
        </p:nvSpPr>
        <p:spPr>
          <a:xfrm>
            <a:off x="1047155" y="6065341"/>
            <a:ext cx="1122015" cy="1346448"/>
          </a:xfrm>
          <a:custGeom>
            <a:avLst/>
            <a:gdLst/>
            <a:ahLst/>
            <a:cxnLst/>
            <a:rect l="l" t="t" r="r" b="b"/>
            <a:pathLst>
              <a:path w="1122015" h="1346448">
                <a:moveTo>
                  <a:pt x="0" y="0"/>
                </a:moveTo>
                <a:lnTo>
                  <a:pt x="1122015" y="0"/>
                </a:lnTo>
                <a:lnTo>
                  <a:pt x="1122015" y="1346448"/>
                </a:lnTo>
                <a:lnTo>
                  <a:pt x="0" y="1346448"/>
                </a:lnTo>
                <a:lnTo>
                  <a:pt x="0" y="0"/>
                </a:lnTo>
                <a:close/>
              </a:path>
            </a:pathLst>
          </a:custGeom>
          <a:blipFill>
            <a:blip r:embed="rId6"/>
            <a:stretch>
              <a:fillRect l="-213" r="-213"/>
            </a:stretch>
          </a:blipFill>
        </p:spPr>
      </p:sp>
      <p:sp>
        <p:nvSpPr>
          <p:cNvPr id="10" name="Freeform 10" descr="preencoded.png"/>
          <p:cNvSpPr/>
          <p:nvPr/>
        </p:nvSpPr>
        <p:spPr>
          <a:xfrm>
            <a:off x="1047155" y="7411790"/>
            <a:ext cx="1122015" cy="1346448"/>
          </a:xfrm>
          <a:custGeom>
            <a:avLst/>
            <a:gdLst/>
            <a:ahLst/>
            <a:cxnLst/>
            <a:rect l="l" t="t" r="r" b="b"/>
            <a:pathLst>
              <a:path w="1122015" h="1346448">
                <a:moveTo>
                  <a:pt x="0" y="0"/>
                </a:moveTo>
                <a:lnTo>
                  <a:pt x="1122015" y="0"/>
                </a:lnTo>
                <a:lnTo>
                  <a:pt x="1122015" y="1346448"/>
                </a:lnTo>
                <a:lnTo>
                  <a:pt x="0" y="1346448"/>
                </a:lnTo>
                <a:lnTo>
                  <a:pt x="0" y="0"/>
                </a:lnTo>
                <a:close/>
              </a:path>
            </a:pathLst>
          </a:custGeom>
          <a:blipFill>
            <a:blip r:embed="rId7"/>
            <a:stretch>
              <a:fillRect l="-213" r="-213"/>
            </a:stretch>
          </a:blipFill>
        </p:spPr>
      </p:sp>
      <p:sp>
        <p:nvSpPr>
          <p:cNvPr id="11" name="Freeform 11"/>
          <p:cNvSpPr/>
          <p:nvPr/>
        </p:nvSpPr>
        <p:spPr>
          <a:xfrm>
            <a:off x="10189473" y="1129021"/>
            <a:ext cx="7069827" cy="3787661"/>
          </a:xfrm>
          <a:custGeom>
            <a:avLst/>
            <a:gdLst/>
            <a:ahLst/>
            <a:cxnLst/>
            <a:rect l="l" t="t" r="r" b="b"/>
            <a:pathLst>
              <a:path w="7069827" h="3787661">
                <a:moveTo>
                  <a:pt x="0" y="0"/>
                </a:moveTo>
                <a:lnTo>
                  <a:pt x="7069827" y="0"/>
                </a:lnTo>
                <a:lnTo>
                  <a:pt x="7069827" y="3787661"/>
                </a:lnTo>
                <a:lnTo>
                  <a:pt x="0" y="3787661"/>
                </a:lnTo>
                <a:lnTo>
                  <a:pt x="0" y="0"/>
                </a:lnTo>
                <a:close/>
              </a:path>
            </a:pathLst>
          </a:custGeom>
          <a:blipFill>
            <a:blip r:embed="rId8"/>
            <a:stretch>
              <a:fillRect l="-285" t="-5591" r="-285"/>
            </a:stretch>
          </a:blipFill>
        </p:spPr>
      </p:sp>
      <p:sp>
        <p:nvSpPr>
          <p:cNvPr id="12" name="Freeform 12"/>
          <p:cNvSpPr/>
          <p:nvPr/>
        </p:nvSpPr>
        <p:spPr>
          <a:xfrm>
            <a:off x="10183474" y="4916682"/>
            <a:ext cx="7075826" cy="4093968"/>
          </a:xfrm>
          <a:custGeom>
            <a:avLst/>
            <a:gdLst/>
            <a:ahLst/>
            <a:cxnLst/>
            <a:rect l="l" t="t" r="r" b="b"/>
            <a:pathLst>
              <a:path w="7075826" h="4093968">
                <a:moveTo>
                  <a:pt x="0" y="0"/>
                </a:moveTo>
                <a:lnTo>
                  <a:pt x="7075826" y="0"/>
                </a:lnTo>
                <a:lnTo>
                  <a:pt x="7075826" y="4093968"/>
                </a:lnTo>
                <a:lnTo>
                  <a:pt x="0" y="4093968"/>
                </a:lnTo>
                <a:lnTo>
                  <a:pt x="0" y="0"/>
                </a:lnTo>
                <a:close/>
              </a:path>
            </a:pathLst>
          </a:custGeom>
          <a:blipFill>
            <a:blip r:embed="rId9"/>
            <a:stretch>
              <a:fillRect l="-4108" b="-250"/>
            </a:stretch>
          </a:blipFill>
        </p:spPr>
      </p:sp>
      <p:sp>
        <p:nvSpPr>
          <p:cNvPr id="13" name="TextBox 13"/>
          <p:cNvSpPr txBox="1"/>
          <p:nvPr/>
        </p:nvSpPr>
        <p:spPr>
          <a:xfrm>
            <a:off x="1047155" y="879128"/>
            <a:ext cx="7423397" cy="698152"/>
          </a:xfrm>
          <a:prstGeom prst="rect">
            <a:avLst/>
          </a:prstGeom>
        </p:spPr>
        <p:txBody>
          <a:bodyPr lIns="0" tIns="0" rIns="0" bIns="0" rtlCol="0" anchor="t">
            <a:spAutoFit/>
          </a:bodyPr>
          <a:lstStyle/>
          <a:p>
            <a:pPr algn="l">
              <a:lnSpc>
                <a:spcPts val="5187"/>
              </a:lnSpc>
            </a:pPr>
            <a:r>
              <a:rPr lang="en-US" sz="4124" b="1">
                <a:solidFill>
                  <a:srgbClr val="02C1C2"/>
                </a:solidFill>
                <a:latin typeface="Arimo Bold"/>
                <a:ea typeface="Arimo Bold"/>
                <a:cs typeface="Arimo Bold"/>
                <a:sym typeface="Arimo Bold"/>
              </a:rPr>
              <a:t>Lộ Trình Học Tập Hiệu Quả</a:t>
            </a:r>
          </a:p>
        </p:txBody>
      </p:sp>
      <p:sp>
        <p:nvSpPr>
          <p:cNvPr id="14" name="TextBox 14"/>
          <p:cNvSpPr txBox="1"/>
          <p:nvPr/>
        </p:nvSpPr>
        <p:spPr>
          <a:xfrm>
            <a:off x="2505670" y="2231231"/>
            <a:ext cx="2640211" cy="331787"/>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Xác định mục tiêu</a:t>
            </a:r>
          </a:p>
        </p:txBody>
      </p:sp>
      <p:sp>
        <p:nvSpPr>
          <p:cNvPr id="15" name="TextBox 15"/>
          <p:cNvSpPr txBox="1"/>
          <p:nvPr/>
        </p:nvSpPr>
        <p:spPr>
          <a:xfrm>
            <a:off x="2505670" y="2619524"/>
            <a:ext cx="14735175"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Mục tiêu học tập cụ thể, rõ ràng.</a:t>
            </a:r>
          </a:p>
        </p:txBody>
      </p:sp>
      <p:sp>
        <p:nvSpPr>
          <p:cNvPr id="16" name="TextBox 16"/>
          <p:cNvSpPr txBox="1"/>
          <p:nvPr/>
        </p:nvSpPr>
        <p:spPr>
          <a:xfrm>
            <a:off x="2505670" y="3577679"/>
            <a:ext cx="2640211"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Kế hoạch chi tiết</a:t>
            </a:r>
          </a:p>
        </p:txBody>
      </p:sp>
      <p:sp>
        <p:nvSpPr>
          <p:cNvPr id="17" name="TextBox 17"/>
          <p:cNvSpPr txBox="1"/>
          <p:nvPr/>
        </p:nvSpPr>
        <p:spPr>
          <a:xfrm>
            <a:off x="2505670" y="3965972"/>
            <a:ext cx="14735175"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Xây dựng kế hoạch học tập khoa học.</a:t>
            </a:r>
          </a:p>
        </p:txBody>
      </p:sp>
      <p:sp>
        <p:nvSpPr>
          <p:cNvPr id="18" name="TextBox 18"/>
          <p:cNvSpPr txBox="1"/>
          <p:nvPr/>
        </p:nvSpPr>
        <p:spPr>
          <a:xfrm>
            <a:off x="2505670" y="4924127"/>
            <a:ext cx="2640211"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Luyện tập kiên trì</a:t>
            </a:r>
          </a:p>
        </p:txBody>
      </p:sp>
      <p:sp>
        <p:nvSpPr>
          <p:cNvPr id="19" name="TextBox 19"/>
          <p:cNvSpPr txBox="1"/>
          <p:nvPr/>
        </p:nvSpPr>
        <p:spPr>
          <a:xfrm>
            <a:off x="2505670" y="5312420"/>
            <a:ext cx="14735175"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Luyện tập thường xuyên và bền bỉ.</a:t>
            </a:r>
          </a:p>
        </p:txBody>
      </p:sp>
      <p:sp>
        <p:nvSpPr>
          <p:cNvPr id="20" name="TextBox 20"/>
          <p:cNvSpPr txBox="1"/>
          <p:nvPr/>
        </p:nvSpPr>
        <p:spPr>
          <a:xfrm>
            <a:off x="2505670" y="6270575"/>
            <a:ext cx="2640211"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Tìm kiếm hỗ trợ</a:t>
            </a:r>
          </a:p>
        </p:txBody>
      </p:sp>
      <p:sp>
        <p:nvSpPr>
          <p:cNvPr id="21" name="TextBox 21"/>
          <p:cNvSpPr txBox="1"/>
          <p:nvPr/>
        </p:nvSpPr>
        <p:spPr>
          <a:xfrm>
            <a:off x="2505670" y="6658867"/>
            <a:ext cx="14735175"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Từ giáo viên, bạn bè, cộng đồng.</a:t>
            </a:r>
          </a:p>
        </p:txBody>
      </p:sp>
      <p:sp>
        <p:nvSpPr>
          <p:cNvPr id="22" name="TextBox 22"/>
          <p:cNvSpPr txBox="1"/>
          <p:nvPr/>
        </p:nvSpPr>
        <p:spPr>
          <a:xfrm>
            <a:off x="2505670" y="7617024"/>
            <a:ext cx="2640211" cy="349003"/>
          </a:xfrm>
          <a:prstGeom prst="rect">
            <a:avLst/>
          </a:prstGeom>
        </p:spPr>
        <p:txBody>
          <a:bodyPr lIns="0" tIns="0" rIns="0" bIns="0" rtlCol="0" anchor="t">
            <a:spAutoFit/>
          </a:bodyPr>
          <a:lstStyle/>
          <a:p>
            <a:pPr algn="l">
              <a:lnSpc>
                <a:spcPts val="2562"/>
              </a:lnSpc>
            </a:pPr>
            <a:r>
              <a:rPr lang="en-US" sz="2062" b="1">
                <a:solidFill>
                  <a:srgbClr val="D9E1FF"/>
                </a:solidFill>
                <a:latin typeface="Arimo Bold"/>
                <a:ea typeface="Arimo Bold"/>
                <a:cs typeface="Arimo Bold"/>
                <a:sym typeface="Arimo Bold"/>
              </a:rPr>
              <a:t>Đánh giá định kỳ</a:t>
            </a:r>
          </a:p>
        </p:txBody>
      </p:sp>
      <p:sp>
        <p:nvSpPr>
          <p:cNvPr id="23" name="TextBox 23"/>
          <p:cNvSpPr txBox="1"/>
          <p:nvPr/>
        </p:nvSpPr>
        <p:spPr>
          <a:xfrm>
            <a:off x="2505670" y="8005316"/>
            <a:ext cx="14735175"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Đánh giá tiến độ, điều chỉnh kế hoạch.</a:t>
            </a:r>
          </a:p>
        </p:txBody>
      </p:sp>
      <p:sp>
        <p:nvSpPr>
          <p:cNvPr id="24" name="TextBox 24"/>
          <p:cNvSpPr txBox="1"/>
          <p:nvPr/>
        </p:nvSpPr>
        <p:spPr>
          <a:xfrm>
            <a:off x="1047155" y="8915400"/>
            <a:ext cx="16193690" cy="454224"/>
          </a:xfrm>
          <a:prstGeom prst="rect">
            <a:avLst/>
          </a:prstGeom>
        </p:spPr>
        <p:txBody>
          <a:bodyPr lIns="0" tIns="0" rIns="0" bIns="0" rtlCol="0" anchor="t">
            <a:spAutoFit/>
          </a:bodyPr>
          <a:lstStyle/>
          <a:p>
            <a:pPr algn="l">
              <a:lnSpc>
                <a:spcPts val="2812"/>
              </a:lnSpc>
            </a:pPr>
            <a:r>
              <a:rPr lang="en-US" sz="1750">
                <a:solidFill>
                  <a:srgbClr val="D9E1FF"/>
                </a:solidFill>
                <a:latin typeface="Arimo"/>
                <a:ea typeface="Arimo"/>
                <a:cs typeface="Arimo"/>
                <a:sym typeface="Arimo"/>
              </a:rPr>
              <a:t>Lộ trình này sẽ giúp bạn đạt được hiệu quả cao nhất trong quá trình học tập.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C0A33"/>
            </a:solidFill>
          </p:spPr>
        </p:sp>
      </p:grpSp>
      <p:sp>
        <p:nvSpPr>
          <p:cNvPr id="6" name="TextBox 6"/>
          <p:cNvSpPr txBox="1"/>
          <p:nvPr/>
        </p:nvSpPr>
        <p:spPr>
          <a:xfrm>
            <a:off x="1715084" y="390177"/>
            <a:ext cx="14829681" cy="889000"/>
          </a:xfrm>
          <a:prstGeom prst="rect">
            <a:avLst/>
          </a:prstGeom>
        </p:spPr>
        <p:txBody>
          <a:bodyPr lIns="0" tIns="0" rIns="0" bIns="0" rtlCol="0" anchor="t">
            <a:spAutoFit/>
          </a:bodyPr>
          <a:lstStyle/>
          <a:p>
            <a:pPr algn="ctr">
              <a:lnSpc>
                <a:spcPts val="6875"/>
              </a:lnSpc>
            </a:pPr>
            <a:r>
              <a:rPr lang="en-US" sz="5500" b="1">
                <a:solidFill>
                  <a:srgbClr val="02C1C2"/>
                </a:solidFill>
                <a:latin typeface="Arimo Bold"/>
                <a:ea typeface="Arimo Bold"/>
                <a:cs typeface="Arimo Bold"/>
                <a:sym typeface="Arimo Bold"/>
              </a:rPr>
              <a:t>Mẹo và Thủ Thuật Học Tiếng Anh CNTT</a:t>
            </a:r>
          </a:p>
        </p:txBody>
      </p:sp>
      <p:sp>
        <p:nvSpPr>
          <p:cNvPr id="7" name="TextBox 7"/>
          <p:cNvSpPr txBox="1"/>
          <p:nvPr/>
        </p:nvSpPr>
        <p:spPr>
          <a:xfrm>
            <a:off x="1715084" y="3228131"/>
            <a:ext cx="3934569"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Từ vựng theo chủ đề</a:t>
            </a:r>
          </a:p>
        </p:txBody>
      </p:sp>
      <p:sp>
        <p:nvSpPr>
          <p:cNvPr id="8" name="TextBox 8"/>
          <p:cNvSpPr txBox="1"/>
          <p:nvPr/>
        </p:nvSpPr>
        <p:spPr>
          <a:xfrm>
            <a:off x="1047155" y="3782169"/>
            <a:ext cx="4814292" cy="923925"/>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Học từ vựng theo chủ đề và ngữ cảnh.</a:t>
            </a:r>
          </a:p>
        </p:txBody>
      </p:sp>
      <p:sp>
        <p:nvSpPr>
          <p:cNvPr id="9" name="Freeform 9"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3"/>
            <a:stretch>
              <a:fillRect/>
            </a:stretch>
          </a:blipFill>
        </p:spPr>
      </p:sp>
      <p:sp>
        <p:nvSpPr>
          <p:cNvPr id="10" name="Freeform 10" descr="preencoded.png"/>
          <p:cNvSpPr/>
          <p:nvPr/>
        </p:nvSpPr>
        <p:spPr>
          <a:xfrm>
            <a:off x="7539632" y="3770710"/>
            <a:ext cx="447675" cy="559594"/>
          </a:xfrm>
          <a:custGeom>
            <a:avLst/>
            <a:gdLst/>
            <a:ahLst/>
            <a:cxnLst/>
            <a:rect l="l" t="t" r="r" b="b"/>
            <a:pathLst>
              <a:path w="447675" h="559594">
                <a:moveTo>
                  <a:pt x="0" y="0"/>
                </a:moveTo>
                <a:lnTo>
                  <a:pt x="447675" y="0"/>
                </a:lnTo>
                <a:lnTo>
                  <a:pt x="447675" y="559594"/>
                </a:lnTo>
                <a:lnTo>
                  <a:pt x="0" y="559594"/>
                </a:lnTo>
                <a:lnTo>
                  <a:pt x="0" y="0"/>
                </a:lnTo>
                <a:close/>
              </a:path>
            </a:pathLst>
          </a:custGeom>
          <a:blipFill>
            <a:blip r:embed="rId4"/>
            <a:stretch>
              <a:fillRect t="-212" b="-212"/>
            </a:stretch>
          </a:blipFill>
        </p:spPr>
      </p:sp>
      <p:sp>
        <p:nvSpPr>
          <p:cNvPr id="11" name="TextBox 11"/>
          <p:cNvSpPr txBox="1"/>
          <p:nvPr/>
        </p:nvSpPr>
        <p:spPr>
          <a:xfrm>
            <a:off x="12576274" y="2688184"/>
            <a:ext cx="4402187"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Flashcards &amp; ứng dụng</a:t>
            </a:r>
          </a:p>
        </p:txBody>
      </p:sp>
      <p:sp>
        <p:nvSpPr>
          <p:cNvPr id="12" name="TextBox 12"/>
          <p:cNvSpPr txBox="1"/>
          <p:nvPr/>
        </p:nvSpPr>
        <p:spPr>
          <a:xfrm>
            <a:off x="12426554" y="3232696"/>
            <a:ext cx="4814292"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Sử dụng flashcards và ứng dụng ghi nhớ.</a:t>
            </a:r>
          </a:p>
        </p:txBody>
      </p:sp>
      <p:sp>
        <p:nvSpPr>
          <p:cNvPr id="13" name="Freeform 13"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5"/>
            <a:stretch>
              <a:fillRect/>
            </a:stretch>
          </a:blipFill>
        </p:spPr>
      </p:sp>
      <p:sp>
        <p:nvSpPr>
          <p:cNvPr id="14" name="Freeform 14" descr="preencoded.png"/>
          <p:cNvSpPr/>
          <p:nvPr/>
        </p:nvSpPr>
        <p:spPr>
          <a:xfrm>
            <a:off x="9848255" y="3442098"/>
            <a:ext cx="447675" cy="559594"/>
          </a:xfrm>
          <a:custGeom>
            <a:avLst/>
            <a:gdLst/>
            <a:ahLst/>
            <a:cxnLst/>
            <a:rect l="l" t="t" r="r" b="b"/>
            <a:pathLst>
              <a:path w="447675" h="559594">
                <a:moveTo>
                  <a:pt x="0" y="0"/>
                </a:moveTo>
                <a:lnTo>
                  <a:pt x="447675" y="0"/>
                </a:lnTo>
                <a:lnTo>
                  <a:pt x="447675" y="559593"/>
                </a:lnTo>
                <a:lnTo>
                  <a:pt x="0" y="559593"/>
                </a:lnTo>
                <a:lnTo>
                  <a:pt x="0" y="0"/>
                </a:lnTo>
                <a:close/>
              </a:path>
            </a:pathLst>
          </a:custGeom>
          <a:blipFill>
            <a:blip r:embed="rId6"/>
            <a:stretch>
              <a:fillRect t="-212" b="-212"/>
            </a:stretch>
          </a:blipFill>
        </p:spPr>
      </p:sp>
      <p:sp>
        <p:nvSpPr>
          <p:cNvPr id="15" name="TextBox 15"/>
          <p:cNvSpPr txBox="1"/>
          <p:nvPr/>
        </p:nvSpPr>
        <p:spPr>
          <a:xfrm>
            <a:off x="12576274" y="4887814"/>
            <a:ext cx="4576019"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Xem phim, chương trình</a:t>
            </a:r>
          </a:p>
        </p:txBody>
      </p:sp>
      <p:sp>
        <p:nvSpPr>
          <p:cNvPr id="16" name="TextBox 16"/>
          <p:cNvSpPr txBox="1"/>
          <p:nvPr/>
        </p:nvSpPr>
        <p:spPr>
          <a:xfrm>
            <a:off x="12576274" y="5431036"/>
            <a:ext cx="4664571" cy="107186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Xem phim, chương trình CNTT bằng tiếng Anh.</a:t>
            </a:r>
          </a:p>
        </p:txBody>
      </p:sp>
      <p:sp>
        <p:nvSpPr>
          <p:cNvPr id="17" name="Freeform 17"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7"/>
            <a:stretch>
              <a:fillRect/>
            </a:stretch>
          </a:blipFill>
        </p:spPr>
      </p:sp>
      <p:sp>
        <p:nvSpPr>
          <p:cNvPr id="18" name="Freeform 18" descr="preencoded.png"/>
          <p:cNvSpPr/>
          <p:nvPr/>
        </p:nvSpPr>
        <p:spPr>
          <a:xfrm>
            <a:off x="10874276" y="5536258"/>
            <a:ext cx="447675" cy="559594"/>
          </a:xfrm>
          <a:custGeom>
            <a:avLst/>
            <a:gdLst/>
            <a:ahLst/>
            <a:cxnLst/>
            <a:rect l="l" t="t" r="r" b="b"/>
            <a:pathLst>
              <a:path w="447675" h="559594">
                <a:moveTo>
                  <a:pt x="0" y="0"/>
                </a:moveTo>
                <a:lnTo>
                  <a:pt x="447675" y="0"/>
                </a:lnTo>
                <a:lnTo>
                  <a:pt x="447675" y="559593"/>
                </a:lnTo>
                <a:lnTo>
                  <a:pt x="0" y="559593"/>
                </a:lnTo>
                <a:lnTo>
                  <a:pt x="0" y="0"/>
                </a:lnTo>
                <a:close/>
              </a:path>
            </a:pathLst>
          </a:custGeom>
          <a:blipFill>
            <a:blip r:embed="rId8"/>
            <a:stretch>
              <a:fillRect t="-212" b="-212"/>
            </a:stretch>
          </a:blipFill>
        </p:spPr>
      </p:sp>
      <p:sp>
        <p:nvSpPr>
          <p:cNvPr id="19" name="TextBox 19"/>
          <p:cNvSpPr txBox="1"/>
          <p:nvPr/>
        </p:nvSpPr>
        <p:spPr>
          <a:xfrm>
            <a:off x="13073584" y="7083921"/>
            <a:ext cx="3520231" cy="449262"/>
          </a:xfrm>
          <a:prstGeom prst="rect">
            <a:avLst/>
          </a:prstGeom>
        </p:spPr>
        <p:txBody>
          <a:bodyPr lIns="0" tIns="0" rIns="0" bIns="0" rtlCol="0" anchor="t">
            <a:spAutoFit/>
          </a:bodyPr>
          <a:lstStyle/>
          <a:p>
            <a:pPr algn="ctr">
              <a:lnSpc>
                <a:spcPts val="3437"/>
              </a:lnSpc>
            </a:pPr>
            <a:r>
              <a:rPr lang="en-US" sz="2750" b="1">
                <a:solidFill>
                  <a:srgbClr val="F3D339"/>
                </a:solidFill>
                <a:latin typeface="Arimo Bold"/>
                <a:ea typeface="Arimo Bold"/>
                <a:cs typeface="Arimo Bold"/>
                <a:sym typeface="Arimo Bold"/>
              </a:rPr>
              <a:t>Nghe nhạc</a:t>
            </a:r>
          </a:p>
        </p:txBody>
      </p:sp>
      <p:sp>
        <p:nvSpPr>
          <p:cNvPr id="20" name="TextBox 20"/>
          <p:cNvSpPr txBox="1"/>
          <p:nvPr/>
        </p:nvSpPr>
        <p:spPr>
          <a:xfrm>
            <a:off x="12426554" y="7629376"/>
            <a:ext cx="4814292" cy="593080"/>
          </a:xfrm>
          <a:prstGeom prst="rect">
            <a:avLst/>
          </a:prstGeom>
        </p:spPr>
        <p:txBody>
          <a:bodyPr lIns="0" tIns="0" rIns="0" bIns="0" rtlCol="0" anchor="t">
            <a:spAutoFit/>
          </a:bodyPr>
          <a:lstStyle/>
          <a:p>
            <a:pPr algn="l">
              <a:lnSpc>
                <a:spcPts val="3750"/>
              </a:lnSpc>
            </a:pPr>
            <a:r>
              <a:rPr lang="en-US" sz="2312">
                <a:solidFill>
                  <a:srgbClr val="D9E1FF"/>
                </a:solidFill>
                <a:latin typeface="Arimo"/>
                <a:ea typeface="Arimo"/>
                <a:cs typeface="Arimo"/>
                <a:sym typeface="Arimo"/>
              </a:rPr>
              <a:t>Nghe nhạc tiếng Anh và hát theo.</a:t>
            </a:r>
          </a:p>
        </p:txBody>
      </p:sp>
      <p:sp>
        <p:nvSpPr>
          <p:cNvPr id="21" name="Freeform 21"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9"/>
            <a:stretch>
              <a:fillRect/>
            </a:stretch>
          </a:blipFill>
        </p:spPr>
      </p:sp>
      <p:sp>
        <p:nvSpPr>
          <p:cNvPr id="22" name="Freeform 22" descr="preencoded.png"/>
          <p:cNvSpPr/>
          <p:nvPr/>
        </p:nvSpPr>
        <p:spPr>
          <a:xfrm>
            <a:off x="9199661" y="7159079"/>
            <a:ext cx="447675" cy="559594"/>
          </a:xfrm>
          <a:custGeom>
            <a:avLst/>
            <a:gdLst/>
            <a:ahLst/>
            <a:cxnLst/>
            <a:rect l="l" t="t" r="r" b="b"/>
            <a:pathLst>
              <a:path w="447675" h="559594">
                <a:moveTo>
                  <a:pt x="0" y="0"/>
                </a:moveTo>
                <a:lnTo>
                  <a:pt x="447675" y="0"/>
                </a:lnTo>
                <a:lnTo>
                  <a:pt x="447675" y="559593"/>
                </a:lnTo>
                <a:lnTo>
                  <a:pt x="0" y="559593"/>
                </a:lnTo>
                <a:lnTo>
                  <a:pt x="0" y="0"/>
                </a:lnTo>
                <a:close/>
              </a:path>
            </a:pathLst>
          </a:custGeom>
          <a:blipFill>
            <a:blip r:embed="rId10"/>
            <a:stretch>
              <a:fillRect t="-212" b="-212"/>
            </a:stretch>
          </a:blipFill>
        </p:spPr>
      </p:sp>
      <p:sp>
        <p:nvSpPr>
          <p:cNvPr id="23" name="TextBox 23"/>
          <p:cNvSpPr txBox="1"/>
          <p:nvPr/>
        </p:nvSpPr>
        <p:spPr>
          <a:xfrm>
            <a:off x="1267119" y="6244828"/>
            <a:ext cx="3520231" cy="478036"/>
          </a:xfrm>
          <a:prstGeom prst="rect">
            <a:avLst/>
          </a:prstGeom>
        </p:spPr>
        <p:txBody>
          <a:bodyPr lIns="0" tIns="0" rIns="0" bIns="0" rtlCol="0" anchor="t">
            <a:spAutoFit/>
          </a:bodyPr>
          <a:lstStyle/>
          <a:p>
            <a:pPr algn="r">
              <a:lnSpc>
                <a:spcPts val="3437"/>
              </a:lnSpc>
            </a:pPr>
            <a:r>
              <a:rPr lang="en-US" sz="2750" b="1">
                <a:solidFill>
                  <a:srgbClr val="F3D339"/>
                </a:solidFill>
                <a:latin typeface="Arimo Bold"/>
                <a:ea typeface="Arimo Bold"/>
                <a:cs typeface="Arimo Bold"/>
                <a:sym typeface="Arimo Bold"/>
              </a:rPr>
              <a:t>Đọc sách, báo</a:t>
            </a:r>
          </a:p>
        </p:txBody>
      </p:sp>
      <p:sp>
        <p:nvSpPr>
          <p:cNvPr id="24" name="TextBox 24"/>
          <p:cNvSpPr txBox="1"/>
          <p:nvPr/>
        </p:nvSpPr>
        <p:spPr>
          <a:xfrm>
            <a:off x="1487016" y="6825109"/>
            <a:ext cx="4814291" cy="923925"/>
          </a:xfrm>
          <a:prstGeom prst="rect">
            <a:avLst/>
          </a:prstGeom>
        </p:spPr>
        <p:txBody>
          <a:bodyPr lIns="0" tIns="0" rIns="0" bIns="0" rtlCol="0" anchor="t">
            <a:spAutoFit/>
          </a:bodyPr>
          <a:lstStyle/>
          <a:p>
            <a:pPr algn="just">
              <a:lnSpc>
                <a:spcPts val="3750"/>
              </a:lnSpc>
            </a:pPr>
            <a:r>
              <a:rPr lang="en-US" sz="2312">
                <a:solidFill>
                  <a:srgbClr val="D9E1FF"/>
                </a:solidFill>
                <a:latin typeface="Arimo"/>
                <a:ea typeface="Arimo"/>
                <a:cs typeface="Arimo"/>
                <a:sym typeface="Arimo"/>
              </a:rPr>
              <a:t>Đọc sách và báo bằng tiếng Anh mỗi ngày.</a:t>
            </a:r>
          </a:p>
        </p:txBody>
      </p:sp>
      <p:sp>
        <p:nvSpPr>
          <p:cNvPr id="25" name="Freeform 25" descr="preencoded.png"/>
          <p:cNvSpPr/>
          <p:nvPr/>
        </p:nvSpPr>
        <p:spPr>
          <a:xfrm>
            <a:off x="6310164" y="2641252"/>
            <a:ext cx="5667672" cy="5667672"/>
          </a:xfrm>
          <a:custGeom>
            <a:avLst/>
            <a:gdLst/>
            <a:ahLst/>
            <a:cxnLst/>
            <a:rect l="l" t="t" r="r" b="b"/>
            <a:pathLst>
              <a:path w="5667672" h="5667672">
                <a:moveTo>
                  <a:pt x="0" y="0"/>
                </a:moveTo>
                <a:lnTo>
                  <a:pt x="5667672" y="0"/>
                </a:lnTo>
                <a:lnTo>
                  <a:pt x="5667672" y="5667673"/>
                </a:lnTo>
                <a:lnTo>
                  <a:pt x="0" y="5667673"/>
                </a:lnTo>
                <a:lnTo>
                  <a:pt x="0" y="0"/>
                </a:lnTo>
                <a:close/>
              </a:path>
            </a:pathLst>
          </a:custGeom>
          <a:blipFill>
            <a:blip r:embed="rId11"/>
            <a:stretch>
              <a:fillRect/>
            </a:stretch>
          </a:blipFill>
        </p:spPr>
      </p:sp>
      <p:sp>
        <p:nvSpPr>
          <p:cNvPr id="26" name="Freeform 26" descr="preencoded.png"/>
          <p:cNvSpPr/>
          <p:nvPr/>
        </p:nvSpPr>
        <p:spPr>
          <a:xfrm>
            <a:off x="7138690" y="6067871"/>
            <a:ext cx="447675" cy="559594"/>
          </a:xfrm>
          <a:custGeom>
            <a:avLst/>
            <a:gdLst/>
            <a:ahLst/>
            <a:cxnLst/>
            <a:rect l="l" t="t" r="r" b="b"/>
            <a:pathLst>
              <a:path w="447675" h="559594">
                <a:moveTo>
                  <a:pt x="0" y="0"/>
                </a:moveTo>
                <a:lnTo>
                  <a:pt x="447675" y="0"/>
                </a:lnTo>
                <a:lnTo>
                  <a:pt x="447675" y="559594"/>
                </a:lnTo>
                <a:lnTo>
                  <a:pt x="0" y="559594"/>
                </a:lnTo>
                <a:lnTo>
                  <a:pt x="0" y="0"/>
                </a:lnTo>
                <a:close/>
              </a:path>
            </a:pathLst>
          </a:custGeom>
          <a:blipFill>
            <a:blip r:embed="rId12"/>
            <a:stretch>
              <a:fillRect t="-212" b="-212"/>
            </a:stretch>
          </a:blipFill>
        </p:spPr>
      </p:sp>
      <p:sp>
        <p:nvSpPr>
          <p:cNvPr id="27" name="TextBox 27"/>
          <p:cNvSpPr txBox="1"/>
          <p:nvPr/>
        </p:nvSpPr>
        <p:spPr>
          <a:xfrm>
            <a:off x="1102816" y="8842325"/>
            <a:ext cx="16193690" cy="517336"/>
          </a:xfrm>
          <a:prstGeom prst="rect">
            <a:avLst/>
          </a:prstGeom>
        </p:spPr>
        <p:txBody>
          <a:bodyPr lIns="0" tIns="0" rIns="0" bIns="0" rtlCol="0" anchor="t">
            <a:spAutoFit/>
          </a:bodyPr>
          <a:lstStyle/>
          <a:p>
            <a:pPr algn="l">
              <a:lnSpc>
                <a:spcPts val="4236"/>
              </a:lnSpc>
            </a:pPr>
            <a:r>
              <a:rPr lang="en-US" sz="2612">
                <a:solidFill>
                  <a:srgbClr val="D9E1FF"/>
                </a:solidFill>
                <a:latin typeface="Arimo"/>
                <a:ea typeface="Arimo"/>
                <a:cs typeface="Arimo"/>
                <a:sym typeface="Arimo"/>
              </a:rPr>
              <a:t>Những mẹo này sẽ giúp quá trình học tiếng Anh của bạn trở nên thú vị và hiệu quả hơn.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50D48"/>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B2952"/>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sp>
        <p:nvSpPr>
          <p:cNvPr id="8" name="TextBox 8"/>
          <p:cNvSpPr txBox="1"/>
          <p:nvPr/>
        </p:nvSpPr>
        <p:spPr>
          <a:xfrm>
            <a:off x="2103388" y="1255716"/>
            <a:ext cx="7040612" cy="889000"/>
          </a:xfrm>
          <a:prstGeom prst="rect">
            <a:avLst/>
          </a:prstGeom>
        </p:spPr>
        <p:txBody>
          <a:bodyPr lIns="0" tIns="0" rIns="0" bIns="0" rtlCol="0" anchor="t">
            <a:spAutoFit/>
          </a:bodyPr>
          <a:lstStyle/>
          <a:p>
            <a:pPr algn="ctr">
              <a:lnSpc>
                <a:spcPts val="6875"/>
              </a:lnSpc>
            </a:pPr>
            <a:r>
              <a:rPr lang="en-US" sz="5500" b="1">
                <a:solidFill>
                  <a:srgbClr val="AE17EB"/>
                </a:solidFill>
                <a:latin typeface="Arimo Bold"/>
                <a:ea typeface="Arimo Bold"/>
                <a:cs typeface="Arimo Bold"/>
                <a:sym typeface="Arimo Bold"/>
              </a:rPr>
              <a:t>Kết luận</a:t>
            </a:r>
          </a:p>
        </p:txBody>
      </p:sp>
      <p:sp>
        <p:nvSpPr>
          <p:cNvPr id="9" name="TextBox 9"/>
          <p:cNvSpPr txBox="1"/>
          <p:nvPr/>
        </p:nvSpPr>
        <p:spPr>
          <a:xfrm>
            <a:off x="1028700" y="2633201"/>
            <a:ext cx="9769390" cy="1966421"/>
          </a:xfrm>
          <a:prstGeom prst="rect">
            <a:avLst/>
          </a:prstGeom>
        </p:spPr>
        <p:txBody>
          <a:bodyPr lIns="0" tIns="0" rIns="0" bIns="0" rtlCol="0" anchor="t">
            <a:spAutoFit/>
          </a:bodyPr>
          <a:lstStyle/>
          <a:p>
            <a:pPr algn="just">
              <a:lnSpc>
                <a:spcPts val="3920"/>
              </a:lnSpc>
            </a:pPr>
            <a:r>
              <a:rPr lang="en-US" sz="2419">
                <a:solidFill>
                  <a:srgbClr val="D9E1FF"/>
                </a:solidFill>
                <a:latin typeface="Arimo"/>
                <a:ea typeface="Arimo"/>
                <a:cs typeface="Arimo"/>
                <a:sym typeface="Arimo"/>
              </a:rPr>
              <a:t>Tiếng Anh là kỹ năng không thể thiếu trong lĩnh vực CNTT hiện nay. Đầu tư vào việc học tiếng Anh sẽ mở ra nhiều cơ hội nghề nghiệp và phát triển bản thân. Hãy bắt đầu học tiếng Anh ngay hôm nay để gặt hái thành công trong sự nghiệp CNTT của bạn!</a:t>
            </a:r>
          </a:p>
        </p:txBody>
      </p:sp>
      <p:sp>
        <p:nvSpPr>
          <p:cNvPr id="10" name="TextBox 10"/>
          <p:cNvSpPr txBox="1"/>
          <p:nvPr/>
        </p:nvSpPr>
        <p:spPr>
          <a:xfrm>
            <a:off x="1437750" y="6052448"/>
            <a:ext cx="8477783" cy="1755775"/>
          </a:xfrm>
          <a:prstGeom prst="rect">
            <a:avLst/>
          </a:prstGeom>
        </p:spPr>
        <p:txBody>
          <a:bodyPr lIns="0" tIns="0" rIns="0" bIns="0" rtlCol="0" anchor="t">
            <a:spAutoFit/>
          </a:bodyPr>
          <a:lstStyle/>
          <a:p>
            <a:pPr algn="ctr">
              <a:lnSpc>
                <a:spcPts val="6875"/>
              </a:lnSpc>
            </a:pPr>
            <a:r>
              <a:rPr lang="en-US" sz="5500" b="1">
                <a:solidFill>
                  <a:srgbClr val="AE17EB"/>
                </a:solidFill>
                <a:latin typeface="Arimo Bold"/>
                <a:ea typeface="Arimo Bold"/>
                <a:cs typeface="Arimo Bold"/>
                <a:sym typeface="Arimo Bold"/>
              </a:rPr>
              <a:t>Cảm ơn cô và các bạn đã nghe buổi thuyết trình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PresentationFormat>Custom</PresentationFormat>
  <Paragraphs>129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Arimo Bold</vt:lpstr>
      <vt:lpstr>Arimo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Nhom6_PPHocTiengAnhHieuQua.pptx</dc:title>
  <dc:creator>PC643</dc:creator>
  <cp:lastModifiedBy>PC643</cp:lastModifiedBy>
  <cp:revision>2</cp:revision>
  <dcterms:created xsi:type="dcterms:W3CDTF">2006-08-16T00:00:00Z</dcterms:created>
  <dcterms:modified xsi:type="dcterms:W3CDTF">2025-06-02T03:39:55Z</dcterms:modified>
  <dc:identifier>DAGpKs0WVoo</dc:identifier>
</cp:coreProperties>
</file>