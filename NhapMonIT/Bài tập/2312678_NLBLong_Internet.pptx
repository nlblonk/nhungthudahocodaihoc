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nton" pitchFamily="2" charset="77"/>
      <p:regular r:id="rId14"/>
    </p:embeddedFont>
    <p:embeddedFont>
      <p:font typeface="Calibri" panose="020F0502020204030204" pitchFamily="34" charset="0"/>
      <p:regular r:id="rId15"/>
      <p:bold r:id="rId16"/>
      <p:italic r:id="rId17"/>
      <p:boldItalic r:id="rId18"/>
    </p:embeddedFont>
    <p:embeddedFont>
      <p:font typeface="Canva Sans Bold" panose="020B0803030501040103" pitchFamily="34" charset="0"/>
      <p:regular r:id="rId19"/>
      <p:bold r:id="rId20"/>
    </p:embeddedFont>
    <p:embeddedFont>
      <p:font typeface="Lora Bold" pitchFamily="2" charset="77"/>
      <p:regular r:id="rId21"/>
      <p:bold r:id="rId22"/>
    </p:embeddedFont>
    <p:embeddedFont>
      <p:font typeface="Open Sans" pitchFamily="2" charset="0"/>
      <p:regular r:id="rId23"/>
    </p:embeddedFont>
    <p:embeddedFont>
      <p:font typeface="Open Sans Bold" pitchFamily="2" charset="0"/>
      <p:regular r:id="rId24"/>
      <p:bold r:id="rId25"/>
    </p:embeddedFont>
    <p:embeddedFont>
      <p:font typeface="Open Sans Italics" pitchFamily="2" charset="0"/>
      <p:regular r:id="rId26"/>
      <p:italic r:id="rId27"/>
    </p:embeddedFont>
    <p:embeddedFont>
      <p:font typeface="Roboto" panose="02000000000000000000" pitchFamily="2"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3" autoAdjust="0"/>
    <p:restoredTop sz="68015" autoAdjust="0"/>
  </p:normalViewPr>
  <p:slideViewPr>
    <p:cSldViewPr>
      <p:cViewPr>
        <p:scale>
          <a:sx n="62" d="100"/>
          <a:sy n="62" d="100"/>
        </p:scale>
        <p:origin x="96" y="144"/>
      </p:cViewPr>
      <p:guideLst>
        <p:guide orient="horz" pos="2160"/>
        <p:guide pos="2880"/>
      </p:guideLst>
    </p:cSldViewPr>
  </p:slideViewPr>
  <p:outlineViewPr>
    <p:cViewPr>
      <p:scale>
        <a:sx n="33" d="100"/>
        <a:sy n="33" d="100"/>
      </p:scale>
      <p:origin x="0" y="0"/>
    </p:cViewPr>
  </p:outlineViewPr>
  <p:notesTextViewPr>
    <p:cViewPr>
      <p:scale>
        <a:sx n="105" d="100"/>
        <a:sy n="10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06.06.2025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Xin </a:t>
            </a:r>
            <a:r>
              <a:rPr lang="en-US" dirty="0" err="1"/>
              <a:t>chào</a:t>
            </a:r>
            <a:r>
              <a:rPr lang="en-US" dirty="0"/>
              <a:t> </a:t>
            </a:r>
            <a:r>
              <a:rPr lang="en-US" dirty="0" err="1"/>
              <a:t>cô</a:t>
            </a:r>
            <a:r>
              <a:rPr lang="en-US" dirty="0"/>
              <a:t> </a:t>
            </a:r>
            <a:r>
              <a:rPr lang="en-US" dirty="0" err="1"/>
              <a:t>và</a:t>
            </a:r>
            <a:r>
              <a:rPr lang="en-US" dirty="0"/>
              <a:t> </a:t>
            </a:r>
            <a:r>
              <a:rPr lang="en-US" dirty="0" err="1"/>
              <a:t>các</a:t>
            </a:r>
            <a:r>
              <a:rPr lang="en-US" dirty="0"/>
              <a:t> </a:t>
            </a:r>
            <a:r>
              <a:rPr lang="en-US" dirty="0" err="1"/>
              <a:t>bạn</a:t>
            </a:r>
            <a:r>
              <a:rPr lang="en-US" dirty="0"/>
              <a:t>, </a:t>
            </a:r>
            <a:r>
              <a:rPr lang="en-US" dirty="0" err="1"/>
              <a:t>mình</a:t>
            </a:r>
            <a:r>
              <a:rPr lang="en-US" dirty="0"/>
              <a:t> </a:t>
            </a:r>
            <a:r>
              <a:rPr lang="en-US" dirty="0" err="1"/>
              <a:t>là</a:t>
            </a:r>
            <a:r>
              <a:rPr lang="en-US" dirty="0"/>
              <a:t> </a:t>
            </a:r>
            <a:r>
              <a:rPr lang="en-US" dirty="0" err="1"/>
              <a:t>Nguyễn</a:t>
            </a:r>
            <a:r>
              <a:rPr lang="en-US" dirty="0"/>
              <a:t> Lê </a:t>
            </a:r>
            <a:r>
              <a:rPr lang="en-US" dirty="0" err="1"/>
              <a:t>Bảo</a:t>
            </a:r>
            <a:r>
              <a:rPr lang="en-US" dirty="0"/>
              <a:t> Long. </a:t>
            </a:r>
            <a:r>
              <a:rPr lang="en-US" dirty="0" err="1"/>
              <a:t>Và</a:t>
            </a:r>
            <a:r>
              <a:rPr lang="en-US" dirty="0"/>
              <a:t> </a:t>
            </a:r>
            <a:r>
              <a:rPr lang="en-US" dirty="0" err="1"/>
              <a:t>hôm</a:t>
            </a:r>
            <a:r>
              <a:rPr lang="en-US" dirty="0"/>
              <a:t> nay </a:t>
            </a:r>
            <a:r>
              <a:rPr lang="en-US" dirty="0" err="1"/>
              <a:t>chúng</a:t>
            </a:r>
            <a:r>
              <a:rPr lang="en-US" dirty="0"/>
              <a:t> ta </a:t>
            </a:r>
            <a:r>
              <a:rPr lang="en-US" dirty="0" err="1"/>
              <a:t>sẽ</a:t>
            </a:r>
            <a:r>
              <a:rPr lang="en-US" dirty="0"/>
              <a:t> </a:t>
            </a:r>
            <a:r>
              <a:rPr lang="en-US" dirty="0" err="1"/>
              <a:t>cùng</a:t>
            </a:r>
            <a:r>
              <a:rPr lang="en-US" dirty="0"/>
              <a:t> </a:t>
            </a:r>
            <a:r>
              <a:rPr lang="en-US" dirty="0" err="1"/>
              <a:t>nhau</a:t>
            </a:r>
            <a:r>
              <a:rPr lang="en-US" dirty="0"/>
              <a:t> </a:t>
            </a:r>
            <a:r>
              <a:rPr lang="en-US" dirty="0" err="1"/>
              <a:t>tìm</a:t>
            </a:r>
            <a:r>
              <a:rPr lang="en-US" dirty="0"/>
              <a:t> </a:t>
            </a:r>
            <a:r>
              <a:rPr lang="en-US" dirty="0" err="1"/>
              <a:t>hiểu</a:t>
            </a:r>
            <a:r>
              <a:rPr lang="en-US" dirty="0"/>
              <a:t> </a:t>
            </a:r>
            <a:r>
              <a:rPr lang="en-US" dirty="0" err="1"/>
              <a:t>về</a:t>
            </a:r>
            <a:r>
              <a:rPr lang="en-US" dirty="0"/>
              <a:t> </a:t>
            </a:r>
            <a:r>
              <a:rPr lang="en-US" dirty="0" err="1"/>
              <a:t>chủ</a:t>
            </a:r>
            <a:r>
              <a:rPr lang="en-US" dirty="0"/>
              <a:t> </a:t>
            </a:r>
            <a:r>
              <a:rPr lang="en-US" dirty="0" err="1"/>
              <a:t>đề</a:t>
            </a:r>
            <a:r>
              <a:rPr lang="en-US" dirty="0"/>
              <a:t> Internet - </a:t>
            </a:r>
            <a:r>
              <a:rPr lang="en-US" dirty="0" err="1"/>
              <a:t>một</a:t>
            </a:r>
            <a:r>
              <a:rPr lang="en-US" dirty="0"/>
              <a:t> </a:t>
            </a:r>
            <a:r>
              <a:rPr lang="en-US" dirty="0" err="1"/>
              <a:t>phần</a:t>
            </a:r>
            <a:r>
              <a:rPr lang="en-US" dirty="0"/>
              <a:t> </a:t>
            </a:r>
            <a:r>
              <a:rPr lang="en-US" dirty="0" err="1"/>
              <a:t>không</a:t>
            </a:r>
            <a:r>
              <a:rPr lang="en-US" dirty="0"/>
              <a:t> </a:t>
            </a:r>
            <a:r>
              <a:rPr lang="en-US" dirty="0" err="1"/>
              <a:t>thể</a:t>
            </a:r>
            <a:r>
              <a:rPr lang="en-US" dirty="0"/>
              <a:t> </a:t>
            </a:r>
            <a:r>
              <a:rPr lang="en-US" dirty="0" err="1"/>
              <a:t>thiếu</a:t>
            </a:r>
            <a:r>
              <a:rPr lang="en-US" dirty="0"/>
              <a:t> </a:t>
            </a:r>
            <a:r>
              <a:rPr lang="en-US" dirty="0" err="1"/>
              <a:t>trong</a:t>
            </a:r>
            <a:r>
              <a:rPr lang="en-US" dirty="0"/>
              <a:t> </a:t>
            </a:r>
            <a:r>
              <a:rPr lang="en-US" dirty="0" err="1"/>
              <a:t>cuộc</a:t>
            </a:r>
            <a:r>
              <a:rPr lang="en-US" dirty="0"/>
              <a:t> </a:t>
            </a:r>
            <a:r>
              <a:rPr lang="en-US" dirty="0" err="1"/>
              <a:t>sống</a:t>
            </a:r>
            <a:r>
              <a:rPr lang="en-US" dirty="0"/>
              <a:t> </a:t>
            </a:r>
            <a:r>
              <a:rPr lang="en-US" dirty="0" err="1"/>
              <a:t>hiện</a:t>
            </a:r>
            <a:r>
              <a:rPr lang="en-US" dirty="0"/>
              <a:t> </a:t>
            </a:r>
            <a:r>
              <a:rPr lang="en-US" dirty="0" err="1"/>
              <a:t>của</a:t>
            </a:r>
            <a:r>
              <a:rPr lang="en-US" dirty="0"/>
              <a:t> </a:t>
            </a:r>
            <a:r>
              <a:rPr lang="en-US" dirty="0" err="1"/>
              <a:t>chúng</a:t>
            </a:r>
            <a:r>
              <a:rPr lang="en-US" dirty="0"/>
              <a:t> 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Trước</a:t>
            </a:r>
            <a:r>
              <a:rPr lang="en-US" dirty="0"/>
              <a:t> </a:t>
            </a:r>
            <a:r>
              <a:rPr lang="en-US" dirty="0" err="1"/>
              <a:t>hết</a:t>
            </a:r>
            <a:r>
              <a:rPr lang="en-US" dirty="0"/>
              <a:t>, </a:t>
            </a:r>
            <a:r>
              <a:rPr lang="en-US" dirty="0" err="1"/>
              <a:t>chúng</a:t>
            </a:r>
            <a:r>
              <a:rPr lang="en-US" dirty="0"/>
              <a:t> ta </a:t>
            </a:r>
            <a:r>
              <a:rPr lang="en-US" dirty="0" err="1"/>
              <a:t>sẽ</a:t>
            </a:r>
            <a:r>
              <a:rPr lang="en-US" dirty="0"/>
              <a:t> </a:t>
            </a:r>
            <a:r>
              <a:rPr lang="en-US" dirty="0" err="1"/>
              <a:t>tìm</a:t>
            </a:r>
            <a:r>
              <a:rPr lang="en-US" dirty="0"/>
              <a:t> </a:t>
            </a:r>
            <a:r>
              <a:rPr lang="en-US" dirty="0" err="1"/>
              <a:t>hiểu</a:t>
            </a:r>
            <a:r>
              <a:rPr lang="en-US" dirty="0"/>
              <a:t> </a:t>
            </a:r>
            <a:r>
              <a:rPr lang="en-US" dirty="0" err="1"/>
              <a:t>khái</a:t>
            </a:r>
            <a:r>
              <a:rPr lang="en-US" dirty="0"/>
              <a:t> </a:t>
            </a:r>
            <a:r>
              <a:rPr lang="en-US" dirty="0" err="1"/>
              <a:t>niệm</a:t>
            </a:r>
            <a:r>
              <a:rPr lang="en-US" dirty="0"/>
              <a:t> </a:t>
            </a:r>
            <a:r>
              <a:rPr lang="en-US" dirty="0" err="1"/>
              <a:t>của</a:t>
            </a:r>
            <a:r>
              <a:rPr lang="en-US" dirty="0"/>
              <a:t> Internet.</a:t>
            </a:r>
          </a:p>
          <a:p>
            <a:r>
              <a:rPr lang="en-US" dirty="0"/>
              <a:t>Theo </a:t>
            </a:r>
            <a:r>
              <a:rPr lang="en-US" dirty="0" err="1"/>
              <a:t>định</a:t>
            </a:r>
            <a:r>
              <a:rPr lang="en-US" dirty="0"/>
              <a:t> </a:t>
            </a:r>
            <a:r>
              <a:rPr lang="en-US" dirty="0" err="1"/>
              <a:t>nghĩa</a:t>
            </a:r>
            <a:r>
              <a:rPr lang="en-US" dirty="0"/>
              <a:t> (</a:t>
            </a:r>
            <a:r>
              <a:rPr lang="en-US" dirty="0" err="1"/>
              <a:t>khái</a:t>
            </a:r>
            <a:r>
              <a:rPr lang="en-US" dirty="0"/>
              <a:t> </a:t>
            </a:r>
            <a:r>
              <a:rPr lang="en-US" dirty="0" err="1"/>
              <a:t>niệm</a:t>
            </a:r>
            <a:r>
              <a:rPr lang="en-US" dirty="0"/>
              <a:t>) </a:t>
            </a:r>
            <a:r>
              <a:rPr lang="en-US" dirty="0" err="1"/>
              <a:t>thì</a:t>
            </a:r>
            <a:r>
              <a:rPr lang="en-US" dirty="0"/>
              <a:t> Internet </a:t>
            </a:r>
            <a:r>
              <a:rPr lang="en-US" dirty="0" err="1"/>
              <a:t>là</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thông</a:t>
            </a:r>
            <a:r>
              <a:rPr lang="en-US" dirty="0"/>
              <a:t> tin </a:t>
            </a:r>
            <a:r>
              <a:rPr lang="en-US" dirty="0" err="1"/>
              <a:t>toàn</a:t>
            </a:r>
            <a:r>
              <a:rPr lang="en-US" dirty="0"/>
              <a:t> </a:t>
            </a:r>
            <a:r>
              <a:rPr lang="en-US" dirty="0" err="1"/>
              <a:t>cầu</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truy</a:t>
            </a:r>
            <a:r>
              <a:rPr lang="en-US" dirty="0"/>
              <a:t> </a:t>
            </a:r>
            <a:r>
              <a:rPr lang="en-US" dirty="0" err="1"/>
              <a:t>cập</a:t>
            </a:r>
            <a:r>
              <a:rPr lang="en-US" dirty="0"/>
              <a:t> </a:t>
            </a:r>
            <a:r>
              <a:rPr lang="en-US" dirty="0" err="1"/>
              <a:t>công</a:t>
            </a:r>
            <a:r>
              <a:rPr lang="en-US" dirty="0"/>
              <a:t> </a:t>
            </a:r>
            <a:r>
              <a:rPr lang="en-US" dirty="0" err="1"/>
              <a:t>cộng</a:t>
            </a:r>
            <a:r>
              <a:rPr lang="en-US" dirty="0"/>
              <a:t> bao </a:t>
            </a:r>
            <a:r>
              <a:rPr lang="en-US" dirty="0" err="1"/>
              <a:t>gồm</a:t>
            </a:r>
            <a:r>
              <a:rPr lang="en-US" dirty="0"/>
              <a:t> </a:t>
            </a:r>
            <a:r>
              <a:rPr lang="en-US" dirty="0" err="1"/>
              <a:t>các</a:t>
            </a:r>
            <a:r>
              <a:rPr lang="en-US" dirty="0"/>
              <a:t> </a:t>
            </a:r>
            <a:r>
              <a:rPr lang="en-US" dirty="0" err="1"/>
              <a:t>mạng</a:t>
            </a:r>
            <a:r>
              <a:rPr lang="en-US" dirty="0"/>
              <a:t> </a:t>
            </a:r>
            <a:r>
              <a:rPr lang="en-US" dirty="0" err="1"/>
              <a:t>máy</a:t>
            </a:r>
            <a:r>
              <a:rPr lang="en-US" dirty="0"/>
              <a:t> </a:t>
            </a:r>
            <a:r>
              <a:rPr lang="en-US" dirty="0" err="1"/>
              <a:t>tính</a:t>
            </a:r>
            <a:r>
              <a:rPr lang="en-US" dirty="0"/>
              <a:t> </a:t>
            </a:r>
            <a:r>
              <a:rPr lang="en-US" dirty="0" err="1"/>
              <a:t>được</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nhau</a:t>
            </a:r>
            <a:r>
              <a:rPr lang="en-US" dirty="0"/>
              <a:t>. Internet </a:t>
            </a:r>
            <a:r>
              <a:rPr lang="en-US" dirty="0" err="1"/>
              <a:t>cho</a:t>
            </a:r>
            <a:r>
              <a:rPr lang="en-US" dirty="0"/>
              <a:t> </a:t>
            </a:r>
            <a:r>
              <a:rPr lang="en-US" dirty="0" err="1"/>
              <a:t>phép</a:t>
            </a:r>
            <a:r>
              <a:rPr lang="en-US" dirty="0"/>
              <a:t> </a:t>
            </a:r>
            <a:r>
              <a:rPr lang="en-US" dirty="0" err="1"/>
              <a:t>người</a:t>
            </a:r>
            <a:r>
              <a:rPr lang="en-US" dirty="0"/>
              <a:t> </a:t>
            </a:r>
            <a:r>
              <a:rPr lang="en-US" dirty="0" err="1"/>
              <a:t>dùng</a:t>
            </a:r>
            <a:r>
              <a:rPr lang="en-US" dirty="0"/>
              <a:t> </a:t>
            </a:r>
            <a:r>
              <a:rPr lang="en-US" dirty="0" err="1"/>
              <a:t>trao</a:t>
            </a:r>
            <a:r>
              <a:rPr lang="en-US" dirty="0"/>
              <a:t> </a:t>
            </a:r>
            <a:r>
              <a:rPr lang="en-US" dirty="0" err="1"/>
              <a:t>đổi</a:t>
            </a:r>
            <a:r>
              <a:rPr lang="en-US" dirty="0"/>
              <a:t> </a:t>
            </a:r>
            <a:r>
              <a:rPr lang="en-US" dirty="0" err="1"/>
              <a:t>dữ</a:t>
            </a:r>
            <a:r>
              <a:rPr lang="en-US" dirty="0"/>
              <a:t> </a:t>
            </a:r>
            <a:r>
              <a:rPr lang="en-US" dirty="0" err="1"/>
              <a:t>liệu</a:t>
            </a:r>
            <a:r>
              <a:rPr lang="en-US" dirty="0"/>
              <a:t>, </a:t>
            </a:r>
            <a:r>
              <a:rPr lang="en-US" dirty="0" err="1"/>
              <a:t>thông</a:t>
            </a:r>
            <a:r>
              <a:rPr lang="en-US" dirty="0"/>
              <a:t> tin, </a:t>
            </a:r>
            <a:r>
              <a:rPr lang="en-US" dirty="0" err="1"/>
              <a:t>tương</a:t>
            </a:r>
            <a:r>
              <a:rPr lang="en-US" dirty="0"/>
              <a:t> </a:t>
            </a:r>
            <a:r>
              <a:rPr lang="en-US" dirty="0" err="1"/>
              <a:t>tác</a:t>
            </a:r>
            <a:r>
              <a:rPr lang="en-US" dirty="0"/>
              <a:t> </a:t>
            </a:r>
            <a:r>
              <a:rPr lang="en-US" dirty="0" err="1"/>
              <a:t>và</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dịch</a:t>
            </a:r>
            <a:r>
              <a:rPr lang="en-US" dirty="0"/>
              <a:t> </a:t>
            </a:r>
            <a:r>
              <a:rPr lang="en-US" dirty="0" err="1"/>
              <a:t>vụ</a:t>
            </a:r>
            <a:r>
              <a:rPr lang="en-US" dirty="0"/>
              <a:t> </a:t>
            </a:r>
            <a:r>
              <a:rPr lang="en-US" dirty="0" err="1"/>
              <a:t>số</a:t>
            </a:r>
            <a:r>
              <a:rPr lang="en-US" dirty="0"/>
              <a:t> </a:t>
            </a:r>
            <a:r>
              <a:rPr lang="en-US" dirty="0" err="1"/>
              <a:t>như</a:t>
            </a:r>
            <a:r>
              <a:rPr lang="en-US" dirty="0"/>
              <a:t> email, website, </a:t>
            </a:r>
            <a:r>
              <a:rPr lang="en-US" dirty="0" err="1"/>
              <a:t>mạng</a:t>
            </a:r>
            <a:r>
              <a:rPr lang="en-US" dirty="0"/>
              <a:t> </a:t>
            </a:r>
            <a:r>
              <a:rPr lang="en-US" dirty="0" err="1"/>
              <a:t>xã</a:t>
            </a:r>
            <a:r>
              <a:rPr lang="en-US" dirty="0"/>
              <a:t> </a:t>
            </a:r>
            <a:r>
              <a:rPr lang="en-US" dirty="0" err="1"/>
              <a:t>hội</a:t>
            </a:r>
            <a:r>
              <a:rPr lang="en-US" dirty="0"/>
              <a:t>, </a:t>
            </a:r>
            <a:r>
              <a:rPr lang="en-US" dirty="0" err="1"/>
              <a:t>thương</a:t>
            </a:r>
            <a:r>
              <a:rPr lang="en-US" dirty="0"/>
              <a:t> </a:t>
            </a:r>
            <a:r>
              <a:rPr lang="en-US" dirty="0" err="1"/>
              <a:t>mại</a:t>
            </a:r>
            <a:r>
              <a:rPr lang="en-US" dirty="0"/>
              <a:t> </a:t>
            </a:r>
            <a:r>
              <a:rPr lang="en-US" dirty="0" err="1"/>
              <a:t>điện</a:t>
            </a:r>
            <a:r>
              <a:rPr lang="en-US" dirty="0"/>
              <a:t> </a:t>
            </a:r>
            <a:r>
              <a:rPr lang="en-US" dirty="0" err="1"/>
              <a:t>tử</a:t>
            </a:r>
            <a:r>
              <a:rPr lang="en-US" dirty="0"/>
              <a:t>,...</a:t>
            </a:r>
          </a:p>
          <a:p>
            <a:r>
              <a:rPr lang="en-US" dirty="0" err="1"/>
              <a:t>Nó</a:t>
            </a:r>
            <a:r>
              <a:rPr lang="en-US" dirty="0"/>
              <a:t> </a:t>
            </a:r>
            <a:r>
              <a:rPr lang="en-US" dirty="0" err="1"/>
              <a:t>giống</a:t>
            </a:r>
            <a:r>
              <a:rPr lang="en-US" dirty="0"/>
              <a:t> </a:t>
            </a:r>
            <a:r>
              <a:rPr lang="en-US" dirty="0" err="1"/>
              <a:t>như</a:t>
            </a:r>
            <a:r>
              <a:rPr lang="en-US" dirty="0"/>
              <a:t> </a:t>
            </a:r>
            <a:r>
              <a:rPr lang="en-US" dirty="0" err="1"/>
              <a:t>một</a:t>
            </a:r>
            <a:r>
              <a:rPr lang="en-US" dirty="0"/>
              <a:t> "</a:t>
            </a:r>
            <a:r>
              <a:rPr lang="en-US" dirty="0" err="1"/>
              <a:t>mạng</a:t>
            </a:r>
            <a:r>
              <a:rPr lang="en-US" dirty="0"/>
              <a:t> </a:t>
            </a:r>
            <a:r>
              <a:rPr lang="en-US" dirty="0" err="1"/>
              <a:t>nhện</a:t>
            </a:r>
            <a:r>
              <a:rPr lang="en-US" dirty="0"/>
              <a:t>" </a:t>
            </a:r>
            <a:r>
              <a:rPr lang="en-US" dirty="0" err="1"/>
              <a:t>không</a:t>
            </a:r>
            <a:r>
              <a:rPr lang="en-US" dirty="0"/>
              <a:t> </a:t>
            </a:r>
            <a:r>
              <a:rPr lang="en-US" dirty="0" err="1"/>
              <a:t>lồ</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mọi</a:t>
            </a:r>
            <a:r>
              <a:rPr lang="en-US" dirty="0"/>
              <a:t> </a:t>
            </a:r>
            <a:r>
              <a:rPr lang="en-US" dirty="0" err="1"/>
              <a:t>người</a:t>
            </a:r>
            <a:r>
              <a:rPr lang="en-US" dirty="0"/>
              <a:t> </a:t>
            </a:r>
            <a:r>
              <a:rPr lang="en-US" dirty="0" err="1"/>
              <a:t>và</a:t>
            </a:r>
            <a:r>
              <a:rPr lang="en-US" dirty="0"/>
              <a:t> </a:t>
            </a:r>
            <a:r>
              <a:rPr lang="en-US" dirty="0" err="1"/>
              <a:t>thiết</a:t>
            </a:r>
            <a:r>
              <a:rPr lang="en-US" dirty="0"/>
              <a:t> </a:t>
            </a:r>
            <a:r>
              <a:rPr lang="en-US" dirty="0" err="1"/>
              <a:t>bị</a:t>
            </a:r>
            <a:r>
              <a:rPr lang="en-US" dirty="0"/>
              <a:t> </a:t>
            </a:r>
            <a:r>
              <a:rPr lang="en-US" dirty="0" err="1"/>
              <a:t>trên</a:t>
            </a:r>
            <a:r>
              <a:rPr lang="en-US" dirty="0"/>
              <a:t> </a:t>
            </a:r>
            <a:r>
              <a:rPr lang="en-US" dirty="0" err="1"/>
              <a:t>toàn</a:t>
            </a:r>
            <a:r>
              <a:rPr lang="en-US" dirty="0"/>
              <a:t> </a:t>
            </a:r>
            <a:r>
              <a:rPr lang="en-US" dirty="0" err="1"/>
              <a:t>thế</a:t>
            </a:r>
            <a:r>
              <a:rPr lang="en-US" dirty="0"/>
              <a:t> </a:t>
            </a:r>
            <a:r>
              <a:rPr lang="en-US" dirty="0" err="1"/>
              <a:t>giới</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Về</a:t>
            </a:r>
            <a:r>
              <a:rPr lang="en-US" dirty="0"/>
              <a:t> </a:t>
            </a:r>
            <a:r>
              <a:rPr lang="en-US" dirty="0" err="1"/>
              <a:t>phần</a:t>
            </a:r>
            <a:r>
              <a:rPr lang="en-US" dirty="0"/>
              <a:t> </a:t>
            </a:r>
            <a:r>
              <a:rPr lang="en-US" dirty="0" err="1"/>
              <a:t>đặc</a:t>
            </a:r>
            <a:r>
              <a:rPr lang="en-US" dirty="0"/>
              <a:t> </a:t>
            </a:r>
            <a:r>
              <a:rPr lang="en-US" dirty="0" err="1"/>
              <a:t>điểm</a:t>
            </a:r>
            <a:r>
              <a:rPr lang="en-US" dirty="0"/>
              <a:t>, Internet </a:t>
            </a:r>
            <a:r>
              <a:rPr lang="en-US" dirty="0" err="1"/>
              <a:t>có</a:t>
            </a:r>
            <a:r>
              <a:rPr lang="en-US" dirty="0"/>
              <a:t> </a:t>
            </a:r>
            <a:r>
              <a:rPr lang="en-US" dirty="0" err="1"/>
              <a:t>rất</a:t>
            </a:r>
            <a:r>
              <a:rPr lang="en-US" dirty="0"/>
              <a:t> </a:t>
            </a:r>
            <a:r>
              <a:rPr lang="en-US" dirty="0" err="1"/>
              <a:t>là</a:t>
            </a:r>
            <a:r>
              <a:rPr lang="en-US" dirty="0"/>
              <a:t> </a:t>
            </a:r>
            <a:r>
              <a:rPr lang="en-US" dirty="0" err="1"/>
              <a:t>nhiều</a:t>
            </a:r>
            <a:r>
              <a:rPr lang="en-US" dirty="0"/>
              <a:t> </a:t>
            </a:r>
            <a:r>
              <a:rPr lang="en-US" dirty="0" err="1"/>
              <a:t>đặc</a:t>
            </a:r>
            <a:r>
              <a:rPr lang="en-US" dirty="0"/>
              <a:t> </a:t>
            </a:r>
            <a:r>
              <a:rPr lang="en-US" dirty="0" err="1"/>
              <a:t>điểm</a:t>
            </a:r>
            <a:r>
              <a:rPr lang="en-US" dirty="0"/>
              <a:t> </a:t>
            </a:r>
            <a:r>
              <a:rPr lang="en-US" dirty="0" err="1"/>
              <a:t>nhưng</a:t>
            </a:r>
            <a:r>
              <a:rPr lang="en-US" dirty="0"/>
              <a:t> </a:t>
            </a:r>
            <a:r>
              <a:rPr lang="en-US" dirty="0" err="1"/>
              <a:t>mình</a:t>
            </a:r>
            <a:r>
              <a:rPr lang="en-US" dirty="0"/>
              <a:t> </a:t>
            </a:r>
            <a:r>
              <a:rPr lang="en-US" dirty="0" err="1"/>
              <a:t>sẽ</a:t>
            </a:r>
            <a:r>
              <a:rPr lang="en-US" dirty="0"/>
              <a:t> </a:t>
            </a:r>
            <a:r>
              <a:rPr lang="en-US" dirty="0" err="1"/>
              <a:t>đưa</a:t>
            </a:r>
            <a:r>
              <a:rPr lang="en-US" dirty="0"/>
              <a:t> </a:t>
            </a:r>
            <a:r>
              <a:rPr lang="en-US" dirty="0" err="1"/>
              <a:t>ra</a:t>
            </a:r>
            <a:r>
              <a:rPr lang="en-US" dirty="0"/>
              <a:t> 4 </a:t>
            </a:r>
            <a:r>
              <a:rPr lang="en-US" dirty="0" err="1"/>
              <a:t>đặc</a:t>
            </a:r>
            <a:r>
              <a:rPr lang="en-US" dirty="0"/>
              <a:t> </a:t>
            </a:r>
            <a:r>
              <a:rPr lang="en-US" dirty="0" err="1"/>
              <a:t>điểm</a:t>
            </a:r>
            <a:r>
              <a:rPr lang="en-US" dirty="0"/>
              <a:t> </a:t>
            </a:r>
            <a:r>
              <a:rPr lang="en-US" dirty="0" err="1"/>
              <a:t>chính</a:t>
            </a:r>
            <a:r>
              <a:rPr lang="en-US" dirty="0"/>
              <a:t>:</a:t>
            </a:r>
          </a:p>
          <a:p>
            <a:r>
              <a:rPr lang="en-US" dirty="0" err="1"/>
              <a:t>Thứ</a:t>
            </a:r>
            <a:r>
              <a:rPr lang="en-US" dirty="0"/>
              <a:t> </a:t>
            </a:r>
            <a:r>
              <a:rPr lang="en-US" dirty="0" err="1"/>
              <a:t>nhất</a:t>
            </a:r>
            <a:r>
              <a:rPr lang="en-US" dirty="0"/>
              <a:t> </a:t>
            </a:r>
            <a:r>
              <a:rPr lang="en-US" dirty="0" err="1"/>
              <a:t>là</a:t>
            </a:r>
            <a:r>
              <a:rPr lang="en-US" dirty="0"/>
              <a:t> </a:t>
            </a:r>
            <a:r>
              <a:rPr lang="en-US" dirty="0" err="1"/>
              <a:t>tính</a:t>
            </a:r>
            <a:r>
              <a:rPr lang="en-US" dirty="0"/>
              <a:t> </a:t>
            </a:r>
            <a:r>
              <a:rPr lang="en-US" dirty="0" err="1"/>
              <a:t>toàn</a:t>
            </a:r>
            <a:r>
              <a:rPr lang="en-US" dirty="0"/>
              <a:t> </a:t>
            </a:r>
            <a:r>
              <a:rPr lang="en-US" dirty="0" err="1"/>
              <a:t>cầu</a:t>
            </a:r>
            <a:r>
              <a:rPr lang="en-US" dirty="0"/>
              <a:t>, Internet </a:t>
            </a:r>
            <a:r>
              <a:rPr lang="en-US" dirty="0" err="1"/>
              <a:t>kết</a:t>
            </a:r>
            <a:r>
              <a:rPr lang="en-US" dirty="0"/>
              <a:t> </a:t>
            </a:r>
            <a:r>
              <a:rPr lang="en-US" dirty="0" err="1"/>
              <a:t>nối</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và</a:t>
            </a:r>
            <a:r>
              <a:rPr lang="en-US" dirty="0"/>
              <a:t> </a:t>
            </a:r>
            <a:r>
              <a:rPr lang="en-US" dirty="0" err="1"/>
              <a:t>thiết</a:t>
            </a:r>
            <a:r>
              <a:rPr lang="en-US" dirty="0"/>
              <a:t> </a:t>
            </a:r>
            <a:r>
              <a:rPr lang="en-US" dirty="0" err="1"/>
              <a:t>bị</a:t>
            </a:r>
            <a:r>
              <a:rPr lang="en-US" dirty="0"/>
              <a:t> </a:t>
            </a:r>
            <a:r>
              <a:rPr lang="en-US" dirty="0" err="1"/>
              <a:t>trên</a:t>
            </a:r>
            <a:r>
              <a:rPr lang="en-US" dirty="0"/>
              <a:t> </a:t>
            </a:r>
            <a:r>
              <a:rPr lang="en-US" dirty="0" err="1"/>
              <a:t>toàn</a:t>
            </a:r>
            <a:r>
              <a:rPr lang="en-US" dirty="0"/>
              <a:t> </a:t>
            </a:r>
            <a:r>
              <a:rPr lang="en-US" dirty="0" err="1"/>
              <a:t>thế</a:t>
            </a:r>
            <a:r>
              <a:rPr lang="en-US" dirty="0"/>
              <a:t> </a:t>
            </a:r>
            <a:r>
              <a:rPr lang="en-US" dirty="0" err="1"/>
              <a:t>giới</a:t>
            </a:r>
            <a:r>
              <a:rPr lang="en-US" dirty="0"/>
              <a:t>, </a:t>
            </a:r>
            <a:r>
              <a:rPr lang="en-US" dirty="0" err="1"/>
              <a:t>cho</a:t>
            </a:r>
            <a:r>
              <a:rPr lang="en-US" dirty="0"/>
              <a:t> </a:t>
            </a:r>
            <a:r>
              <a:rPr lang="en-US" dirty="0" err="1"/>
              <a:t>phép</a:t>
            </a:r>
            <a:r>
              <a:rPr lang="en-US" dirty="0"/>
              <a:t> </a:t>
            </a:r>
            <a:r>
              <a:rPr lang="en-US" dirty="0" err="1"/>
              <a:t>người</a:t>
            </a:r>
            <a:r>
              <a:rPr lang="en-US" dirty="0"/>
              <a:t> </a:t>
            </a:r>
            <a:r>
              <a:rPr lang="en-US" dirty="0" err="1"/>
              <a:t>dùng</a:t>
            </a:r>
            <a:r>
              <a:rPr lang="en-US" dirty="0"/>
              <a:t> </a:t>
            </a:r>
            <a:r>
              <a:rPr lang="en-US" dirty="0" err="1"/>
              <a:t>truy</a:t>
            </a:r>
            <a:r>
              <a:rPr lang="en-US" dirty="0"/>
              <a:t> </a:t>
            </a:r>
            <a:r>
              <a:rPr lang="en-US" dirty="0" err="1"/>
              <a:t>cập</a:t>
            </a:r>
            <a:r>
              <a:rPr lang="en-US" dirty="0"/>
              <a:t> </a:t>
            </a:r>
            <a:r>
              <a:rPr lang="en-US" dirty="0" err="1"/>
              <a:t>thông</a:t>
            </a:r>
            <a:r>
              <a:rPr lang="en-US" dirty="0"/>
              <a:t> tin </a:t>
            </a:r>
            <a:r>
              <a:rPr lang="en-US" dirty="0" err="1"/>
              <a:t>và</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nhau</a:t>
            </a:r>
            <a:r>
              <a:rPr lang="en-US" dirty="0"/>
              <a:t> </a:t>
            </a:r>
            <a:r>
              <a:rPr lang="en-US" dirty="0" err="1"/>
              <a:t>từ</a:t>
            </a:r>
            <a:r>
              <a:rPr lang="en-US" dirty="0"/>
              <a:t> </a:t>
            </a:r>
            <a:r>
              <a:rPr lang="en-US" dirty="0" err="1"/>
              <a:t>bất</a:t>
            </a:r>
            <a:r>
              <a:rPr lang="en-US" dirty="0"/>
              <a:t> </a:t>
            </a:r>
            <a:r>
              <a:rPr lang="en-US" dirty="0" err="1"/>
              <a:t>kỳ</a:t>
            </a:r>
            <a:r>
              <a:rPr lang="en-US" dirty="0"/>
              <a:t> </a:t>
            </a:r>
            <a:r>
              <a:rPr lang="en-US" dirty="0" err="1"/>
              <a:t>đâu</a:t>
            </a:r>
            <a:r>
              <a:rPr lang="en-US" dirty="0"/>
              <a:t>.</a:t>
            </a:r>
          </a:p>
          <a:p>
            <a:r>
              <a:rPr lang="en-US" dirty="0" err="1"/>
              <a:t>Thứ</a:t>
            </a:r>
            <a:r>
              <a:rPr lang="en-US" dirty="0"/>
              <a:t> </a:t>
            </a:r>
            <a:r>
              <a:rPr lang="en-US" dirty="0" err="1"/>
              <a:t>hai</a:t>
            </a:r>
            <a:r>
              <a:rPr lang="en-US" dirty="0"/>
              <a:t> </a:t>
            </a:r>
            <a:r>
              <a:rPr lang="en-US" dirty="0" err="1"/>
              <a:t>là</a:t>
            </a:r>
            <a:r>
              <a:rPr lang="en-US" dirty="0"/>
              <a:t> </a:t>
            </a:r>
            <a:r>
              <a:rPr lang="en-US" dirty="0" err="1"/>
              <a:t>tính</a:t>
            </a:r>
            <a:r>
              <a:rPr lang="en-US" dirty="0"/>
              <a:t> </a:t>
            </a:r>
            <a:r>
              <a:rPr lang="en-US" dirty="0" err="1"/>
              <a:t>tương</a:t>
            </a:r>
            <a:r>
              <a:rPr lang="en-US" dirty="0"/>
              <a:t> </a:t>
            </a:r>
            <a:r>
              <a:rPr lang="en-US" dirty="0" err="1"/>
              <a:t>tác</a:t>
            </a:r>
            <a:r>
              <a:rPr lang="en-US" dirty="0"/>
              <a:t>, </a:t>
            </a:r>
            <a:r>
              <a:rPr lang="en-US" dirty="0" err="1"/>
              <a:t>người</a:t>
            </a:r>
            <a:r>
              <a:rPr lang="en-US" dirty="0"/>
              <a:t> </a:t>
            </a:r>
            <a:r>
              <a:rPr lang="en-US" dirty="0" err="1"/>
              <a:t>dùng</a:t>
            </a:r>
            <a:r>
              <a:rPr lang="en-US" dirty="0"/>
              <a:t> </a:t>
            </a:r>
            <a:r>
              <a:rPr lang="en-US" dirty="0" err="1"/>
              <a:t>có</a:t>
            </a:r>
            <a:r>
              <a:rPr lang="en-US" dirty="0"/>
              <a:t> </a:t>
            </a:r>
            <a:r>
              <a:rPr lang="en-US" dirty="0" err="1"/>
              <a:t>thể</a:t>
            </a:r>
            <a:r>
              <a:rPr lang="en-US" dirty="0"/>
              <a:t> </a:t>
            </a:r>
            <a:r>
              <a:rPr lang="en-US" dirty="0" err="1"/>
              <a:t>tương</a:t>
            </a:r>
            <a:r>
              <a:rPr lang="en-US" dirty="0"/>
              <a:t> </a:t>
            </a:r>
            <a:r>
              <a:rPr lang="en-US" dirty="0" err="1"/>
              <a:t>tác</a:t>
            </a:r>
            <a:r>
              <a:rPr lang="en-US" dirty="0"/>
              <a:t> </a:t>
            </a:r>
            <a:r>
              <a:rPr lang="en-US" dirty="0" err="1"/>
              <a:t>với</a:t>
            </a:r>
            <a:r>
              <a:rPr lang="en-US" dirty="0"/>
              <a:t> </a:t>
            </a:r>
            <a:r>
              <a:rPr lang="en-US" dirty="0" err="1"/>
              <a:t>nội</a:t>
            </a:r>
            <a:r>
              <a:rPr lang="en-US" dirty="0"/>
              <a:t> dung </a:t>
            </a:r>
            <a:r>
              <a:rPr lang="en-US" dirty="0" err="1"/>
              <a:t>và</a:t>
            </a:r>
            <a:r>
              <a:rPr lang="en-US" dirty="0"/>
              <a:t> </a:t>
            </a:r>
            <a:r>
              <a:rPr lang="en-US" dirty="0" err="1"/>
              <a:t>với</a:t>
            </a:r>
            <a:r>
              <a:rPr lang="en-US" dirty="0"/>
              <a:t> </a:t>
            </a:r>
            <a:r>
              <a:rPr lang="en-US" dirty="0" err="1"/>
              <a:t>nhau</a:t>
            </a:r>
            <a:r>
              <a:rPr lang="en-US" dirty="0"/>
              <a:t> </a:t>
            </a:r>
            <a:r>
              <a:rPr lang="en-US" dirty="0" err="1"/>
              <a:t>thông</a:t>
            </a:r>
            <a:r>
              <a:rPr lang="en-US" dirty="0"/>
              <a:t> qua </a:t>
            </a:r>
            <a:r>
              <a:rPr lang="en-US" dirty="0" err="1"/>
              <a:t>các</a:t>
            </a:r>
            <a:r>
              <a:rPr lang="en-US" dirty="0"/>
              <a:t> </a:t>
            </a:r>
            <a:r>
              <a:rPr lang="en-US" dirty="0" err="1"/>
              <a:t>nền</a:t>
            </a:r>
            <a:r>
              <a:rPr lang="en-US" dirty="0"/>
              <a:t> </a:t>
            </a:r>
            <a:r>
              <a:rPr lang="en-US" dirty="0" err="1"/>
              <a:t>tảng</a:t>
            </a:r>
            <a:r>
              <a:rPr lang="en-US" dirty="0"/>
              <a:t> </a:t>
            </a:r>
            <a:r>
              <a:rPr lang="en-US" dirty="0" err="1"/>
              <a:t>như</a:t>
            </a:r>
            <a:r>
              <a:rPr lang="en-US" dirty="0"/>
              <a:t> </a:t>
            </a:r>
            <a:r>
              <a:rPr lang="en-US" dirty="0" err="1"/>
              <a:t>mạng</a:t>
            </a:r>
            <a:r>
              <a:rPr lang="en-US" dirty="0"/>
              <a:t> </a:t>
            </a:r>
            <a:r>
              <a:rPr lang="en-US" dirty="0" err="1"/>
              <a:t>xã</a:t>
            </a:r>
            <a:r>
              <a:rPr lang="en-US" dirty="0"/>
              <a:t> </a:t>
            </a:r>
            <a:r>
              <a:rPr lang="en-US" dirty="0" err="1"/>
              <a:t>hội</a:t>
            </a:r>
            <a:r>
              <a:rPr lang="en-US" dirty="0"/>
              <a:t>, email, </a:t>
            </a:r>
            <a:r>
              <a:rPr lang="en-US" dirty="0" err="1"/>
              <a:t>và</a:t>
            </a:r>
            <a:r>
              <a:rPr lang="en-US" dirty="0"/>
              <a:t> </a:t>
            </a:r>
            <a:r>
              <a:rPr lang="en-US" dirty="0" err="1"/>
              <a:t>các</a:t>
            </a:r>
            <a:r>
              <a:rPr lang="en-US" dirty="0"/>
              <a:t> </a:t>
            </a:r>
            <a:r>
              <a:rPr lang="en-US" dirty="0" err="1"/>
              <a:t>diễn</a:t>
            </a:r>
            <a:r>
              <a:rPr lang="en-US" dirty="0"/>
              <a:t> </a:t>
            </a:r>
            <a:r>
              <a:rPr lang="en-US" dirty="0" err="1"/>
              <a:t>đàn</a:t>
            </a:r>
            <a:r>
              <a:rPr lang="en-US" dirty="0"/>
              <a:t> </a:t>
            </a:r>
            <a:r>
              <a:rPr lang="en-US" dirty="0" err="1"/>
              <a:t>trực</a:t>
            </a:r>
            <a:r>
              <a:rPr lang="en-US" dirty="0"/>
              <a:t> </a:t>
            </a:r>
            <a:r>
              <a:rPr lang="en-US" dirty="0" err="1"/>
              <a:t>tuyến</a:t>
            </a:r>
            <a:r>
              <a:rPr lang="en-US" dirty="0"/>
              <a:t>.</a:t>
            </a:r>
          </a:p>
          <a:p>
            <a:r>
              <a:rPr lang="en-US" dirty="0" err="1"/>
              <a:t>Thứ</a:t>
            </a:r>
            <a:r>
              <a:rPr lang="en-US" dirty="0"/>
              <a:t> </a:t>
            </a:r>
            <a:r>
              <a:rPr lang="en-US" dirty="0" err="1"/>
              <a:t>ba</a:t>
            </a:r>
            <a:r>
              <a:rPr lang="en-US" dirty="0"/>
              <a:t> </a:t>
            </a:r>
            <a:r>
              <a:rPr lang="en-US" dirty="0" err="1"/>
              <a:t>là</a:t>
            </a:r>
            <a:r>
              <a:rPr lang="en-US" dirty="0"/>
              <a:t> </a:t>
            </a:r>
            <a:r>
              <a:rPr lang="en-US" dirty="0" err="1"/>
              <a:t>tính</a:t>
            </a:r>
            <a:r>
              <a:rPr lang="en-US" dirty="0"/>
              <a:t> </a:t>
            </a:r>
            <a:r>
              <a:rPr lang="en-US" dirty="0" err="1"/>
              <a:t>dễ</a:t>
            </a:r>
            <a:r>
              <a:rPr lang="en-US" dirty="0"/>
              <a:t> </a:t>
            </a:r>
            <a:r>
              <a:rPr lang="en-US" dirty="0" err="1"/>
              <a:t>tiếp</a:t>
            </a:r>
            <a:r>
              <a:rPr lang="en-US" dirty="0"/>
              <a:t> </a:t>
            </a:r>
            <a:r>
              <a:rPr lang="en-US" dirty="0" err="1"/>
              <a:t>cận</a:t>
            </a:r>
            <a:r>
              <a:rPr lang="en-US" dirty="0"/>
              <a:t>, Internet </a:t>
            </a:r>
            <a:r>
              <a:rPr lang="en-US" dirty="0" err="1"/>
              <a:t>có</a:t>
            </a:r>
            <a:r>
              <a:rPr lang="en-US" dirty="0"/>
              <a:t> </a:t>
            </a:r>
            <a:r>
              <a:rPr lang="en-US" dirty="0" err="1"/>
              <a:t>thể</a:t>
            </a:r>
            <a:r>
              <a:rPr lang="en-US" dirty="0"/>
              <a:t> </a:t>
            </a:r>
            <a:r>
              <a:rPr lang="en-US" dirty="0" err="1"/>
              <a:t>truy</a:t>
            </a:r>
            <a:r>
              <a:rPr lang="en-US" dirty="0"/>
              <a:t> </a:t>
            </a:r>
            <a:r>
              <a:rPr lang="en-US" dirty="0" err="1"/>
              <a:t>cập</a:t>
            </a:r>
            <a:r>
              <a:rPr lang="en-US" dirty="0"/>
              <a:t> </a:t>
            </a:r>
            <a:r>
              <a:rPr lang="en-US" dirty="0" err="1"/>
              <a:t>dễ</a:t>
            </a:r>
            <a:r>
              <a:rPr lang="en-US" dirty="0"/>
              <a:t> </a:t>
            </a:r>
            <a:r>
              <a:rPr lang="en-US" dirty="0" err="1"/>
              <a:t>dàng</a:t>
            </a:r>
            <a:r>
              <a:rPr lang="en-US" dirty="0"/>
              <a:t> </a:t>
            </a:r>
            <a:r>
              <a:rPr lang="en-US" dirty="0" err="1"/>
              <a:t>thông</a:t>
            </a:r>
            <a:r>
              <a:rPr lang="en-US" dirty="0"/>
              <a:t> qua </a:t>
            </a:r>
            <a:r>
              <a:rPr lang="en-US" dirty="0" err="1"/>
              <a:t>các</a:t>
            </a:r>
            <a:r>
              <a:rPr lang="en-US" dirty="0"/>
              <a:t> </a:t>
            </a:r>
            <a:r>
              <a:rPr lang="en-US" dirty="0" err="1"/>
              <a:t>thiết</a:t>
            </a:r>
            <a:r>
              <a:rPr lang="en-US" dirty="0"/>
              <a:t> </a:t>
            </a:r>
            <a:r>
              <a:rPr lang="en-US" dirty="0" err="1"/>
              <a:t>bị</a:t>
            </a:r>
            <a:r>
              <a:rPr lang="en-US" dirty="0"/>
              <a:t> </a:t>
            </a:r>
            <a:r>
              <a:rPr lang="en-US" dirty="0" err="1"/>
              <a:t>như</a:t>
            </a:r>
            <a:r>
              <a:rPr lang="en-US" dirty="0"/>
              <a:t> </a:t>
            </a:r>
            <a:r>
              <a:rPr lang="en-US" dirty="0" err="1"/>
              <a:t>điện</a:t>
            </a:r>
            <a:r>
              <a:rPr lang="en-US" dirty="0"/>
              <a:t> </a:t>
            </a:r>
            <a:r>
              <a:rPr lang="en-US" dirty="0" err="1"/>
              <a:t>thoại</a:t>
            </a:r>
            <a:r>
              <a:rPr lang="en-US" dirty="0"/>
              <a:t> di </a:t>
            </a:r>
            <a:r>
              <a:rPr lang="en-US" dirty="0" err="1"/>
              <a:t>động</a:t>
            </a:r>
            <a:r>
              <a:rPr lang="en-US" dirty="0"/>
              <a:t>, </a:t>
            </a:r>
            <a:r>
              <a:rPr lang="en-US" dirty="0" err="1"/>
              <a:t>máy</a:t>
            </a:r>
            <a:r>
              <a:rPr lang="en-US" dirty="0"/>
              <a:t> </a:t>
            </a:r>
            <a:r>
              <a:rPr lang="en-US" dirty="0" err="1"/>
              <a:t>tính</a:t>
            </a:r>
            <a:r>
              <a:rPr lang="en-US" dirty="0"/>
              <a:t> </a:t>
            </a:r>
            <a:r>
              <a:rPr lang="en-US" dirty="0" err="1"/>
              <a:t>bảng</a:t>
            </a:r>
            <a:r>
              <a:rPr lang="en-US" dirty="0"/>
              <a:t>, </a:t>
            </a:r>
            <a:r>
              <a:rPr lang="en-US" dirty="0" err="1"/>
              <a:t>và</a:t>
            </a:r>
            <a:r>
              <a:rPr lang="en-US" dirty="0"/>
              <a:t> </a:t>
            </a:r>
            <a:r>
              <a:rPr lang="en-US" dirty="0" err="1"/>
              <a:t>máy</a:t>
            </a:r>
            <a:r>
              <a:rPr lang="en-US" dirty="0"/>
              <a:t> </a:t>
            </a:r>
            <a:r>
              <a:rPr lang="en-US" dirty="0" err="1"/>
              <a:t>tính</a:t>
            </a:r>
            <a:r>
              <a:rPr lang="en-US" dirty="0"/>
              <a:t> </a:t>
            </a:r>
            <a:r>
              <a:rPr lang="en-US" dirty="0" err="1"/>
              <a:t>cá</a:t>
            </a:r>
            <a:r>
              <a:rPr lang="en-US" dirty="0"/>
              <a:t> </a:t>
            </a:r>
            <a:r>
              <a:rPr lang="en-US" dirty="0" err="1"/>
              <a:t>nhân</a:t>
            </a:r>
            <a:r>
              <a:rPr lang="en-US" dirty="0"/>
              <a:t>.</a:t>
            </a:r>
          </a:p>
          <a:p>
            <a:r>
              <a:rPr lang="en-US" dirty="0" err="1"/>
              <a:t>Và</a:t>
            </a:r>
            <a:r>
              <a:rPr lang="en-US" dirty="0"/>
              <a:t> </a:t>
            </a:r>
            <a:r>
              <a:rPr lang="en-US" dirty="0" err="1"/>
              <a:t>cuối</a:t>
            </a:r>
            <a:r>
              <a:rPr lang="en-US" dirty="0"/>
              <a:t> </a:t>
            </a:r>
            <a:r>
              <a:rPr lang="en-US" dirty="0" err="1"/>
              <a:t>cùng</a:t>
            </a:r>
            <a:r>
              <a:rPr lang="en-US" dirty="0"/>
              <a:t> </a:t>
            </a:r>
            <a:r>
              <a:rPr lang="en-US" dirty="0" err="1"/>
              <a:t>là</a:t>
            </a:r>
            <a:r>
              <a:rPr lang="en-US" dirty="0"/>
              <a:t> </a:t>
            </a:r>
            <a:r>
              <a:rPr lang="en-US" dirty="0" err="1"/>
              <a:t>tính</a:t>
            </a:r>
            <a:r>
              <a:rPr lang="en-US" dirty="0"/>
              <a:t> </a:t>
            </a:r>
            <a:r>
              <a:rPr lang="en-US" dirty="0" err="1"/>
              <a:t>công</a:t>
            </a:r>
            <a:r>
              <a:rPr lang="en-US" dirty="0"/>
              <a:t> </a:t>
            </a:r>
            <a:r>
              <a:rPr lang="en-US" dirty="0" err="1"/>
              <a:t>cộng</a:t>
            </a:r>
            <a:r>
              <a:rPr lang="en-US" dirty="0"/>
              <a:t>, </a:t>
            </a:r>
            <a:r>
              <a:rPr lang="en-US" dirty="0" err="1"/>
              <a:t>không</a:t>
            </a:r>
            <a:r>
              <a:rPr lang="en-US" dirty="0"/>
              <a:t> </a:t>
            </a:r>
            <a:r>
              <a:rPr lang="en-US" dirty="0" err="1"/>
              <a:t>có</a:t>
            </a:r>
            <a:r>
              <a:rPr lang="en-US" dirty="0"/>
              <a:t> </a:t>
            </a:r>
            <a:r>
              <a:rPr lang="en-US" dirty="0" err="1"/>
              <a:t>cá</a:t>
            </a:r>
            <a:r>
              <a:rPr lang="en-US" dirty="0"/>
              <a:t> </a:t>
            </a:r>
            <a:r>
              <a:rPr lang="en-US" dirty="0" err="1"/>
              <a:t>nhân</a:t>
            </a:r>
            <a:r>
              <a:rPr lang="en-US" dirty="0"/>
              <a:t> hay </a:t>
            </a:r>
            <a:r>
              <a:rPr lang="en-US" dirty="0" err="1"/>
              <a:t>tổ</a:t>
            </a:r>
            <a:r>
              <a:rPr lang="en-US" dirty="0"/>
              <a:t> </a:t>
            </a:r>
            <a:r>
              <a:rPr lang="en-US" dirty="0" err="1"/>
              <a:t>chức</a:t>
            </a:r>
            <a:r>
              <a:rPr lang="en-US" dirty="0"/>
              <a:t> </a:t>
            </a:r>
            <a:r>
              <a:rPr lang="en-US" dirty="0" err="1"/>
              <a:t>nào</a:t>
            </a:r>
            <a:r>
              <a:rPr lang="en-US" dirty="0"/>
              <a:t> </a:t>
            </a:r>
            <a:r>
              <a:rPr lang="en-US" dirty="0" err="1"/>
              <a:t>sở</a:t>
            </a:r>
            <a:r>
              <a:rPr lang="en-US" dirty="0"/>
              <a:t> </a:t>
            </a:r>
            <a:r>
              <a:rPr lang="en-US" dirty="0" err="1"/>
              <a:t>hữu</a:t>
            </a:r>
            <a:r>
              <a:rPr lang="en-US" dirty="0"/>
              <a:t> Internet, </a:t>
            </a:r>
            <a:r>
              <a:rPr lang="en-US" dirty="0" err="1"/>
              <a:t>và</a:t>
            </a:r>
            <a:r>
              <a:rPr lang="en-US" dirty="0"/>
              <a:t> </a:t>
            </a:r>
            <a:r>
              <a:rPr lang="en-US" dirty="0" err="1"/>
              <a:t>mọi</a:t>
            </a:r>
            <a:r>
              <a:rPr lang="en-US" dirty="0"/>
              <a:t> </a:t>
            </a:r>
            <a:r>
              <a:rPr lang="en-US" dirty="0" err="1"/>
              <a:t>người</a:t>
            </a:r>
            <a:r>
              <a:rPr lang="en-US" dirty="0"/>
              <a:t> </a:t>
            </a:r>
            <a:r>
              <a:rPr lang="en-US" dirty="0" err="1"/>
              <a:t>đều</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nó</a:t>
            </a:r>
            <a:r>
              <a:rPr lang="en-US" dirty="0"/>
              <a:t> </a:t>
            </a:r>
            <a:r>
              <a:rPr lang="en-US" dirty="0" err="1"/>
              <a:t>cho</a:t>
            </a:r>
            <a:r>
              <a:rPr lang="en-US" dirty="0"/>
              <a:t> </a:t>
            </a:r>
            <a:r>
              <a:rPr lang="en-US" dirty="0" err="1"/>
              <a:t>nhiều</a:t>
            </a:r>
            <a:r>
              <a:rPr lang="en-US" dirty="0"/>
              <a:t> </a:t>
            </a:r>
            <a:r>
              <a:rPr lang="en-US" dirty="0" err="1"/>
              <a:t>mục</a:t>
            </a:r>
            <a:r>
              <a:rPr lang="en-US" dirty="0"/>
              <a:t> </a:t>
            </a:r>
            <a:r>
              <a:rPr lang="en-US" dirty="0" err="1"/>
              <a:t>đích</a:t>
            </a:r>
            <a:r>
              <a:rPr lang="en-US" dirty="0"/>
              <a:t> </a:t>
            </a:r>
            <a:r>
              <a:rPr lang="en-US" dirty="0" err="1"/>
              <a:t>khác</a:t>
            </a:r>
            <a:r>
              <a:rPr lang="en-US" dirty="0"/>
              <a:t> </a:t>
            </a:r>
            <a:r>
              <a:rPr lang="en-US" dirty="0" err="1"/>
              <a:t>nhau</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Để</a:t>
            </a:r>
            <a:r>
              <a:rPr lang="en-US" dirty="0"/>
              <a:t> Internet </a:t>
            </a:r>
            <a:r>
              <a:rPr lang="en-US" dirty="0" err="1"/>
              <a:t>có</a:t>
            </a:r>
            <a:r>
              <a:rPr lang="en-US" dirty="0"/>
              <a:t> </a:t>
            </a:r>
            <a:r>
              <a:rPr lang="en-US" dirty="0" err="1"/>
              <a:t>thể</a:t>
            </a:r>
            <a:r>
              <a:rPr lang="en-US" dirty="0"/>
              <a:t> </a:t>
            </a:r>
            <a:r>
              <a:rPr lang="en-US" dirty="0" err="1"/>
              <a:t>hoạt</a:t>
            </a:r>
            <a:r>
              <a:rPr lang="en-US" dirty="0"/>
              <a:t> </a:t>
            </a:r>
            <a:r>
              <a:rPr lang="en-US" dirty="0" err="1"/>
              <a:t>động</a:t>
            </a:r>
            <a:r>
              <a:rPr lang="en-US" dirty="0"/>
              <a:t> </a:t>
            </a:r>
            <a:r>
              <a:rPr lang="en-US" dirty="0" err="1"/>
              <a:t>ổn</a:t>
            </a:r>
            <a:r>
              <a:rPr lang="en-US" dirty="0"/>
              <a:t> </a:t>
            </a:r>
            <a:r>
              <a:rPr lang="en-US" dirty="0" err="1"/>
              <a:t>định</a:t>
            </a:r>
            <a:r>
              <a:rPr lang="en-US" dirty="0"/>
              <a:t> </a:t>
            </a:r>
            <a:r>
              <a:rPr lang="en-US" dirty="0" err="1"/>
              <a:t>và</a:t>
            </a:r>
            <a:r>
              <a:rPr lang="en-US" dirty="0"/>
              <a:t> </a:t>
            </a:r>
            <a:r>
              <a:rPr lang="en-US" dirty="0" err="1"/>
              <a:t>liên</a:t>
            </a:r>
            <a:r>
              <a:rPr lang="en-US" dirty="0"/>
              <a:t> </a:t>
            </a:r>
            <a:r>
              <a:rPr lang="en-US" dirty="0" err="1"/>
              <a:t>tục</a:t>
            </a:r>
            <a:r>
              <a:rPr lang="en-US" dirty="0"/>
              <a:t>, </a:t>
            </a:r>
            <a:r>
              <a:rPr lang="en-US" dirty="0" err="1"/>
              <a:t>cần</a:t>
            </a:r>
            <a:r>
              <a:rPr lang="en-US" dirty="0"/>
              <a:t> </a:t>
            </a:r>
            <a:r>
              <a:rPr lang="en-US" dirty="0" err="1"/>
              <a:t>có</a:t>
            </a:r>
            <a:r>
              <a:rPr lang="en-US" dirty="0"/>
              <a:t> </a:t>
            </a:r>
            <a:r>
              <a:rPr lang="en-US" dirty="0" err="1"/>
              <a:t>sự</a:t>
            </a:r>
            <a:r>
              <a:rPr lang="en-US" dirty="0"/>
              <a:t> </a:t>
            </a:r>
            <a:r>
              <a:rPr lang="en-US" dirty="0" err="1"/>
              <a:t>phối</a:t>
            </a:r>
            <a:r>
              <a:rPr lang="en-US" dirty="0"/>
              <a:t> </a:t>
            </a:r>
            <a:r>
              <a:rPr lang="en-US" dirty="0" err="1"/>
              <a:t>hợp</a:t>
            </a:r>
            <a:r>
              <a:rPr lang="en-US" dirty="0"/>
              <a:t> </a:t>
            </a:r>
            <a:r>
              <a:rPr lang="en-US" dirty="0" err="1"/>
              <a:t>của</a:t>
            </a:r>
            <a:r>
              <a:rPr lang="en-US" dirty="0"/>
              <a:t> </a:t>
            </a:r>
            <a:r>
              <a:rPr lang="en-US" dirty="0" err="1"/>
              <a:t>nhiều</a:t>
            </a:r>
            <a:r>
              <a:rPr lang="en-US" dirty="0"/>
              <a:t> </a:t>
            </a:r>
            <a:r>
              <a:rPr lang="en-US" dirty="0" err="1"/>
              <a:t>thành</a:t>
            </a:r>
            <a:r>
              <a:rPr lang="en-US" dirty="0"/>
              <a:t> </a:t>
            </a:r>
            <a:r>
              <a:rPr lang="en-US" dirty="0" err="1"/>
              <a:t>phần</a:t>
            </a:r>
            <a:r>
              <a:rPr lang="en-US" dirty="0"/>
              <a:t> </a:t>
            </a:r>
            <a:r>
              <a:rPr lang="en-US" dirty="0" err="1"/>
              <a:t>quan</a:t>
            </a:r>
            <a:r>
              <a:rPr lang="en-US" dirty="0"/>
              <a:t> </a:t>
            </a:r>
            <a:r>
              <a:rPr lang="en-US" dirty="0" err="1"/>
              <a:t>trọng</a:t>
            </a:r>
            <a:r>
              <a:rPr lang="en-US" dirty="0"/>
              <a:t>.</a:t>
            </a:r>
          </a:p>
          <a:p>
            <a:endParaRPr lang="en-US" dirty="0"/>
          </a:p>
          <a:p>
            <a:r>
              <a:rPr lang="en-US" dirty="0" err="1"/>
              <a:t>Đầu</a:t>
            </a:r>
            <a:r>
              <a:rPr lang="en-US" dirty="0"/>
              <a:t> </a:t>
            </a:r>
            <a:r>
              <a:rPr lang="en-US" dirty="0" err="1"/>
              <a:t>tiên</a:t>
            </a:r>
            <a:r>
              <a:rPr lang="en-US" dirty="0"/>
              <a:t> </a:t>
            </a:r>
            <a:r>
              <a:rPr lang="en-US" dirty="0" err="1"/>
              <a:t>là</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đầu</a:t>
            </a:r>
            <a:r>
              <a:rPr lang="en-US" dirty="0"/>
              <a:t> </a:t>
            </a:r>
            <a:r>
              <a:rPr lang="en-US" dirty="0" err="1"/>
              <a:t>cuối</a:t>
            </a:r>
            <a:r>
              <a:rPr lang="en-US" dirty="0"/>
              <a:t> – </a:t>
            </a:r>
            <a:r>
              <a:rPr lang="en-US" dirty="0" err="1"/>
              <a:t>chính</a:t>
            </a:r>
            <a:r>
              <a:rPr lang="en-US" dirty="0"/>
              <a:t> </a:t>
            </a:r>
            <a:r>
              <a:rPr lang="en-US" dirty="0" err="1"/>
              <a:t>là</a:t>
            </a:r>
            <a:r>
              <a:rPr lang="en-US" dirty="0"/>
              <a:t> </a:t>
            </a:r>
            <a:r>
              <a:rPr lang="en-US" dirty="0" err="1"/>
              <a:t>những</a:t>
            </a:r>
            <a:r>
              <a:rPr lang="en-US" dirty="0"/>
              <a:t> </a:t>
            </a:r>
            <a:r>
              <a:rPr lang="en-US" dirty="0" err="1"/>
              <a:t>thiết</a:t>
            </a:r>
            <a:r>
              <a:rPr lang="en-US" dirty="0"/>
              <a:t> </a:t>
            </a:r>
            <a:r>
              <a:rPr lang="en-US" dirty="0" err="1"/>
              <a:t>bị</a:t>
            </a:r>
            <a:r>
              <a:rPr lang="en-US" dirty="0"/>
              <a:t> </a:t>
            </a:r>
            <a:r>
              <a:rPr lang="en-US" dirty="0" err="1"/>
              <a:t>mà</a:t>
            </a:r>
            <a:r>
              <a:rPr lang="en-US" dirty="0"/>
              <a:t> </a:t>
            </a:r>
            <a:r>
              <a:rPr lang="en-US" dirty="0" err="1"/>
              <a:t>chúng</a:t>
            </a:r>
            <a:r>
              <a:rPr lang="en-US" dirty="0"/>
              <a:t> ta </a:t>
            </a:r>
            <a:r>
              <a:rPr lang="en-US" dirty="0" err="1"/>
              <a:t>sử</a:t>
            </a:r>
            <a:r>
              <a:rPr lang="en-US" dirty="0"/>
              <a:t> </a:t>
            </a:r>
            <a:r>
              <a:rPr lang="en-US" dirty="0" err="1"/>
              <a:t>dụng</a:t>
            </a:r>
            <a:r>
              <a:rPr lang="en-US" dirty="0"/>
              <a:t> </a:t>
            </a:r>
            <a:r>
              <a:rPr lang="en-US" dirty="0" err="1"/>
              <a:t>hằng</a:t>
            </a:r>
            <a:r>
              <a:rPr lang="en-US" dirty="0"/>
              <a:t> </a:t>
            </a:r>
            <a:r>
              <a:rPr lang="en-US" dirty="0" err="1"/>
              <a:t>ngày</a:t>
            </a:r>
            <a:r>
              <a:rPr lang="en-US" dirty="0"/>
              <a:t> </a:t>
            </a:r>
            <a:r>
              <a:rPr lang="en-US" dirty="0" err="1"/>
              <a:t>như</a:t>
            </a:r>
            <a:r>
              <a:rPr lang="en-US" dirty="0"/>
              <a:t> laptop, smartphone, tablet hay </a:t>
            </a:r>
            <a:r>
              <a:rPr lang="en-US" dirty="0" err="1"/>
              <a:t>các</a:t>
            </a:r>
            <a:r>
              <a:rPr lang="en-US" dirty="0"/>
              <a:t> </a:t>
            </a:r>
            <a:r>
              <a:rPr lang="en-US" dirty="0" err="1"/>
              <a:t>thiết</a:t>
            </a:r>
            <a:r>
              <a:rPr lang="en-US" dirty="0"/>
              <a:t> </a:t>
            </a:r>
            <a:r>
              <a:rPr lang="en-US" dirty="0" err="1"/>
              <a:t>bị</a:t>
            </a:r>
            <a:r>
              <a:rPr lang="en-US" dirty="0"/>
              <a:t> IoT (Internet of Things). </a:t>
            </a:r>
            <a:r>
              <a:rPr lang="en-US" dirty="0" err="1"/>
              <a:t>Đây</a:t>
            </a:r>
            <a:r>
              <a:rPr lang="en-US" dirty="0"/>
              <a:t> </a:t>
            </a:r>
            <a:r>
              <a:rPr lang="en-US" dirty="0" err="1"/>
              <a:t>là</a:t>
            </a:r>
            <a:r>
              <a:rPr lang="en-US" dirty="0"/>
              <a:t> </a:t>
            </a:r>
            <a:r>
              <a:rPr lang="en-US" dirty="0" err="1"/>
              <a:t>nơi</a:t>
            </a:r>
            <a:r>
              <a:rPr lang="en-US" dirty="0"/>
              <a:t> </a:t>
            </a:r>
            <a:r>
              <a:rPr lang="en-US" dirty="0" err="1"/>
              <a:t>người</a:t>
            </a:r>
            <a:r>
              <a:rPr lang="en-US" dirty="0"/>
              <a:t> </a:t>
            </a:r>
            <a:r>
              <a:rPr lang="en-US" dirty="0" err="1"/>
              <a:t>dùng</a:t>
            </a:r>
            <a:r>
              <a:rPr lang="en-US" dirty="0"/>
              <a:t> </a:t>
            </a:r>
            <a:r>
              <a:rPr lang="en-US" dirty="0" err="1"/>
              <a:t>trực</a:t>
            </a:r>
            <a:r>
              <a:rPr lang="en-US" dirty="0"/>
              <a:t> </a:t>
            </a:r>
            <a:r>
              <a:rPr lang="en-US" dirty="0" err="1"/>
              <a:t>tiếp</a:t>
            </a:r>
            <a:r>
              <a:rPr lang="en-US" dirty="0"/>
              <a:t> </a:t>
            </a:r>
            <a:r>
              <a:rPr lang="en-US" dirty="0" err="1"/>
              <a:t>truy</a:t>
            </a:r>
            <a:r>
              <a:rPr lang="en-US" dirty="0"/>
              <a:t> </a:t>
            </a:r>
            <a:r>
              <a:rPr lang="en-US" dirty="0" err="1"/>
              <a:t>cập</a:t>
            </a:r>
            <a:r>
              <a:rPr lang="en-US" dirty="0"/>
              <a:t> </a:t>
            </a:r>
            <a:r>
              <a:rPr lang="en-US" dirty="0" err="1"/>
              <a:t>và</a:t>
            </a:r>
            <a:r>
              <a:rPr lang="en-US" dirty="0"/>
              <a:t> </a:t>
            </a:r>
            <a:r>
              <a:rPr lang="en-US" dirty="0" err="1"/>
              <a:t>tương</a:t>
            </a:r>
            <a:r>
              <a:rPr lang="en-US" dirty="0"/>
              <a:t> </a:t>
            </a:r>
            <a:r>
              <a:rPr lang="en-US" dirty="0" err="1"/>
              <a:t>tác</a:t>
            </a:r>
            <a:r>
              <a:rPr lang="en-US" dirty="0"/>
              <a:t> </a:t>
            </a:r>
            <a:r>
              <a:rPr lang="en-US" dirty="0" err="1"/>
              <a:t>với</a:t>
            </a:r>
            <a:r>
              <a:rPr lang="en-US" dirty="0"/>
              <a:t> Internet.</a:t>
            </a:r>
          </a:p>
          <a:p>
            <a:r>
              <a:rPr lang="en-US" dirty="0" err="1"/>
              <a:t>Tiếp</a:t>
            </a:r>
            <a:r>
              <a:rPr lang="en-US" dirty="0"/>
              <a:t> </a:t>
            </a:r>
            <a:r>
              <a:rPr lang="en-US" dirty="0" err="1"/>
              <a:t>theo</a:t>
            </a:r>
            <a:r>
              <a:rPr lang="en-US" dirty="0"/>
              <a:t> </a:t>
            </a:r>
            <a:r>
              <a:rPr lang="en-US" dirty="0" err="1"/>
              <a:t>là</a:t>
            </a:r>
            <a:r>
              <a:rPr lang="en-US" dirty="0"/>
              <a:t> </a:t>
            </a:r>
            <a:r>
              <a:rPr lang="en-US" dirty="0" err="1"/>
              <a:t>hệ</a:t>
            </a:r>
            <a:r>
              <a:rPr lang="en-US" dirty="0"/>
              <a:t> </a:t>
            </a:r>
            <a:r>
              <a:rPr lang="en-US" dirty="0" err="1"/>
              <a:t>thống</a:t>
            </a:r>
            <a:r>
              <a:rPr lang="en-US" dirty="0"/>
              <a:t> </a:t>
            </a:r>
            <a:r>
              <a:rPr lang="en-US" dirty="0" err="1"/>
              <a:t>thiết</a:t>
            </a:r>
            <a:r>
              <a:rPr lang="en-US" dirty="0"/>
              <a:t> </a:t>
            </a:r>
            <a:r>
              <a:rPr lang="en-US" dirty="0" err="1"/>
              <a:t>bị</a:t>
            </a:r>
            <a:r>
              <a:rPr lang="en-US" dirty="0"/>
              <a:t> </a:t>
            </a:r>
            <a:r>
              <a:rPr lang="en-US" dirty="0" err="1"/>
              <a:t>mạng</a:t>
            </a:r>
            <a:r>
              <a:rPr lang="en-US" dirty="0"/>
              <a:t> </a:t>
            </a:r>
            <a:r>
              <a:rPr lang="en-US" dirty="0" err="1"/>
              <a:t>gồm</a:t>
            </a:r>
            <a:r>
              <a:rPr lang="en-US" dirty="0"/>
              <a:t> router, switch, modem,... </a:t>
            </a:r>
            <a:r>
              <a:rPr lang="en-US" dirty="0" err="1"/>
              <a:t>Các</a:t>
            </a:r>
            <a:r>
              <a:rPr lang="en-US" dirty="0"/>
              <a:t> </a:t>
            </a:r>
            <a:r>
              <a:rPr lang="en-US" dirty="0" err="1"/>
              <a:t>thiết</a:t>
            </a:r>
            <a:r>
              <a:rPr lang="en-US" dirty="0"/>
              <a:t> </a:t>
            </a:r>
            <a:r>
              <a:rPr lang="en-US" dirty="0" err="1"/>
              <a:t>bị</a:t>
            </a:r>
            <a:r>
              <a:rPr lang="en-US" dirty="0"/>
              <a:t> </a:t>
            </a:r>
            <a:r>
              <a:rPr lang="en-US" dirty="0" err="1"/>
              <a:t>này</a:t>
            </a:r>
            <a:r>
              <a:rPr lang="en-US" dirty="0"/>
              <a:t> </a:t>
            </a:r>
            <a:r>
              <a:rPr lang="en-US" dirty="0" err="1"/>
              <a:t>đóng</a:t>
            </a:r>
            <a:r>
              <a:rPr lang="en-US" dirty="0"/>
              <a:t> </a:t>
            </a:r>
            <a:r>
              <a:rPr lang="en-US" dirty="0" err="1"/>
              <a:t>vai</a:t>
            </a:r>
            <a:r>
              <a:rPr lang="en-US" dirty="0"/>
              <a:t> </a:t>
            </a:r>
            <a:r>
              <a:rPr lang="en-US" dirty="0" err="1"/>
              <a:t>trò</a:t>
            </a:r>
            <a:r>
              <a:rPr lang="en-US" dirty="0"/>
              <a:t> </a:t>
            </a:r>
            <a:r>
              <a:rPr lang="en-US" dirty="0" err="1"/>
              <a:t>như</a:t>
            </a:r>
            <a:r>
              <a:rPr lang="en-US" dirty="0"/>
              <a:t> </a:t>
            </a:r>
            <a:r>
              <a:rPr lang="en-US" dirty="0" err="1"/>
              <a:t>những</a:t>
            </a:r>
            <a:r>
              <a:rPr lang="en-US" dirty="0"/>
              <a:t> "</a:t>
            </a:r>
            <a:r>
              <a:rPr lang="en-US" dirty="0" err="1"/>
              <a:t>ngã</a:t>
            </a:r>
            <a:r>
              <a:rPr lang="en-US" dirty="0"/>
              <a:t> </a:t>
            </a:r>
            <a:r>
              <a:rPr lang="en-US" dirty="0" err="1"/>
              <a:t>ba</a:t>
            </a:r>
            <a:r>
              <a:rPr lang="en-US" dirty="0"/>
              <a:t>" </a:t>
            </a:r>
            <a:r>
              <a:rPr lang="en-US" dirty="0" err="1"/>
              <a:t>và</a:t>
            </a:r>
            <a:r>
              <a:rPr lang="en-US" dirty="0"/>
              <a:t> "</a:t>
            </a:r>
            <a:r>
              <a:rPr lang="en-US" dirty="0" err="1"/>
              <a:t>trạm</a:t>
            </a:r>
            <a:r>
              <a:rPr lang="en-US" dirty="0"/>
              <a:t> </a:t>
            </a:r>
            <a:r>
              <a:rPr lang="en-US" dirty="0" err="1"/>
              <a:t>chuyển</a:t>
            </a:r>
            <a:r>
              <a:rPr lang="en-US" dirty="0"/>
              <a:t> </a:t>
            </a:r>
            <a:r>
              <a:rPr lang="en-US" dirty="0" err="1"/>
              <a:t>tiếp</a:t>
            </a:r>
            <a:r>
              <a:rPr lang="en-US" dirty="0"/>
              <a:t>", </a:t>
            </a:r>
            <a:r>
              <a:rPr lang="en-US" dirty="0" err="1"/>
              <a:t>giúp</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đến</a:t>
            </a:r>
            <a:r>
              <a:rPr lang="en-US" dirty="0"/>
              <a:t> </a:t>
            </a:r>
            <a:r>
              <a:rPr lang="en-US" dirty="0" err="1"/>
              <a:t>đúng</a:t>
            </a:r>
            <a:r>
              <a:rPr lang="en-US" dirty="0"/>
              <a:t> </a:t>
            </a:r>
            <a:r>
              <a:rPr lang="en-US" dirty="0" err="1"/>
              <a:t>nơi</a:t>
            </a:r>
            <a:r>
              <a:rPr lang="en-US" dirty="0"/>
              <a:t> </a:t>
            </a:r>
            <a:r>
              <a:rPr lang="en-US" dirty="0" err="1"/>
              <a:t>và</a:t>
            </a:r>
            <a:r>
              <a:rPr lang="en-US" dirty="0"/>
              <a:t> </a:t>
            </a:r>
            <a:r>
              <a:rPr lang="en-US" dirty="0" err="1"/>
              <a:t>đúng</a:t>
            </a:r>
            <a:r>
              <a:rPr lang="en-US" dirty="0"/>
              <a:t> </a:t>
            </a:r>
            <a:r>
              <a:rPr lang="en-US" dirty="0" err="1"/>
              <a:t>người</a:t>
            </a:r>
            <a:r>
              <a:rPr lang="en-US" dirty="0"/>
              <a:t>.</a:t>
            </a:r>
          </a:p>
          <a:p>
            <a:r>
              <a:rPr lang="en-US" dirty="0" err="1"/>
              <a:t>Một</a:t>
            </a:r>
            <a:r>
              <a:rPr lang="en-US" dirty="0"/>
              <a:t> </a:t>
            </a:r>
            <a:r>
              <a:rPr lang="en-US" dirty="0" err="1"/>
              <a:t>thành</a:t>
            </a:r>
            <a:r>
              <a:rPr lang="en-US" dirty="0"/>
              <a:t> </a:t>
            </a:r>
            <a:r>
              <a:rPr lang="en-US" dirty="0" err="1"/>
              <a:t>phần</a:t>
            </a:r>
            <a:r>
              <a:rPr lang="en-US" dirty="0"/>
              <a:t> </a:t>
            </a:r>
            <a:r>
              <a:rPr lang="en-US" dirty="0" err="1"/>
              <a:t>đặc</a:t>
            </a:r>
            <a:r>
              <a:rPr lang="en-US" dirty="0"/>
              <a:t> </a:t>
            </a:r>
            <a:r>
              <a:rPr lang="en-US" dirty="0" err="1"/>
              <a:t>biệt</a:t>
            </a:r>
            <a:r>
              <a:rPr lang="en-US" dirty="0"/>
              <a:t> </a:t>
            </a:r>
            <a:r>
              <a:rPr lang="en-US" dirty="0" err="1"/>
              <a:t>quan</a:t>
            </a:r>
            <a:r>
              <a:rPr lang="en-US" dirty="0"/>
              <a:t> </a:t>
            </a:r>
            <a:r>
              <a:rPr lang="en-US" dirty="0" err="1"/>
              <a:t>trọng</a:t>
            </a:r>
            <a:r>
              <a:rPr lang="en-US" dirty="0"/>
              <a:t> </a:t>
            </a:r>
            <a:r>
              <a:rPr lang="en-US" dirty="0" err="1"/>
              <a:t>là</a:t>
            </a:r>
            <a:r>
              <a:rPr lang="en-US" dirty="0"/>
              <a:t> </a:t>
            </a:r>
            <a:r>
              <a:rPr lang="en-US" dirty="0" err="1"/>
              <a:t>hệ</a:t>
            </a:r>
            <a:r>
              <a:rPr lang="en-US" dirty="0"/>
              <a:t> </a:t>
            </a:r>
            <a:r>
              <a:rPr lang="en-US" dirty="0" err="1"/>
              <a:t>thống</a:t>
            </a:r>
            <a:r>
              <a:rPr lang="en-US" dirty="0"/>
              <a:t> </a:t>
            </a:r>
            <a:r>
              <a:rPr lang="en-US" dirty="0" err="1"/>
              <a:t>đường</a:t>
            </a:r>
            <a:r>
              <a:rPr lang="en-US" dirty="0"/>
              <a:t> </a:t>
            </a:r>
            <a:r>
              <a:rPr lang="en-US" dirty="0" err="1"/>
              <a:t>truyền</a:t>
            </a:r>
            <a:r>
              <a:rPr lang="en-US" dirty="0"/>
              <a:t>. Internet </a:t>
            </a:r>
            <a:r>
              <a:rPr lang="en-US" dirty="0" err="1"/>
              <a:t>ngày</a:t>
            </a:r>
            <a:r>
              <a:rPr lang="en-US" dirty="0"/>
              <a:t> nay </a:t>
            </a:r>
            <a:r>
              <a:rPr lang="en-US" dirty="0" err="1"/>
              <a:t>được</a:t>
            </a:r>
            <a:r>
              <a:rPr lang="en-US" dirty="0"/>
              <a:t> </a:t>
            </a:r>
            <a:r>
              <a:rPr lang="en-US" dirty="0" err="1"/>
              <a:t>kết</a:t>
            </a:r>
            <a:r>
              <a:rPr lang="en-US" dirty="0"/>
              <a:t> </a:t>
            </a:r>
            <a:r>
              <a:rPr lang="en-US" dirty="0" err="1"/>
              <a:t>nối</a:t>
            </a:r>
            <a:r>
              <a:rPr lang="en-US" dirty="0"/>
              <a:t> qua </a:t>
            </a:r>
            <a:r>
              <a:rPr lang="en-US" dirty="0" err="1"/>
              <a:t>nhiều</a:t>
            </a:r>
            <a:r>
              <a:rPr lang="en-US" dirty="0"/>
              <a:t> </a:t>
            </a:r>
            <a:r>
              <a:rPr lang="en-US" dirty="0" err="1"/>
              <a:t>phương</a:t>
            </a:r>
            <a:r>
              <a:rPr lang="en-US" dirty="0"/>
              <a:t> </a:t>
            </a:r>
            <a:r>
              <a:rPr lang="en-US" dirty="0" err="1"/>
              <a:t>tiện</a:t>
            </a:r>
            <a:r>
              <a:rPr lang="en-US" dirty="0"/>
              <a:t> </a:t>
            </a:r>
            <a:r>
              <a:rPr lang="en-US" dirty="0" err="1"/>
              <a:t>như</a:t>
            </a:r>
            <a:r>
              <a:rPr lang="en-US" dirty="0"/>
              <a:t>:</a:t>
            </a:r>
          </a:p>
          <a:p>
            <a:r>
              <a:rPr lang="en-US" dirty="0"/>
              <a:t>“</a:t>
            </a:r>
            <a:r>
              <a:rPr lang="en-US" dirty="0" err="1"/>
              <a:t>Cáp</a:t>
            </a:r>
            <a:r>
              <a:rPr lang="en-US" dirty="0"/>
              <a:t> </a:t>
            </a:r>
            <a:r>
              <a:rPr lang="en-US" dirty="0" err="1"/>
              <a:t>quang</a:t>
            </a:r>
            <a:r>
              <a:rPr lang="en-US" dirty="0"/>
              <a:t> </a:t>
            </a:r>
            <a:r>
              <a:rPr lang="en-US" dirty="0" err="1"/>
              <a:t>dưới</a:t>
            </a:r>
            <a:r>
              <a:rPr lang="en-US" dirty="0"/>
              <a:t> </a:t>
            </a:r>
            <a:r>
              <a:rPr lang="en-US" dirty="0" err="1"/>
              <a:t>biển</a:t>
            </a:r>
            <a:r>
              <a:rPr lang="en-US" dirty="0"/>
              <a:t> </a:t>
            </a:r>
            <a:r>
              <a:rPr lang="en-US" dirty="0" err="1"/>
              <a:t>nối</a:t>
            </a:r>
            <a:r>
              <a:rPr lang="en-US" dirty="0"/>
              <a:t> </a:t>
            </a:r>
            <a:r>
              <a:rPr lang="en-US" dirty="0" err="1"/>
              <a:t>giữa</a:t>
            </a:r>
            <a:r>
              <a:rPr lang="en-US" dirty="0"/>
              <a:t> </a:t>
            </a:r>
            <a:r>
              <a:rPr lang="en-US" dirty="0" err="1"/>
              <a:t>các</a:t>
            </a:r>
            <a:r>
              <a:rPr lang="en-US" dirty="0"/>
              <a:t> </a:t>
            </a:r>
            <a:r>
              <a:rPr lang="en-US" dirty="0" err="1"/>
              <a:t>châu</a:t>
            </a:r>
            <a:r>
              <a:rPr lang="en-US" dirty="0"/>
              <a:t> </a:t>
            </a:r>
            <a:r>
              <a:rPr lang="en-US" dirty="0" err="1"/>
              <a:t>lục</a:t>
            </a:r>
            <a:r>
              <a:rPr lang="en-US" dirty="0"/>
              <a:t>”, “</a:t>
            </a:r>
            <a:r>
              <a:rPr lang="en-US" dirty="0" err="1"/>
              <a:t>Hệ</a:t>
            </a:r>
            <a:r>
              <a:rPr lang="en-US" dirty="0"/>
              <a:t> </a:t>
            </a:r>
            <a:r>
              <a:rPr lang="en-US" dirty="0" err="1"/>
              <a:t>thống</a:t>
            </a:r>
            <a:r>
              <a:rPr lang="en-US" dirty="0"/>
              <a:t> </a:t>
            </a:r>
            <a:r>
              <a:rPr lang="en-US" dirty="0" err="1"/>
              <a:t>vệ</a:t>
            </a:r>
            <a:r>
              <a:rPr lang="en-US" dirty="0"/>
              <a:t> </a:t>
            </a:r>
            <a:r>
              <a:rPr lang="en-US" dirty="0" err="1"/>
              <a:t>tinh</a:t>
            </a:r>
            <a:r>
              <a:rPr lang="en-US" dirty="0"/>
              <a:t> </a:t>
            </a:r>
            <a:r>
              <a:rPr lang="en-US" dirty="0" err="1"/>
              <a:t>trên</a:t>
            </a:r>
            <a:r>
              <a:rPr lang="en-US" dirty="0"/>
              <a:t> </a:t>
            </a:r>
            <a:r>
              <a:rPr lang="en-US" dirty="0" err="1"/>
              <a:t>quỹ</a:t>
            </a:r>
            <a:r>
              <a:rPr lang="en-US" dirty="0"/>
              <a:t> </a:t>
            </a:r>
            <a:r>
              <a:rPr lang="en-US" dirty="0" err="1"/>
              <a:t>đạo</a:t>
            </a:r>
            <a:r>
              <a:rPr lang="en-US" dirty="0"/>
              <a:t>” </a:t>
            </a:r>
            <a:r>
              <a:rPr lang="en-US" dirty="0" err="1"/>
              <a:t>và</a:t>
            </a:r>
            <a:r>
              <a:rPr lang="en-US" dirty="0"/>
              <a:t> </a:t>
            </a:r>
            <a:r>
              <a:rPr lang="en-US" dirty="0" err="1"/>
              <a:t>mạng</a:t>
            </a:r>
            <a:r>
              <a:rPr lang="en-US" dirty="0"/>
              <a:t> </a:t>
            </a:r>
            <a:r>
              <a:rPr lang="en-US" dirty="0" err="1"/>
              <a:t>không</a:t>
            </a:r>
            <a:r>
              <a:rPr lang="en-US" dirty="0"/>
              <a:t> </a:t>
            </a:r>
            <a:r>
              <a:rPr lang="en-US" dirty="0" err="1"/>
              <a:t>dây</a:t>
            </a:r>
            <a:r>
              <a:rPr lang="en-US" dirty="0"/>
              <a:t> </a:t>
            </a:r>
            <a:r>
              <a:rPr lang="en-US" dirty="0" err="1"/>
              <a:t>hiện</a:t>
            </a:r>
            <a:r>
              <a:rPr lang="en-US" dirty="0"/>
              <a:t> </a:t>
            </a:r>
            <a:r>
              <a:rPr lang="en-US" dirty="0" err="1"/>
              <a:t>đại</a:t>
            </a:r>
            <a:r>
              <a:rPr lang="en-US" dirty="0"/>
              <a:t> </a:t>
            </a:r>
            <a:r>
              <a:rPr lang="en-US" dirty="0" err="1"/>
              <a:t>như</a:t>
            </a:r>
            <a:r>
              <a:rPr lang="en-US" dirty="0"/>
              <a:t> 4G/5G, </a:t>
            </a:r>
            <a:r>
              <a:rPr lang="en-US" dirty="0" err="1"/>
              <a:t>giúp</a:t>
            </a:r>
            <a:r>
              <a:rPr lang="en-US" dirty="0"/>
              <a:t> </a:t>
            </a:r>
            <a:r>
              <a:rPr lang="en-US" dirty="0" err="1"/>
              <a:t>chúng</a:t>
            </a:r>
            <a:r>
              <a:rPr lang="en-US" dirty="0"/>
              <a:t> ta </a:t>
            </a:r>
            <a:r>
              <a:rPr lang="en-US" dirty="0" err="1"/>
              <a:t>truy</a:t>
            </a:r>
            <a:r>
              <a:rPr lang="en-US" dirty="0"/>
              <a:t> </a:t>
            </a:r>
            <a:r>
              <a:rPr lang="en-US" dirty="0" err="1"/>
              <a:t>cập</a:t>
            </a:r>
            <a:r>
              <a:rPr lang="en-US" dirty="0"/>
              <a:t> </a:t>
            </a:r>
            <a:r>
              <a:rPr lang="en-US" dirty="0" err="1"/>
              <a:t>mọi</a:t>
            </a:r>
            <a:r>
              <a:rPr lang="en-US" dirty="0"/>
              <a:t> </a:t>
            </a:r>
            <a:r>
              <a:rPr lang="en-US" dirty="0" err="1"/>
              <a:t>lúc</a:t>
            </a:r>
            <a:r>
              <a:rPr lang="en-US" dirty="0"/>
              <a:t> </a:t>
            </a:r>
            <a:r>
              <a:rPr lang="en-US" dirty="0" err="1"/>
              <a:t>mọi</a:t>
            </a:r>
            <a:r>
              <a:rPr lang="en-US" dirty="0"/>
              <a:t> </a:t>
            </a:r>
            <a:r>
              <a:rPr lang="en-US" dirty="0" err="1"/>
              <a:t>nơi</a:t>
            </a:r>
            <a:r>
              <a:rPr lang="en-US" dirty="0"/>
              <a:t>.</a:t>
            </a:r>
          </a:p>
          <a:p>
            <a:endParaRPr lang="en-US" dirty="0"/>
          </a:p>
          <a:p>
            <a:r>
              <a:rPr lang="en-US" dirty="0" err="1"/>
              <a:t>Ngoài</a:t>
            </a:r>
            <a:r>
              <a:rPr lang="en-US" dirty="0"/>
              <a:t> </a:t>
            </a:r>
            <a:r>
              <a:rPr lang="en-US" dirty="0" err="1"/>
              <a:t>ra</a:t>
            </a:r>
            <a:r>
              <a:rPr lang="en-US" dirty="0"/>
              <a:t>, </a:t>
            </a:r>
            <a:r>
              <a:rPr lang="en-US" dirty="0" err="1"/>
              <a:t>để</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có</a:t>
            </a:r>
            <a:r>
              <a:rPr lang="en-US" dirty="0"/>
              <a:t> </a:t>
            </a:r>
            <a:r>
              <a:rPr lang="en-US" dirty="0" err="1"/>
              <a:t>thể</a:t>
            </a:r>
            <a:r>
              <a:rPr lang="en-US" dirty="0"/>
              <a:t> "</a:t>
            </a:r>
            <a:r>
              <a:rPr lang="en-US" dirty="0" err="1"/>
              <a:t>hiểu</a:t>
            </a:r>
            <a:r>
              <a:rPr lang="en-US" dirty="0"/>
              <a:t> </a:t>
            </a:r>
            <a:r>
              <a:rPr lang="en-US" dirty="0" err="1"/>
              <a:t>nhau</a:t>
            </a:r>
            <a:r>
              <a:rPr lang="en-US" dirty="0"/>
              <a:t>", Internet </a:t>
            </a:r>
            <a:r>
              <a:rPr lang="en-US" dirty="0" err="1"/>
              <a:t>sử</a:t>
            </a:r>
            <a:r>
              <a:rPr lang="en-US" dirty="0"/>
              <a:t> </a:t>
            </a:r>
            <a:r>
              <a:rPr lang="en-US" dirty="0" err="1"/>
              <a:t>dụng</a:t>
            </a:r>
            <a:r>
              <a:rPr lang="en-US" dirty="0"/>
              <a:t> </a:t>
            </a:r>
            <a:r>
              <a:rPr lang="en-US" dirty="0" err="1"/>
              <a:t>các</a:t>
            </a:r>
            <a:r>
              <a:rPr lang="en-US" dirty="0"/>
              <a:t> </a:t>
            </a:r>
            <a:r>
              <a:rPr lang="en-US" dirty="0" err="1"/>
              <a:t>giao</a:t>
            </a:r>
            <a:r>
              <a:rPr lang="en-US" dirty="0"/>
              <a:t> </a:t>
            </a:r>
            <a:r>
              <a:rPr lang="en-US" dirty="0" err="1"/>
              <a:t>thức</a:t>
            </a:r>
            <a:r>
              <a:rPr lang="en-US" dirty="0"/>
              <a:t> </a:t>
            </a:r>
            <a:r>
              <a:rPr lang="en-US" dirty="0" err="1"/>
              <a:t>truyền</a:t>
            </a:r>
            <a:r>
              <a:rPr lang="en-US" dirty="0"/>
              <a:t> </a:t>
            </a:r>
            <a:r>
              <a:rPr lang="en-US" dirty="0" err="1"/>
              <a:t>thông</a:t>
            </a:r>
            <a:r>
              <a:rPr lang="en-US" dirty="0"/>
              <a:t> </a:t>
            </a:r>
            <a:r>
              <a:rPr lang="en-US" dirty="0" err="1"/>
              <a:t>như</a:t>
            </a:r>
            <a:r>
              <a:rPr lang="en-US" dirty="0"/>
              <a:t> TCP/IP, HTTP, DNS,...</a:t>
            </a:r>
          </a:p>
          <a:p>
            <a:r>
              <a:rPr lang="en-US" dirty="0" err="1"/>
              <a:t>Trong</a:t>
            </a:r>
            <a:r>
              <a:rPr lang="en-US" dirty="0"/>
              <a:t> </a:t>
            </a:r>
            <a:r>
              <a:rPr lang="en-US" dirty="0" err="1"/>
              <a:t>đó</a:t>
            </a:r>
            <a:r>
              <a:rPr lang="en-US" dirty="0"/>
              <a:t>, TCP/IP </a:t>
            </a:r>
            <a:r>
              <a:rPr lang="en-US" dirty="0" err="1"/>
              <a:t>được</a:t>
            </a:r>
            <a:r>
              <a:rPr lang="en-US" dirty="0"/>
              <a:t> </a:t>
            </a:r>
            <a:r>
              <a:rPr lang="en-US" dirty="0" err="1"/>
              <a:t>ví</a:t>
            </a:r>
            <a:r>
              <a:rPr lang="en-US" dirty="0"/>
              <a:t> </a:t>
            </a:r>
            <a:r>
              <a:rPr lang="en-US" dirty="0" err="1"/>
              <a:t>như</a:t>
            </a:r>
            <a:r>
              <a:rPr lang="en-US" dirty="0"/>
              <a:t> "</a:t>
            </a:r>
            <a:r>
              <a:rPr lang="en-US" dirty="0" err="1"/>
              <a:t>luật</a:t>
            </a:r>
            <a:r>
              <a:rPr lang="en-US" dirty="0"/>
              <a:t> </a:t>
            </a:r>
            <a:r>
              <a:rPr lang="en-US" dirty="0" err="1"/>
              <a:t>giao</a:t>
            </a:r>
            <a:r>
              <a:rPr lang="en-US" dirty="0"/>
              <a:t> </a:t>
            </a:r>
            <a:r>
              <a:rPr lang="en-US" dirty="0" err="1"/>
              <a:t>thông</a:t>
            </a:r>
            <a:r>
              <a:rPr lang="en-US" dirty="0"/>
              <a:t>" – </a:t>
            </a:r>
            <a:r>
              <a:rPr lang="en-US" dirty="0" err="1"/>
              <a:t>đảm</a:t>
            </a:r>
            <a:r>
              <a:rPr lang="en-US" dirty="0"/>
              <a:t> </a:t>
            </a:r>
            <a:r>
              <a:rPr lang="en-US" dirty="0" err="1"/>
              <a:t>bảo</a:t>
            </a:r>
            <a:r>
              <a:rPr lang="en-US" dirty="0"/>
              <a:t> </a:t>
            </a:r>
            <a:r>
              <a:rPr lang="en-US" dirty="0" err="1"/>
              <a:t>mọi</a:t>
            </a:r>
            <a:r>
              <a:rPr lang="en-US" dirty="0"/>
              <a:t> </a:t>
            </a:r>
            <a:r>
              <a:rPr lang="en-US" dirty="0" err="1"/>
              <a:t>dữ</a:t>
            </a:r>
            <a:r>
              <a:rPr lang="en-US" dirty="0"/>
              <a:t> </a:t>
            </a:r>
            <a:r>
              <a:rPr lang="en-US" dirty="0" err="1"/>
              <a:t>liệu</a:t>
            </a:r>
            <a:r>
              <a:rPr lang="en-US" dirty="0"/>
              <a:t> </a:t>
            </a:r>
            <a:r>
              <a:rPr lang="en-US" dirty="0" err="1"/>
              <a:t>được</a:t>
            </a:r>
            <a:r>
              <a:rPr lang="en-US" dirty="0"/>
              <a:t> </a:t>
            </a:r>
            <a:r>
              <a:rPr lang="en-US" dirty="0" err="1"/>
              <a:t>truyền</a:t>
            </a:r>
            <a:r>
              <a:rPr lang="en-US" dirty="0"/>
              <a:t> </a:t>
            </a:r>
            <a:r>
              <a:rPr lang="en-US" dirty="0" err="1"/>
              <a:t>đi</a:t>
            </a:r>
            <a:r>
              <a:rPr lang="en-US" dirty="0"/>
              <a:t> </a:t>
            </a:r>
            <a:r>
              <a:rPr lang="en-US" dirty="0" err="1"/>
              <a:t>đúng</a:t>
            </a:r>
            <a:r>
              <a:rPr lang="en-US" dirty="0"/>
              <a:t> </a:t>
            </a:r>
            <a:r>
              <a:rPr lang="en-US" dirty="0" err="1"/>
              <a:t>cách</a:t>
            </a:r>
            <a:r>
              <a:rPr lang="en-US" dirty="0"/>
              <a:t>, </a:t>
            </a:r>
            <a:r>
              <a:rPr lang="en-US" dirty="0" err="1"/>
              <a:t>đúng</a:t>
            </a:r>
            <a:r>
              <a:rPr lang="en-US" dirty="0"/>
              <a:t> </a:t>
            </a:r>
            <a:r>
              <a:rPr lang="en-US" dirty="0" err="1"/>
              <a:t>địa</a:t>
            </a:r>
            <a:r>
              <a:rPr lang="en-US" dirty="0"/>
              <a:t> </a:t>
            </a:r>
            <a:r>
              <a:rPr lang="en-US" dirty="0" err="1"/>
              <a:t>chỉ</a:t>
            </a:r>
            <a:r>
              <a:rPr lang="en-US" dirty="0"/>
              <a:t>, </a:t>
            </a:r>
            <a:r>
              <a:rPr lang="en-US" dirty="0" err="1"/>
              <a:t>không</a:t>
            </a:r>
            <a:r>
              <a:rPr lang="en-US" dirty="0"/>
              <a:t> </a:t>
            </a:r>
            <a:r>
              <a:rPr lang="en-US" dirty="0" err="1"/>
              <a:t>bị</a:t>
            </a:r>
            <a:r>
              <a:rPr lang="en-US" dirty="0"/>
              <a:t> </a:t>
            </a:r>
            <a:r>
              <a:rPr lang="en-US" dirty="0" err="1"/>
              <a:t>rối</a:t>
            </a:r>
            <a:r>
              <a:rPr lang="en-US" dirty="0"/>
              <a:t> </a:t>
            </a:r>
            <a:r>
              <a:rPr lang="en-US" dirty="0" err="1"/>
              <a:t>loạn</a:t>
            </a:r>
            <a:r>
              <a:rPr lang="en-US" dirty="0"/>
              <a:t>.</a:t>
            </a:r>
          </a:p>
          <a:p>
            <a:r>
              <a:rPr lang="en-US" dirty="0" err="1"/>
              <a:t>Một</a:t>
            </a:r>
            <a:r>
              <a:rPr lang="en-US" dirty="0"/>
              <a:t> </a:t>
            </a:r>
            <a:r>
              <a:rPr lang="en-US" dirty="0" err="1"/>
              <a:t>thành</a:t>
            </a:r>
            <a:r>
              <a:rPr lang="en-US" dirty="0"/>
              <a:t> </a:t>
            </a:r>
            <a:r>
              <a:rPr lang="en-US" dirty="0" err="1"/>
              <a:t>phần</a:t>
            </a:r>
            <a:r>
              <a:rPr lang="en-US" dirty="0"/>
              <a:t> </a:t>
            </a:r>
            <a:r>
              <a:rPr lang="en-US" dirty="0" err="1"/>
              <a:t>không</a:t>
            </a:r>
            <a:r>
              <a:rPr lang="en-US" dirty="0"/>
              <a:t> </a:t>
            </a:r>
            <a:r>
              <a:rPr lang="en-US" dirty="0" err="1"/>
              <a:t>thể</a:t>
            </a:r>
            <a:r>
              <a:rPr lang="en-US" dirty="0"/>
              <a:t> </a:t>
            </a:r>
            <a:r>
              <a:rPr lang="en-US" dirty="0" err="1"/>
              <a:t>thiếu</a:t>
            </a:r>
            <a:r>
              <a:rPr lang="en-US" dirty="0"/>
              <a:t> </a:t>
            </a:r>
            <a:r>
              <a:rPr lang="en-US" dirty="0" err="1"/>
              <a:t>nữa</a:t>
            </a:r>
            <a:r>
              <a:rPr lang="en-US" dirty="0"/>
              <a:t> </a:t>
            </a:r>
            <a:r>
              <a:rPr lang="en-US" dirty="0" err="1"/>
              <a:t>là</a:t>
            </a:r>
            <a:r>
              <a:rPr lang="en-US" dirty="0"/>
              <a:t> </a:t>
            </a:r>
            <a:r>
              <a:rPr lang="en-US" dirty="0" err="1"/>
              <a:t>máy</a:t>
            </a:r>
            <a:r>
              <a:rPr lang="en-US" dirty="0"/>
              <a:t> </a:t>
            </a:r>
            <a:r>
              <a:rPr lang="en-US" dirty="0" err="1"/>
              <a:t>chủ</a:t>
            </a:r>
            <a:r>
              <a:rPr lang="en-US" dirty="0"/>
              <a:t> (server). </a:t>
            </a:r>
            <a:r>
              <a:rPr lang="en-US" dirty="0" err="1"/>
              <a:t>Đây</a:t>
            </a:r>
            <a:r>
              <a:rPr lang="en-US" dirty="0"/>
              <a:t> </a:t>
            </a:r>
            <a:r>
              <a:rPr lang="en-US" dirty="0" err="1"/>
              <a:t>là</a:t>
            </a:r>
            <a:r>
              <a:rPr lang="en-US" dirty="0"/>
              <a:t> </a:t>
            </a:r>
            <a:r>
              <a:rPr lang="en-US" dirty="0" err="1"/>
              <a:t>nơi</a:t>
            </a:r>
            <a:r>
              <a:rPr lang="en-US" dirty="0"/>
              <a:t> </a:t>
            </a:r>
            <a:r>
              <a:rPr lang="en-US" dirty="0" err="1"/>
              <a:t>lưu</a:t>
            </a:r>
            <a:r>
              <a:rPr lang="en-US" dirty="0"/>
              <a:t> </a:t>
            </a:r>
            <a:r>
              <a:rPr lang="en-US" dirty="0" err="1"/>
              <a:t>trữ</a:t>
            </a:r>
            <a:r>
              <a:rPr lang="en-US" dirty="0"/>
              <a:t> </a:t>
            </a:r>
            <a:r>
              <a:rPr lang="en-US" dirty="0" err="1"/>
              <a:t>toàn</a:t>
            </a:r>
            <a:r>
              <a:rPr lang="en-US" dirty="0"/>
              <a:t> </a:t>
            </a:r>
            <a:r>
              <a:rPr lang="en-US" dirty="0" err="1"/>
              <a:t>bộ</a:t>
            </a:r>
            <a:r>
              <a:rPr lang="en-US" dirty="0"/>
              <a:t> </a:t>
            </a:r>
            <a:r>
              <a:rPr lang="en-US" dirty="0" err="1"/>
              <a:t>nội</a:t>
            </a:r>
            <a:r>
              <a:rPr lang="en-US" dirty="0"/>
              <a:t> dung, </a:t>
            </a:r>
            <a:r>
              <a:rPr lang="en-US" dirty="0" err="1"/>
              <a:t>như</a:t>
            </a:r>
            <a:r>
              <a:rPr lang="en-US" dirty="0"/>
              <a:t>: </a:t>
            </a:r>
            <a:r>
              <a:rPr lang="en-US" dirty="0" err="1"/>
              <a:t>trang</a:t>
            </a:r>
            <a:r>
              <a:rPr lang="en-US" dirty="0"/>
              <a:t> web, video YouTube, file </a:t>
            </a:r>
            <a:r>
              <a:rPr lang="en-US" dirty="0" err="1"/>
              <a:t>tài</a:t>
            </a:r>
            <a:r>
              <a:rPr lang="en-US" dirty="0"/>
              <a:t> </a:t>
            </a:r>
            <a:r>
              <a:rPr lang="en-US" dirty="0" err="1"/>
              <a:t>liệu</a:t>
            </a:r>
            <a:r>
              <a:rPr lang="en-US" dirty="0"/>
              <a:t>,... </a:t>
            </a:r>
            <a:r>
              <a:rPr lang="en-US" dirty="0" err="1"/>
              <a:t>Khi</a:t>
            </a:r>
            <a:r>
              <a:rPr lang="en-US" dirty="0"/>
              <a:t> </a:t>
            </a:r>
            <a:r>
              <a:rPr lang="en-US" dirty="0" err="1"/>
              <a:t>bạn</a:t>
            </a:r>
            <a:r>
              <a:rPr lang="en-US" dirty="0"/>
              <a:t> </a:t>
            </a:r>
            <a:r>
              <a:rPr lang="en-US" dirty="0" err="1"/>
              <a:t>truy</a:t>
            </a:r>
            <a:r>
              <a:rPr lang="en-US" dirty="0"/>
              <a:t> </a:t>
            </a:r>
            <a:r>
              <a:rPr lang="en-US" dirty="0" err="1"/>
              <a:t>cập</a:t>
            </a:r>
            <a:r>
              <a:rPr lang="en-US" dirty="0"/>
              <a:t> </a:t>
            </a:r>
            <a:r>
              <a:rPr lang="en-US" dirty="0" err="1"/>
              <a:t>vào</a:t>
            </a:r>
            <a:r>
              <a:rPr lang="en-US" dirty="0"/>
              <a:t> </a:t>
            </a:r>
            <a:r>
              <a:rPr lang="en-US" dirty="0" err="1"/>
              <a:t>một</a:t>
            </a:r>
            <a:r>
              <a:rPr lang="en-US" dirty="0"/>
              <a:t> </a:t>
            </a:r>
            <a:r>
              <a:rPr lang="en-US" dirty="0" err="1"/>
              <a:t>trang</a:t>
            </a:r>
            <a:r>
              <a:rPr lang="en-US" dirty="0"/>
              <a:t> web, </a:t>
            </a:r>
            <a:r>
              <a:rPr lang="en-US" dirty="0" err="1"/>
              <a:t>thiết</a:t>
            </a:r>
            <a:r>
              <a:rPr lang="en-US" dirty="0"/>
              <a:t> </a:t>
            </a:r>
            <a:r>
              <a:rPr lang="en-US" dirty="0" err="1"/>
              <a:t>bị</a:t>
            </a:r>
            <a:r>
              <a:rPr lang="en-US" dirty="0"/>
              <a:t> </a:t>
            </a:r>
            <a:r>
              <a:rPr lang="en-US" dirty="0" err="1"/>
              <a:t>của</a:t>
            </a:r>
            <a:r>
              <a:rPr lang="en-US" dirty="0"/>
              <a:t> </a:t>
            </a:r>
            <a:r>
              <a:rPr lang="en-US" dirty="0" err="1"/>
              <a:t>bạn</a:t>
            </a:r>
            <a:r>
              <a:rPr lang="en-US" dirty="0"/>
              <a:t> </a:t>
            </a:r>
            <a:r>
              <a:rPr lang="en-US" dirty="0" err="1"/>
              <a:t>đang</a:t>
            </a:r>
            <a:r>
              <a:rPr lang="en-US" dirty="0"/>
              <a:t> </a:t>
            </a:r>
            <a:r>
              <a:rPr lang="en-US" dirty="0" err="1"/>
              <a:t>kết</a:t>
            </a:r>
            <a:r>
              <a:rPr lang="en-US" dirty="0"/>
              <a:t> </a:t>
            </a:r>
            <a:r>
              <a:rPr lang="en-US" dirty="0" err="1"/>
              <a:t>nối</a:t>
            </a:r>
            <a:r>
              <a:rPr lang="en-US" dirty="0"/>
              <a:t> </a:t>
            </a:r>
            <a:r>
              <a:rPr lang="en-US" dirty="0" err="1"/>
              <a:t>đến</a:t>
            </a:r>
            <a:r>
              <a:rPr lang="en-US" dirty="0"/>
              <a:t> </a:t>
            </a:r>
            <a:r>
              <a:rPr lang="en-US" dirty="0" err="1"/>
              <a:t>một</a:t>
            </a:r>
            <a:r>
              <a:rPr lang="en-US" dirty="0"/>
              <a:t> </a:t>
            </a:r>
            <a:r>
              <a:rPr lang="en-US" dirty="0" err="1"/>
              <a:t>máy</a:t>
            </a:r>
            <a:r>
              <a:rPr lang="en-US" dirty="0"/>
              <a:t> </a:t>
            </a:r>
            <a:r>
              <a:rPr lang="en-US" dirty="0" err="1"/>
              <a:t>chủ</a:t>
            </a:r>
            <a:r>
              <a:rPr lang="en-US" dirty="0"/>
              <a:t> </a:t>
            </a:r>
            <a:r>
              <a:rPr lang="en-US" dirty="0" err="1"/>
              <a:t>nào</a:t>
            </a:r>
            <a:r>
              <a:rPr lang="en-US" dirty="0"/>
              <a:t> </a:t>
            </a:r>
            <a:r>
              <a:rPr lang="en-US" dirty="0" err="1"/>
              <a:t>đó</a:t>
            </a:r>
            <a:r>
              <a:rPr lang="en-US" dirty="0"/>
              <a:t> </a:t>
            </a:r>
            <a:r>
              <a:rPr lang="en-US" dirty="0" err="1"/>
              <a:t>để</a:t>
            </a:r>
            <a:r>
              <a:rPr lang="en-US" dirty="0"/>
              <a:t> </a:t>
            </a:r>
            <a:r>
              <a:rPr lang="en-US" dirty="0" err="1"/>
              <a:t>lấy</a:t>
            </a:r>
            <a:r>
              <a:rPr lang="en-US" dirty="0"/>
              <a:t> </a:t>
            </a:r>
            <a:r>
              <a:rPr lang="en-US" dirty="0" err="1"/>
              <a:t>dữ</a:t>
            </a:r>
            <a:r>
              <a:rPr lang="en-US" dirty="0"/>
              <a:t> </a:t>
            </a:r>
            <a:r>
              <a:rPr lang="en-US" dirty="0" err="1"/>
              <a:t>liệu</a:t>
            </a:r>
            <a:r>
              <a:rPr lang="en-US" dirty="0"/>
              <a:t>.</a:t>
            </a:r>
          </a:p>
          <a:p>
            <a:r>
              <a:rPr lang="en-US" dirty="0" err="1"/>
              <a:t>Và</a:t>
            </a:r>
            <a:r>
              <a:rPr lang="en-US" dirty="0"/>
              <a:t> </a:t>
            </a:r>
            <a:r>
              <a:rPr lang="en-US" dirty="0" err="1"/>
              <a:t>cuối</a:t>
            </a:r>
            <a:r>
              <a:rPr lang="en-US" dirty="0"/>
              <a:t> </a:t>
            </a:r>
            <a:r>
              <a:rPr lang="en-US" dirty="0" err="1"/>
              <a:t>cùng</a:t>
            </a:r>
            <a:r>
              <a:rPr lang="en-US" dirty="0"/>
              <a:t> </a:t>
            </a:r>
            <a:r>
              <a:rPr lang="en-US" dirty="0" err="1"/>
              <a:t>là</a:t>
            </a:r>
            <a:r>
              <a:rPr lang="en-US" dirty="0"/>
              <a:t> ISP – </a:t>
            </a:r>
            <a:r>
              <a:rPr lang="en-US" dirty="0" err="1"/>
              <a:t>nhà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Internet </a:t>
            </a:r>
            <a:r>
              <a:rPr lang="en-US" dirty="0" err="1"/>
              <a:t>như</a:t>
            </a:r>
            <a:r>
              <a:rPr lang="en-US" dirty="0"/>
              <a:t> VNPT, </a:t>
            </a:r>
            <a:r>
              <a:rPr lang="en-US" dirty="0" err="1"/>
              <a:t>Viettel</a:t>
            </a:r>
            <a:r>
              <a:rPr lang="en-US" dirty="0"/>
              <a:t>, FPT. </a:t>
            </a:r>
            <a:r>
              <a:rPr lang="en-US" dirty="0" err="1"/>
              <a:t>Các</a:t>
            </a:r>
            <a:r>
              <a:rPr lang="en-US" dirty="0"/>
              <a:t> </a:t>
            </a:r>
            <a:r>
              <a:rPr lang="en-US" dirty="0" err="1"/>
              <a:t>đơn</a:t>
            </a:r>
            <a:r>
              <a:rPr lang="en-US" dirty="0"/>
              <a:t> </a:t>
            </a:r>
            <a:r>
              <a:rPr lang="en-US" dirty="0" err="1"/>
              <a:t>vị</a:t>
            </a:r>
            <a:r>
              <a:rPr lang="en-US" dirty="0"/>
              <a:t> </a:t>
            </a:r>
            <a:r>
              <a:rPr lang="en-US" dirty="0" err="1"/>
              <a:t>này</a:t>
            </a:r>
            <a:r>
              <a:rPr lang="en-US" dirty="0"/>
              <a:t> </a:t>
            </a:r>
            <a:r>
              <a:rPr lang="en-US" dirty="0" err="1"/>
              <a:t>chính</a:t>
            </a:r>
            <a:r>
              <a:rPr lang="en-US" dirty="0"/>
              <a:t> </a:t>
            </a:r>
            <a:r>
              <a:rPr lang="en-US" dirty="0" err="1"/>
              <a:t>là</a:t>
            </a:r>
            <a:r>
              <a:rPr lang="en-US" dirty="0"/>
              <a:t> "</a:t>
            </a:r>
            <a:r>
              <a:rPr lang="en-US" dirty="0" err="1"/>
              <a:t>người</a:t>
            </a:r>
            <a:r>
              <a:rPr lang="en-US" dirty="0"/>
              <a:t> </a:t>
            </a:r>
            <a:r>
              <a:rPr lang="en-US" dirty="0" err="1"/>
              <a:t>trung</a:t>
            </a:r>
            <a:r>
              <a:rPr lang="en-US" dirty="0"/>
              <a:t> </a:t>
            </a:r>
            <a:r>
              <a:rPr lang="en-US" dirty="0" err="1"/>
              <a:t>gian</a:t>
            </a:r>
            <a:r>
              <a:rPr lang="en-US" dirty="0"/>
              <a:t>" </a:t>
            </a:r>
            <a:r>
              <a:rPr lang="en-US" dirty="0" err="1"/>
              <a:t>mang</a:t>
            </a:r>
            <a:r>
              <a:rPr lang="en-US" dirty="0"/>
              <a:t> Internet </a:t>
            </a:r>
            <a:r>
              <a:rPr lang="en-US" dirty="0" err="1"/>
              <a:t>từ</a:t>
            </a:r>
            <a:r>
              <a:rPr lang="en-US" dirty="0"/>
              <a:t> </a:t>
            </a:r>
            <a:r>
              <a:rPr lang="en-US" dirty="0" err="1"/>
              <a:t>hệ</a:t>
            </a:r>
            <a:r>
              <a:rPr lang="en-US" dirty="0"/>
              <a:t> </a:t>
            </a:r>
            <a:r>
              <a:rPr lang="en-US" dirty="0" err="1"/>
              <a:t>thống</a:t>
            </a:r>
            <a:r>
              <a:rPr lang="en-US" dirty="0"/>
              <a:t> </a:t>
            </a:r>
            <a:r>
              <a:rPr lang="en-US" dirty="0" err="1"/>
              <a:t>mạng</a:t>
            </a:r>
            <a:r>
              <a:rPr lang="en-US" dirty="0"/>
              <a:t> </a:t>
            </a:r>
            <a:r>
              <a:rPr lang="en-US" dirty="0" err="1"/>
              <a:t>toàn</a:t>
            </a:r>
            <a:r>
              <a:rPr lang="en-US" dirty="0"/>
              <a:t> </a:t>
            </a:r>
            <a:r>
              <a:rPr lang="en-US" dirty="0" err="1"/>
              <a:t>cầu</a:t>
            </a:r>
            <a:r>
              <a:rPr lang="en-US" dirty="0"/>
              <a:t> </a:t>
            </a:r>
            <a:r>
              <a:rPr lang="en-US" dirty="0" err="1"/>
              <a:t>đến</a:t>
            </a:r>
            <a:r>
              <a:rPr lang="en-US" dirty="0"/>
              <a:t> </a:t>
            </a:r>
            <a:r>
              <a:rPr lang="en-US" dirty="0" err="1"/>
              <a:t>tận</a:t>
            </a:r>
            <a:r>
              <a:rPr lang="en-US" dirty="0"/>
              <a:t> </a:t>
            </a:r>
            <a:r>
              <a:rPr lang="en-US" dirty="0" err="1"/>
              <a:t>tay</a:t>
            </a:r>
            <a:r>
              <a:rPr lang="en-US" dirty="0"/>
              <a:t> </a:t>
            </a:r>
            <a:r>
              <a:rPr lang="en-US" dirty="0" err="1"/>
              <a:t>người</a:t>
            </a:r>
            <a:r>
              <a:rPr lang="en-US" dirty="0"/>
              <a:t> </a:t>
            </a:r>
            <a:r>
              <a:rPr lang="en-US" dirty="0" err="1"/>
              <a:t>dùng</a:t>
            </a:r>
            <a:r>
              <a:rPr lang="en-US" dirty="0"/>
              <a:t> – qua </a:t>
            </a:r>
            <a:r>
              <a:rPr lang="en-US" dirty="0" err="1"/>
              <a:t>dây</a:t>
            </a:r>
            <a:r>
              <a:rPr lang="en-US" dirty="0"/>
              <a:t> </a:t>
            </a:r>
            <a:r>
              <a:rPr lang="en-US" dirty="0" err="1"/>
              <a:t>cáp</a:t>
            </a:r>
            <a:r>
              <a:rPr lang="en-US" dirty="0"/>
              <a:t>, </a:t>
            </a:r>
            <a:r>
              <a:rPr lang="en-US" dirty="0" err="1"/>
              <a:t>tín</a:t>
            </a:r>
            <a:r>
              <a:rPr lang="en-US" dirty="0"/>
              <a:t> </a:t>
            </a:r>
            <a:r>
              <a:rPr lang="en-US" dirty="0" err="1"/>
              <a:t>hiệu</a:t>
            </a:r>
            <a:r>
              <a:rPr lang="en-US" dirty="0"/>
              <a:t> 5G </a:t>
            </a:r>
            <a:r>
              <a:rPr lang="en-US" dirty="0" err="1"/>
              <a:t>hoặc</a:t>
            </a:r>
            <a:r>
              <a:rPr lang="en-US" dirty="0"/>
              <a:t> </a:t>
            </a:r>
            <a:r>
              <a:rPr lang="en-US" dirty="0" err="1"/>
              <a:t>sóng</a:t>
            </a:r>
            <a:r>
              <a:rPr lang="en-US" dirty="0"/>
              <a:t> Wi-Fi </a:t>
            </a:r>
            <a:r>
              <a:rPr lang="en-US" dirty="0" err="1"/>
              <a:t>tại</a:t>
            </a:r>
            <a:r>
              <a:rPr lang="en-US" dirty="0"/>
              <a:t> </a:t>
            </a:r>
            <a:r>
              <a:rPr lang="en-US" dirty="0" err="1"/>
              <a:t>nhà</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Sau </a:t>
            </a:r>
            <a:r>
              <a:rPr lang="en-US" dirty="0" err="1"/>
              <a:t>khi</a:t>
            </a:r>
            <a:r>
              <a:rPr lang="en-US" dirty="0"/>
              <a:t> </a:t>
            </a:r>
            <a:r>
              <a:rPr lang="en-US" dirty="0" err="1"/>
              <a:t>chúng</a:t>
            </a:r>
            <a:r>
              <a:rPr lang="en-US" dirty="0"/>
              <a:t> ta </a:t>
            </a:r>
            <a:r>
              <a:rPr lang="en-US" dirty="0" err="1"/>
              <a:t>tìm</a:t>
            </a:r>
            <a:r>
              <a:rPr lang="en-US" dirty="0"/>
              <a:t> </a:t>
            </a:r>
            <a:r>
              <a:rPr lang="en-US" dirty="0" err="1"/>
              <a:t>hiểu</a:t>
            </a:r>
            <a:r>
              <a:rPr lang="en-US" dirty="0"/>
              <a:t> </a:t>
            </a:r>
            <a:r>
              <a:rPr lang="en-US" dirty="0" err="1"/>
              <a:t>về</a:t>
            </a:r>
            <a:r>
              <a:rPr lang="en-US" dirty="0"/>
              <a:t> </a:t>
            </a:r>
            <a:r>
              <a:rPr lang="en-US" dirty="0" err="1"/>
              <a:t>khái</a:t>
            </a:r>
            <a:r>
              <a:rPr lang="en-US" dirty="0"/>
              <a:t> </a:t>
            </a:r>
            <a:r>
              <a:rPr lang="en-US" dirty="0" err="1"/>
              <a:t>niệm</a:t>
            </a:r>
            <a:r>
              <a:rPr lang="en-US" dirty="0"/>
              <a:t>, </a:t>
            </a:r>
            <a:r>
              <a:rPr lang="en-US" dirty="0" err="1"/>
              <a:t>đặc</a:t>
            </a:r>
            <a:r>
              <a:rPr lang="en-US" dirty="0"/>
              <a:t> </a:t>
            </a:r>
            <a:r>
              <a:rPr lang="en-US" dirty="0" err="1"/>
              <a:t>điểm</a:t>
            </a:r>
            <a:r>
              <a:rPr lang="en-US" dirty="0"/>
              <a:t> </a:t>
            </a:r>
            <a:r>
              <a:rPr lang="en-US" dirty="0" err="1"/>
              <a:t>nổi</a:t>
            </a:r>
            <a:r>
              <a:rPr lang="en-US" dirty="0"/>
              <a:t> </a:t>
            </a:r>
            <a:r>
              <a:rPr lang="en-US" dirty="0" err="1"/>
              <a:t>bật</a:t>
            </a:r>
            <a:r>
              <a:rPr lang="en-US" dirty="0"/>
              <a:t> </a:t>
            </a:r>
            <a:r>
              <a:rPr lang="en-US" dirty="0" err="1"/>
              <a:t>và</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Internet </a:t>
            </a:r>
            <a:r>
              <a:rPr lang="en-US" dirty="0" err="1"/>
              <a:t>xong</a:t>
            </a:r>
            <a:r>
              <a:rPr lang="en-US" dirty="0"/>
              <a:t> </a:t>
            </a:r>
            <a:r>
              <a:rPr lang="en-US" dirty="0" err="1"/>
              <a:t>thì</a:t>
            </a:r>
            <a:r>
              <a:rPr lang="en-US" dirty="0"/>
              <a:t> </a:t>
            </a:r>
            <a:r>
              <a:rPr lang="en-US" dirty="0" err="1"/>
              <a:t>chúng</a:t>
            </a:r>
            <a:r>
              <a:rPr lang="en-US" dirty="0"/>
              <a:t> ta </a:t>
            </a:r>
            <a:r>
              <a:rPr lang="en-US" dirty="0" err="1"/>
              <a:t>sẽ</a:t>
            </a:r>
            <a:r>
              <a:rPr lang="en-US" dirty="0"/>
              <a:t> </a:t>
            </a:r>
            <a:r>
              <a:rPr lang="en-US" dirty="0" err="1"/>
              <a:t>cùng</a:t>
            </a:r>
            <a:r>
              <a:rPr lang="en-US" dirty="0"/>
              <a:t> </a:t>
            </a:r>
            <a:r>
              <a:rPr lang="en-US" dirty="0" err="1"/>
              <a:t>nhau</a:t>
            </a:r>
            <a:r>
              <a:rPr lang="en-US" dirty="0"/>
              <a:t> </a:t>
            </a:r>
            <a:r>
              <a:rPr lang="en-US" dirty="0" err="1"/>
              <a:t>tìm</a:t>
            </a:r>
            <a:r>
              <a:rPr lang="en-US" dirty="0"/>
              <a:t> </a:t>
            </a:r>
            <a:r>
              <a:rPr lang="en-US" dirty="0" err="1"/>
              <a:t>hiểu</a:t>
            </a:r>
            <a:r>
              <a:rPr lang="en-US" dirty="0"/>
              <a:t> </a:t>
            </a:r>
            <a:r>
              <a:rPr lang="en-US" dirty="0" err="1"/>
              <a:t>về</a:t>
            </a:r>
            <a:r>
              <a:rPr lang="en-US" dirty="0"/>
              <a:t> </a:t>
            </a:r>
            <a:r>
              <a:rPr lang="en-US" dirty="0" err="1"/>
              <a:t>cách</a:t>
            </a:r>
            <a:r>
              <a:rPr lang="en-US" dirty="0"/>
              <a:t> </a:t>
            </a:r>
            <a:r>
              <a:rPr lang="en-US" dirty="0" err="1"/>
              <a:t>thức</a:t>
            </a:r>
            <a:r>
              <a:rPr lang="en-US" dirty="0"/>
              <a:t> </a:t>
            </a:r>
            <a:r>
              <a:rPr lang="en-US" dirty="0" err="1"/>
              <a:t>hoạt</a:t>
            </a:r>
            <a:r>
              <a:rPr lang="en-US" dirty="0"/>
              <a:t> </a:t>
            </a:r>
            <a:r>
              <a:rPr lang="en-US" dirty="0" err="1"/>
              <a:t>động</a:t>
            </a:r>
            <a:r>
              <a:rPr lang="en-US" dirty="0"/>
              <a:t> </a:t>
            </a:r>
            <a:r>
              <a:rPr lang="en-US" dirty="0" err="1"/>
              <a:t>của</a:t>
            </a:r>
            <a:r>
              <a:rPr lang="en-US" dirty="0"/>
              <a:t> Internet – </a:t>
            </a:r>
            <a:r>
              <a:rPr lang="en-US" dirty="0" err="1"/>
              <a:t>từ</a:t>
            </a:r>
            <a:r>
              <a:rPr lang="en-US" dirty="0"/>
              <a:t> </a:t>
            </a:r>
            <a:r>
              <a:rPr lang="en-US" dirty="0" err="1"/>
              <a:t>lúc</a:t>
            </a:r>
            <a:r>
              <a:rPr lang="en-US" dirty="0"/>
              <a:t> </a:t>
            </a:r>
            <a:r>
              <a:rPr lang="en-US" dirty="0" err="1"/>
              <a:t>thiết</a:t>
            </a:r>
            <a:r>
              <a:rPr lang="en-US" dirty="0"/>
              <a:t> </a:t>
            </a:r>
            <a:r>
              <a:rPr lang="en-US" dirty="0" err="1"/>
              <a:t>bị</a:t>
            </a:r>
            <a:r>
              <a:rPr lang="en-US" dirty="0"/>
              <a:t> </a:t>
            </a:r>
            <a:r>
              <a:rPr lang="en-US" dirty="0" err="1"/>
              <a:t>được</a:t>
            </a:r>
            <a:r>
              <a:rPr lang="en-US" dirty="0"/>
              <a:t> </a:t>
            </a:r>
            <a:r>
              <a:rPr lang="en-US" dirty="0" err="1"/>
              <a:t>kết</a:t>
            </a:r>
            <a:r>
              <a:rPr lang="en-US" dirty="0"/>
              <a:t> </a:t>
            </a:r>
            <a:r>
              <a:rPr lang="en-US" dirty="0" err="1"/>
              <a:t>nối</a:t>
            </a:r>
            <a:r>
              <a:rPr lang="en-US" dirty="0"/>
              <a:t>, </a:t>
            </a:r>
            <a:r>
              <a:rPr lang="en-US" dirty="0" err="1"/>
              <a:t>đến</a:t>
            </a:r>
            <a:r>
              <a:rPr lang="en-US" dirty="0"/>
              <a:t> </a:t>
            </a:r>
            <a:r>
              <a:rPr lang="en-US" dirty="0" err="1"/>
              <a:t>khi</a:t>
            </a:r>
            <a:r>
              <a:rPr lang="en-US" dirty="0"/>
              <a:t> </a:t>
            </a:r>
            <a:r>
              <a:rPr lang="en-US" dirty="0" err="1"/>
              <a:t>thông</a:t>
            </a:r>
            <a:r>
              <a:rPr lang="en-US" dirty="0"/>
              <a:t> tin </a:t>
            </a:r>
            <a:r>
              <a:rPr lang="en-US" dirty="0" err="1"/>
              <a:t>xuất</a:t>
            </a:r>
            <a:r>
              <a:rPr lang="en-US" dirty="0"/>
              <a:t> </a:t>
            </a:r>
            <a:r>
              <a:rPr lang="en-US" dirty="0" err="1"/>
              <a:t>hiện</a:t>
            </a:r>
            <a:r>
              <a:rPr lang="en-US" dirty="0"/>
              <a:t> </a:t>
            </a:r>
            <a:r>
              <a:rPr lang="en-US" dirty="0" err="1"/>
              <a:t>trên</a:t>
            </a:r>
            <a:r>
              <a:rPr lang="en-US" dirty="0"/>
              <a:t> </a:t>
            </a:r>
            <a:r>
              <a:rPr lang="en-US" dirty="0" err="1"/>
              <a:t>màn</a:t>
            </a:r>
            <a:r>
              <a:rPr lang="en-US" dirty="0"/>
              <a:t> </a:t>
            </a:r>
            <a:r>
              <a:rPr lang="en-US" dirty="0" err="1"/>
              <a:t>hình</a:t>
            </a:r>
            <a:r>
              <a:rPr lang="en-US" dirty="0"/>
              <a:t> </a:t>
            </a:r>
            <a:r>
              <a:rPr lang="en-US" dirty="0" err="1"/>
              <a:t>người</a:t>
            </a:r>
            <a:r>
              <a:rPr lang="en-US" dirty="0"/>
              <a:t> </a:t>
            </a:r>
            <a:r>
              <a:rPr lang="en-US" dirty="0" err="1"/>
              <a:t>dùng</a:t>
            </a:r>
            <a:r>
              <a:rPr lang="en-US" dirty="0"/>
              <a:t>.</a:t>
            </a:r>
          </a:p>
          <a:p>
            <a:endParaRPr lang="en-US" dirty="0"/>
          </a:p>
          <a:p>
            <a:r>
              <a:rPr lang="en-US" dirty="0" err="1"/>
              <a:t>Kết</a:t>
            </a:r>
            <a:r>
              <a:rPr lang="en-US" dirty="0"/>
              <a:t> </a:t>
            </a:r>
            <a:r>
              <a:rPr lang="en-US" dirty="0" err="1"/>
              <a:t>Nối</a:t>
            </a:r>
            <a:r>
              <a:rPr lang="en-US" dirty="0"/>
              <a:t> </a:t>
            </a:r>
            <a:r>
              <a:rPr lang="en-US" dirty="0" err="1"/>
              <a:t>với</a:t>
            </a:r>
            <a:r>
              <a:rPr lang="en-US" dirty="0"/>
              <a:t> Internet: </a:t>
            </a:r>
            <a:r>
              <a:rPr lang="en-US" dirty="0" err="1"/>
              <a:t>Khi</a:t>
            </a:r>
            <a:r>
              <a:rPr lang="en-US" dirty="0"/>
              <a:t> </a:t>
            </a:r>
            <a:r>
              <a:rPr lang="en-US" dirty="0" err="1"/>
              <a:t>bạn</a:t>
            </a:r>
            <a:r>
              <a:rPr lang="en-US" dirty="0"/>
              <a:t> </a:t>
            </a:r>
            <a:r>
              <a:rPr lang="en-US" dirty="0" err="1"/>
              <a:t>bật</a:t>
            </a:r>
            <a:r>
              <a:rPr lang="en-US" dirty="0"/>
              <a:t> </a:t>
            </a:r>
            <a:r>
              <a:rPr lang="en-US" dirty="0" err="1"/>
              <a:t>máy</a:t>
            </a:r>
            <a:r>
              <a:rPr lang="en-US" dirty="0"/>
              <a:t> </a:t>
            </a:r>
            <a:r>
              <a:rPr lang="en-US" dirty="0" err="1"/>
              <a:t>tính</a:t>
            </a:r>
            <a:r>
              <a:rPr lang="en-US" dirty="0"/>
              <a:t> </a:t>
            </a:r>
            <a:r>
              <a:rPr lang="en-US" dirty="0" err="1"/>
              <a:t>hoặc</a:t>
            </a:r>
            <a:r>
              <a:rPr lang="en-US" dirty="0"/>
              <a:t> </a:t>
            </a:r>
            <a:r>
              <a:rPr lang="en-US" dirty="0" err="1"/>
              <a:t>thiết</a:t>
            </a:r>
            <a:r>
              <a:rPr lang="en-US" dirty="0"/>
              <a:t> </a:t>
            </a:r>
            <a:r>
              <a:rPr lang="en-US" dirty="0" err="1"/>
              <a:t>bị</a:t>
            </a:r>
            <a:r>
              <a:rPr lang="en-US" dirty="0"/>
              <a:t> di </a:t>
            </a:r>
            <a:r>
              <a:rPr lang="en-US" dirty="0" err="1"/>
              <a:t>động</a:t>
            </a:r>
            <a:r>
              <a:rPr lang="en-US" dirty="0"/>
              <a:t> </a:t>
            </a:r>
            <a:r>
              <a:rPr lang="en-US" dirty="0" err="1"/>
              <a:t>và</a:t>
            </a:r>
            <a:r>
              <a:rPr lang="en-US" dirty="0"/>
              <a:t> </a:t>
            </a:r>
            <a:r>
              <a:rPr lang="en-US" dirty="0" err="1"/>
              <a:t>kết</a:t>
            </a:r>
            <a:r>
              <a:rPr lang="en-US" dirty="0"/>
              <a:t> </a:t>
            </a:r>
            <a:r>
              <a:rPr lang="en-US" dirty="0" err="1"/>
              <a:t>nối</a:t>
            </a:r>
            <a:r>
              <a:rPr lang="en-US" dirty="0"/>
              <a:t> </a:t>
            </a:r>
            <a:r>
              <a:rPr lang="en-US" dirty="0" err="1"/>
              <a:t>với</a:t>
            </a:r>
            <a:r>
              <a:rPr lang="en-US" dirty="0"/>
              <a:t> Internet, </a:t>
            </a:r>
            <a:r>
              <a:rPr lang="en-US" dirty="0" err="1"/>
              <a:t>thiết</a:t>
            </a:r>
            <a:r>
              <a:rPr lang="en-US" dirty="0"/>
              <a:t> </a:t>
            </a:r>
            <a:r>
              <a:rPr lang="en-US" dirty="0" err="1"/>
              <a:t>bị</a:t>
            </a:r>
            <a:r>
              <a:rPr lang="en-US" dirty="0"/>
              <a:t> </a:t>
            </a:r>
            <a:r>
              <a:rPr lang="en-US" dirty="0" err="1"/>
              <a:t>của</a:t>
            </a:r>
            <a:r>
              <a:rPr lang="en-US" dirty="0"/>
              <a:t> </a:t>
            </a:r>
            <a:r>
              <a:rPr lang="en-US" dirty="0" err="1"/>
              <a:t>bạn</a:t>
            </a:r>
            <a:r>
              <a:rPr lang="en-US" dirty="0"/>
              <a:t> </a:t>
            </a:r>
            <a:r>
              <a:rPr lang="en-US" dirty="0" err="1"/>
              <a:t>kết</a:t>
            </a:r>
            <a:r>
              <a:rPr lang="en-US" dirty="0"/>
              <a:t> </a:t>
            </a:r>
            <a:r>
              <a:rPr lang="en-US" dirty="0" err="1"/>
              <a:t>nối</a:t>
            </a:r>
            <a:r>
              <a:rPr lang="en-US" dirty="0"/>
              <a:t> </a:t>
            </a:r>
            <a:r>
              <a:rPr lang="en-US" dirty="0" err="1"/>
              <a:t>với</a:t>
            </a:r>
            <a:r>
              <a:rPr lang="en-US" dirty="0"/>
              <a:t> </a:t>
            </a:r>
            <a:r>
              <a:rPr lang="en-US" dirty="0" err="1"/>
              <a:t>nhà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Internet (ISP). ISP </a:t>
            </a:r>
            <a:r>
              <a:rPr lang="en-US" dirty="0" err="1"/>
              <a:t>này</a:t>
            </a:r>
            <a:r>
              <a:rPr lang="en-US" dirty="0"/>
              <a:t> </a:t>
            </a:r>
            <a:r>
              <a:rPr lang="en-US" dirty="0" err="1"/>
              <a:t>sẽ</a:t>
            </a:r>
            <a:r>
              <a:rPr lang="en-US" dirty="0"/>
              <a:t> </a:t>
            </a:r>
            <a:r>
              <a:rPr lang="en-US" dirty="0" err="1"/>
              <a:t>cung</a:t>
            </a:r>
            <a:r>
              <a:rPr lang="en-US" dirty="0"/>
              <a:t> </a:t>
            </a:r>
            <a:r>
              <a:rPr lang="en-US" dirty="0" err="1"/>
              <a:t>cấp</a:t>
            </a:r>
            <a:r>
              <a:rPr lang="en-US" dirty="0"/>
              <a:t> </a:t>
            </a:r>
            <a:r>
              <a:rPr lang="en-US" dirty="0" err="1"/>
              <a:t>kết</a:t>
            </a:r>
            <a:r>
              <a:rPr lang="en-US" dirty="0"/>
              <a:t> </a:t>
            </a:r>
            <a:r>
              <a:rPr lang="en-US" dirty="0" err="1"/>
              <a:t>nối</a:t>
            </a:r>
            <a:r>
              <a:rPr lang="en-US" dirty="0"/>
              <a:t> qua </a:t>
            </a:r>
            <a:r>
              <a:rPr lang="en-US" dirty="0" err="1"/>
              <a:t>các</a:t>
            </a:r>
            <a:r>
              <a:rPr lang="en-US" dirty="0"/>
              <a:t> </a:t>
            </a:r>
            <a:r>
              <a:rPr lang="en-US" dirty="0" err="1"/>
              <a:t>phương</a:t>
            </a:r>
            <a:r>
              <a:rPr lang="en-US" dirty="0"/>
              <a:t> </a:t>
            </a:r>
            <a:r>
              <a:rPr lang="en-US" dirty="0" err="1"/>
              <a:t>tiện</a:t>
            </a:r>
            <a:r>
              <a:rPr lang="en-US" dirty="0"/>
              <a:t> </a:t>
            </a:r>
            <a:r>
              <a:rPr lang="en-US" dirty="0" err="1"/>
              <a:t>như</a:t>
            </a:r>
            <a:r>
              <a:rPr lang="en-US" dirty="0"/>
              <a:t> </a:t>
            </a:r>
            <a:r>
              <a:rPr lang="en-US" dirty="0" err="1"/>
              <a:t>cáp</a:t>
            </a:r>
            <a:r>
              <a:rPr lang="en-US" dirty="0"/>
              <a:t>, DSL, </a:t>
            </a:r>
            <a:r>
              <a:rPr lang="en-US" dirty="0" err="1"/>
              <a:t>hoặc</a:t>
            </a:r>
            <a:r>
              <a:rPr lang="en-US" dirty="0"/>
              <a:t> </a:t>
            </a:r>
            <a:r>
              <a:rPr lang="en-US" dirty="0" err="1"/>
              <a:t>mạng</a:t>
            </a:r>
            <a:r>
              <a:rPr lang="en-US" dirty="0"/>
              <a:t> di </a:t>
            </a:r>
            <a:r>
              <a:rPr lang="en-US" dirty="0" err="1"/>
              <a:t>động</a:t>
            </a:r>
            <a:r>
              <a:rPr lang="en-US" dirty="0"/>
              <a:t>.</a:t>
            </a:r>
          </a:p>
          <a:p>
            <a:r>
              <a:rPr lang="en-US" dirty="0" err="1"/>
              <a:t>Nhập</a:t>
            </a:r>
            <a:r>
              <a:rPr lang="en-US" dirty="0"/>
              <a:t> </a:t>
            </a:r>
            <a:r>
              <a:rPr lang="en-US" dirty="0" err="1"/>
              <a:t>địa</a:t>
            </a:r>
            <a:r>
              <a:rPr lang="en-US" dirty="0"/>
              <a:t> </a:t>
            </a:r>
            <a:r>
              <a:rPr lang="en-US" dirty="0" err="1"/>
              <a:t>chỉ</a:t>
            </a:r>
            <a:r>
              <a:rPr lang="en-US" dirty="0"/>
              <a:t> web </a:t>
            </a:r>
            <a:r>
              <a:rPr lang="en-US" dirty="0" err="1"/>
              <a:t>và</a:t>
            </a:r>
            <a:r>
              <a:rPr lang="en-US" dirty="0"/>
              <a:t> </a:t>
            </a:r>
            <a:r>
              <a:rPr lang="en-US" dirty="0" err="1"/>
              <a:t>tra</a:t>
            </a:r>
            <a:r>
              <a:rPr lang="en-US" dirty="0"/>
              <a:t> </a:t>
            </a:r>
            <a:r>
              <a:rPr lang="en-US" dirty="0" err="1"/>
              <a:t>cứu</a:t>
            </a:r>
            <a:r>
              <a:rPr lang="en-US" dirty="0"/>
              <a:t> DNS: </a:t>
            </a:r>
            <a:r>
              <a:rPr lang="en-US" dirty="0" err="1"/>
              <a:t>Khi</a:t>
            </a:r>
            <a:r>
              <a:rPr lang="en-US" dirty="0"/>
              <a:t> </a:t>
            </a:r>
            <a:r>
              <a:rPr lang="en-US" dirty="0" err="1"/>
              <a:t>bạn</a:t>
            </a:r>
            <a:r>
              <a:rPr lang="en-US" dirty="0"/>
              <a:t> </a:t>
            </a:r>
            <a:r>
              <a:rPr lang="en-US" dirty="0" err="1"/>
              <a:t>nhập</a:t>
            </a:r>
            <a:r>
              <a:rPr lang="en-US" dirty="0"/>
              <a:t> </a:t>
            </a:r>
            <a:r>
              <a:rPr lang="en-US" dirty="0" err="1"/>
              <a:t>một</a:t>
            </a:r>
            <a:r>
              <a:rPr lang="en-US" dirty="0"/>
              <a:t> </a:t>
            </a:r>
            <a:r>
              <a:rPr lang="en-US" dirty="0" err="1"/>
              <a:t>địa</a:t>
            </a:r>
            <a:r>
              <a:rPr lang="en-US" dirty="0"/>
              <a:t> </a:t>
            </a:r>
            <a:r>
              <a:rPr lang="en-US" dirty="0" err="1"/>
              <a:t>chỉ</a:t>
            </a:r>
            <a:r>
              <a:rPr lang="en-US" dirty="0"/>
              <a:t> web (</a:t>
            </a:r>
            <a:r>
              <a:rPr lang="en-US" dirty="0" err="1"/>
              <a:t>ví</a:t>
            </a:r>
            <a:r>
              <a:rPr lang="en-US" dirty="0"/>
              <a:t> </a:t>
            </a:r>
            <a:r>
              <a:rPr lang="en-US" dirty="0" err="1"/>
              <a:t>dụ</a:t>
            </a:r>
            <a:r>
              <a:rPr lang="en-US" dirty="0"/>
              <a:t>: </a:t>
            </a:r>
            <a:r>
              <a:rPr lang="en-US" dirty="0" err="1"/>
              <a:t>www.youtube.com</a:t>
            </a:r>
            <a:r>
              <a:rPr lang="en-US" dirty="0"/>
              <a:t>) </a:t>
            </a:r>
            <a:r>
              <a:rPr lang="en-US" dirty="0" err="1"/>
              <a:t>vào</a:t>
            </a:r>
            <a:r>
              <a:rPr lang="en-US" dirty="0"/>
              <a:t> </a:t>
            </a:r>
            <a:r>
              <a:rPr lang="en-US" dirty="0" err="1"/>
              <a:t>trình</a:t>
            </a:r>
            <a:r>
              <a:rPr lang="en-US" dirty="0"/>
              <a:t> </a:t>
            </a:r>
            <a:r>
              <a:rPr lang="en-US" dirty="0" err="1"/>
              <a:t>duyệt</a:t>
            </a:r>
            <a:r>
              <a:rPr lang="en-US" dirty="0"/>
              <a:t>, </a:t>
            </a:r>
            <a:r>
              <a:rPr lang="en-US" dirty="0" err="1"/>
              <a:t>thiết</a:t>
            </a:r>
            <a:r>
              <a:rPr lang="en-US" dirty="0"/>
              <a:t> </a:t>
            </a:r>
            <a:r>
              <a:rPr lang="en-US" dirty="0" err="1"/>
              <a:t>bị</a:t>
            </a:r>
            <a:r>
              <a:rPr lang="en-US" dirty="0"/>
              <a:t> </a:t>
            </a:r>
            <a:r>
              <a:rPr lang="en-US" dirty="0" err="1"/>
              <a:t>của</a:t>
            </a:r>
            <a:r>
              <a:rPr lang="en-US" dirty="0"/>
              <a:t> </a:t>
            </a:r>
            <a:r>
              <a:rPr lang="en-US" dirty="0" err="1"/>
              <a:t>bạn</a:t>
            </a:r>
            <a:r>
              <a:rPr lang="en-US" dirty="0"/>
              <a:t> </a:t>
            </a:r>
            <a:r>
              <a:rPr lang="en-US" dirty="0" err="1"/>
              <a:t>sẽ</a:t>
            </a:r>
            <a:r>
              <a:rPr lang="en-US" dirty="0"/>
              <a:t> </a:t>
            </a:r>
            <a:r>
              <a:rPr lang="en-US" dirty="0" err="1"/>
              <a:t>gửi</a:t>
            </a:r>
            <a:r>
              <a:rPr lang="en-US" dirty="0"/>
              <a:t> </a:t>
            </a:r>
            <a:r>
              <a:rPr lang="en-US" dirty="0" err="1"/>
              <a:t>yêu</a:t>
            </a:r>
            <a:r>
              <a:rPr lang="en-US" dirty="0"/>
              <a:t> </a:t>
            </a:r>
            <a:r>
              <a:rPr lang="en-US" dirty="0" err="1"/>
              <a:t>cầu</a:t>
            </a:r>
            <a:r>
              <a:rPr lang="en-US" dirty="0"/>
              <a:t> </a:t>
            </a:r>
            <a:r>
              <a:rPr lang="en-US" dirty="0" err="1"/>
              <a:t>đến</a:t>
            </a:r>
            <a:r>
              <a:rPr lang="en-US" dirty="0"/>
              <a:t> ISP. </a:t>
            </a:r>
            <a:r>
              <a:rPr lang="en-US" dirty="0" err="1"/>
              <a:t>Từ</a:t>
            </a:r>
            <a:r>
              <a:rPr lang="en-US" dirty="0"/>
              <a:t> </a:t>
            </a:r>
            <a:r>
              <a:rPr lang="en-US" dirty="0" err="1"/>
              <a:t>đó</a:t>
            </a:r>
            <a:r>
              <a:rPr lang="en-US" dirty="0"/>
              <a:t>, ISP </a:t>
            </a:r>
            <a:r>
              <a:rPr lang="en-US" dirty="0" err="1"/>
              <a:t>sử</a:t>
            </a:r>
            <a:r>
              <a:rPr lang="en-US" dirty="0"/>
              <a:t> </a:t>
            </a:r>
            <a:r>
              <a:rPr lang="en-US" dirty="0" err="1"/>
              <a:t>dụng</a:t>
            </a:r>
            <a:r>
              <a:rPr lang="en-US" dirty="0"/>
              <a:t> </a:t>
            </a:r>
            <a:r>
              <a:rPr lang="en-US" dirty="0" err="1"/>
              <a:t>máy</a:t>
            </a:r>
            <a:r>
              <a:rPr lang="en-US" dirty="0"/>
              <a:t> </a:t>
            </a:r>
            <a:r>
              <a:rPr lang="en-US" dirty="0" err="1"/>
              <a:t>chủ</a:t>
            </a:r>
            <a:r>
              <a:rPr lang="en-US" dirty="0"/>
              <a:t> DNS (Domain Name System) </a:t>
            </a:r>
            <a:r>
              <a:rPr lang="en-US" dirty="0" err="1"/>
              <a:t>để</a:t>
            </a:r>
            <a:r>
              <a:rPr lang="en-US" dirty="0"/>
              <a:t> </a:t>
            </a:r>
            <a:r>
              <a:rPr lang="en-US" dirty="0" err="1"/>
              <a:t>tìm</a:t>
            </a:r>
            <a:r>
              <a:rPr lang="en-US" dirty="0"/>
              <a:t> </a:t>
            </a:r>
            <a:r>
              <a:rPr lang="en-US" dirty="0" err="1"/>
              <a:t>địa</a:t>
            </a:r>
            <a:r>
              <a:rPr lang="en-US" dirty="0"/>
              <a:t> </a:t>
            </a:r>
            <a:r>
              <a:rPr lang="en-US" dirty="0" err="1"/>
              <a:t>chỉ</a:t>
            </a:r>
            <a:r>
              <a:rPr lang="en-US" dirty="0"/>
              <a:t> IP </a:t>
            </a:r>
            <a:r>
              <a:rPr lang="en-US" dirty="0" err="1"/>
              <a:t>tương</a:t>
            </a:r>
            <a:r>
              <a:rPr lang="en-US" dirty="0"/>
              <a:t> </a:t>
            </a:r>
            <a:r>
              <a:rPr lang="en-US" dirty="0" err="1"/>
              <a:t>ứng</a:t>
            </a:r>
            <a:r>
              <a:rPr lang="en-US" dirty="0"/>
              <a:t> </a:t>
            </a:r>
            <a:r>
              <a:rPr lang="en-US" dirty="0" err="1"/>
              <a:t>với</a:t>
            </a:r>
            <a:r>
              <a:rPr lang="en-US" dirty="0"/>
              <a:t> </a:t>
            </a:r>
            <a:r>
              <a:rPr lang="en-US" dirty="0" err="1"/>
              <a:t>tên</a:t>
            </a:r>
            <a:r>
              <a:rPr lang="en-US" dirty="0"/>
              <a:t> </a:t>
            </a:r>
            <a:r>
              <a:rPr lang="en-US" dirty="0" err="1"/>
              <a:t>miền</a:t>
            </a:r>
            <a:r>
              <a:rPr lang="en-US" dirty="0"/>
              <a:t> </a:t>
            </a:r>
            <a:r>
              <a:rPr lang="en-US" dirty="0" err="1"/>
              <a:t>đó</a:t>
            </a:r>
            <a:r>
              <a:rPr lang="en-US" dirty="0"/>
              <a:t>. DNS </a:t>
            </a:r>
            <a:r>
              <a:rPr lang="en-US" dirty="0" err="1"/>
              <a:t>hoạt</a:t>
            </a:r>
            <a:r>
              <a:rPr lang="en-US" dirty="0"/>
              <a:t> </a:t>
            </a:r>
            <a:r>
              <a:rPr lang="en-US" dirty="0" err="1"/>
              <a:t>động</a:t>
            </a:r>
            <a:r>
              <a:rPr lang="en-US" dirty="0"/>
              <a:t> </a:t>
            </a:r>
            <a:r>
              <a:rPr lang="en-US" dirty="0" err="1"/>
              <a:t>như</a:t>
            </a:r>
            <a:r>
              <a:rPr lang="en-US" dirty="0"/>
              <a:t> </a:t>
            </a:r>
            <a:r>
              <a:rPr lang="en-US" dirty="0" err="1"/>
              <a:t>một</a:t>
            </a:r>
            <a:r>
              <a:rPr lang="en-US" dirty="0"/>
              <a:t> </a:t>
            </a:r>
            <a:r>
              <a:rPr lang="en-US" dirty="0" err="1"/>
              <a:t>danh</a:t>
            </a:r>
            <a:r>
              <a:rPr lang="en-US" dirty="0"/>
              <a:t> </a:t>
            </a:r>
            <a:r>
              <a:rPr lang="en-US" dirty="0" err="1"/>
              <a:t>bạ</a:t>
            </a:r>
            <a:r>
              <a:rPr lang="en-US" dirty="0"/>
              <a:t> </a:t>
            </a:r>
            <a:r>
              <a:rPr lang="en-US" dirty="0" err="1"/>
              <a:t>điện</a:t>
            </a:r>
            <a:r>
              <a:rPr lang="en-US" dirty="0"/>
              <a:t> </a:t>
            </a:r>
            <a:r>
              <a:rPr lang="en-US" dirty="0" err="1"/>
              <a:t>thoại</a:t>
            </a:r>
            <a:r>
              <a:rPr lang="en-US" dirty="0"/>
              <a:t>, </a:t>
            </a:r>
            <a:r>
              <a:rPr lang="en-US" dirty="0" err="1"/>
              <a:t>giúp</a:t>
            </a:r>
            <a:r>
              <a:rPr lang="en-US" dirty="0"/>
              <a:t> </a:t>
            </a:r>
            <a:r>
              <a:rPr lang="en-US" dirty="0" err="1"/>
              <a:t>chuyển</a:t>
            </a:r>
            <a:r>
              <a:rPr lang="en-US" dirty="0"/>
              <a:t> </a:t>
            </a:r>
            <a:r>
              <a:rPr lang="en-US" dirty="0" err="1"/>
              <a:t>đổi</a:t>
            </a:r>
            <a:r>
              <a:rPr lang="en-US" dirty="0"/>
              <a:t> </a:t>
            </a:r>
            <a:r>
              <a:rPr lang="en-US" dirty="0" err="1"/>
              <a:t>tên</a:t>
            </a:r>
            <a:r>
              <a:rPr lang="en-US" dirty="0"/>
              <a:t> </a:t>
            </a:r>
            <a:r>
              <a:rPr lang="en-US" dirty="0" err="1"/>
              <a:t>miền</a:t>
            </a:r>
            <a:r>
              <a:rPr lang="en-US" dirty="0"/>
              <a:t> </a:t>
            </a:r>
            <a:r>
              <a:rPr lang="en-US" dirty="0" err="1"/>
              <a:t>dễ</a:t>
            </a:r>
            <a:r>
              <a:rPr lang="en-US" dirty="0"/>
              <a:t> </a:t>
            </a:r>
            <a:r>
              <a:rPr lang="en-US" dirty="0" err="1"/>
              <a:t>nhớ</a:t>
            </a:r>
            <a:r>
              <a:rPr lang="en-US" dirty="0"/>
              <a:t> </a:t>
            </a:r>
            <a:r>
              <a:rPr lang="en-US" dirty="0" err="1"/>
              <a:t>thành</a:t>
            </a:r>
            <a:r>
              <a:rPr lang="en-US" dirty="0"/>
              <a:t> </a:t>
            </a:r>
            <a:r>
              <a:rPr lang="en-US" dirty="0" err="1"/>
              <a:t>địa</a:t>
            </a:r>
            <a:r>
              <a:rPr lang="en-US" dirty="0"/>
              <a:t> </a:t>
            </a:r>
            <a:r>
              <a:rPr lang="en-US" dirty="0" err="1"/>
              <a:t>chỉ</a:t>
            </a:r>
            <a:r>
              <a:rPr lang="en-US" dirty="0"/>
              <a:t> IP </a:t>
            </a:r>
            <a:r>
              <a:rPr lang="en-US" dirty="0" err="1"/>
              <a:t>mà</a:t>
            </a:r>
            <a:r>
              <a:rPr lang="en-US" dirty="0"/>
              <a:t> </a:t>
            </a:r>
            <a:r>
              <a:rPr lang="en-US" dirty="0" err="1"/>
              <a:t>máy</a:t>
            </a:r>
            <a:r>
              <a:rPr lang="en-US" dirty="0"/>
              <a:t> </a:t>
            </a:r>
            <a:r>
              <a:rPr lang="en-US" dirty="0" err="1"/>
              <a:t>tính</a:t>
            </a:r>
            <a:r>
              <a:rPr lang="en-US" dirty="0"/>
              <a:t> </a:t>
            </a:r>
            <a:r>
              <a:rPr lang="en-US" dirty="0" err="1"/>
              <a:t>có</a:t>
            </a:r>
            <a:r>
              <a:rPr lang="en-US" dirty="0"/>
              <a:t> </a:t>
            </a:r>
            <a:r>
              <a:rPr lang="en-US" dirty="0" err="1"/>
              <a:t>thể</a:t>
            </a:r>
            <a:r>
              <a:rPr lang="en-US" dirty="0"/>
              <a:t> </a:t>
            </a:r>
            <a:r>
              <a:rPr lang="en-US" dirty="0" err="1"/>
              <a:t>hiểu</a:t>
            </a:r>
            <a:r>
              <a:rPr lang="en-US" dirty="0"/>
              <a:t> </a:t>
            </a:r>
            <a:r>
              <a:rPr lang="en-US" dirty="0" err="1"/>
              <a:t>được</a:t>
            </a:r>
            <a:r>
              <a:rPr lang="en-US" dirty="0"/>
              <a:t>.</a:t>
            </a:r>
          </a:p>
          <a:p>
            <a:r>
              <a:rPr lang="en-US" dirty="0" err="1"/>
              <a:t>Định</a:t>
            </a:r>
            <a:r>
              <a:rPr lang="en-US" dirty="0"/>
              <a:t> </a:t>
            </a:r>
            <a:r>
              <a:rPr lang="en-US" dirty="0" err="1"/>
              <a:t>Tuyến</a:t>
            </a:r>
            <a:r>
              <a:rPr lang="en-US" dirty="0"/>
              <a:t> </a:t>
            </a:r>
            <a:r>
              <a:rPr lang="en-US" dirty="0" err="1"/>
              <a:t>Dữ</a:t>
            </a:r>
            <a:r>
              <a:rPr lang="en-US" dirty="0"/>
              <a:t> </a:t>
            </a:r>
            <a:r>
              <a:rPr lang="en-US" dirty="0" err="1"/>
              <a:t>Liệu</a:t>
            </a:r>
            <a:r>
              <a:rPr lang="en-US" dirty="0"/>
              <a:t>: </a:t>
            </a:r>
            <a:r>
              <a:rPr lang="en-US" dirty="0" err="1"/>
              <a:t>Dữ</a:t>
            </a:r>
            <a:r>
              <a:rPr lang="en-US" dirty="0"/>
              <a:t> </a:t>
            </a:r>
            <a:r>
              <a:rPr lang="en-US" dirty="0" err="1"/>
              <a:t>liệu</a:t>
            </a:r>
            <a:r>
              <a:rPr lang="en-US" dirty="0"/>
              <a:t> </a:t>
            </a:r>
            <a:r>
              <a:rPr lang="en-US" dirty="0" err="1"/>
              <a:t>trên</a:t>
            </a:r>
            <a:r>
              <a:rPr lang="en-US" dirty="0"/>
              <a:t> Internet </a:t>
            </a:r>
            <a:r>
              <a:rPr lang="en-US" dirty="0" err="1"/>
              <a:t>được</a:t>
            </a:r>
            <a:r>
              <a:rPr lang="en-US" dirty="0"/>
              <a:t> </a:t>
            </a:r>
            <a:r>
              <a:rPr lang="en-US" dirty="0" err="1"/>
              <a:t>truyền</a:t>
            </a:r>
            <a:r>
              <a:rPr lang="en-US" dirty="0"/>
              <a:t> </a:t>
            </a:r>
            <a:r>
              <a:rPr lang="en-US" dirty="0" err="1"/>
              <a:t>tải</a:t>
            </a:r>
            <a:r>
              <a:rPr lang="en-US" dirty="0"/>
              <a:t> </a:t>
            </a:r>
            <a:r>
              <a:rPr lang="en-US" dirty="0" err="1"/>
              <a:t>dưới</a:t>
            </a:r>
            <a:r>
              <a:rPr lang="en-US" dirty="0"/>
              <a:t> </a:t>
            </a:r>
            <a:r>
              <a:rPr lang="en-US" dirty="0" err="1"/>
              <a:t>dạng</a:t>
            </a:r>
            <a:r>
              <a:rPr lang="en-US" dirty="0"/>
              <a:t> </a:t>
            </a:r>
            <a:r>
              <a:rPr lang="en-US" dirty="0" err="1"/>
              <a:t>các</a:t>
            </a:r>
            <a:r>
              <a:rPr lang="en-US" dirty="0"/>
              <a:t> </a:t>
            </a:r>
            <a:r>
              <a:rPr lang="en-US" dirty="0" err="1"/>
              <a:t>gói</a:t>
            </a:r>
            <a:r>
              <a:rPr lang="en-US" dirty="0"/>
              <a:t> tin. </a:t>
            </a:r>
            <a:r>
              <a:rPr lang="en-US" dirty="0" err="1"/>
              <a:t>Mỗi</a:t>
            </a:r>
            <a:r>
              <a:rPr lang="en-US" dirty="0"/>
              <a:t> </a:t>
            </a:r>
            <a:r>
              <a:rPr lang="en-US" dirty="0" err="1"/>
              <a:t>gói</a:t>
            </a:r>
            <a:r>
              <a:rPr lang="en-US" dirty="0"/>
              <a:t> tin </a:t>
            </a:r>
            <a:r>
              <a:rPr lang="en-US" dirty="0" err="1"/>
              <a:t>chứa</a:t>
            </a:r>
            <a:r>
              <a:rPr lang="en-US" dirty="0"/>
              <a:t> </a:t>
            </a:r>
            <a:r>
              <a:rPr lang="en-US" dirty="0" err="1"/>
              <a:t>địa</a:t>
            </a:r>
            <a:r>
              <a:rPr lang="en-US" dirty="0"/>
              <a:t> </a:t>
            </a:r>
            <a:r>
              <a:rPr lang="en-US" dirty="0" err="1"/>
              <a:t>chỉ</a:t>
            </a:r>
            <a:r>
              <a:rPr lang="en-US" dirty="0"/>
              <a:t> IP </a:t>
            </a:r>
            <a:r>
              <a:rPr lang="en-US" dirty="0" err="1"/>
              <a:t>của</a:t>
            </a:r>
            <a:r>
              <a:rPr lang="en-US" dirty="0"/>
              <a:t> </a:t>
            </a:r>
            <a:r>
              <a:rPr lang="en-US" dirty="0" err="1"/>
              <a:t>máy</a:t>
            </a:r>
            <a:r>
              <a:rPr lang="en-US" dirty="0"/>
              <a:t> </a:t>
            </a:r>
            <a:r>
              <a:rPr lang="en-US" dirty="0" err="1"/>
              <a:t>gửi</a:t>
            </a:r>
            <a:r>
              <a:rPr lang="en-US" dirty="0"/>
              <a:t> </a:t>
            </a:r>
            <a:r>
              <a:rPr lang="en-US" dirty="0" err="1"/>
              <a:t>và</a:t>
            </a:r>
            <a:r>
              <a:rPr lang="en-US" dirty="0"/>
              <a:t> </a:t>
            </a:r>
            <a:r>
              <a:rPr lang="en-US" dirty="0" err="1"/>
              <a:t>máy</a:t>
            </a:r>
            <a:r>
              <a:rPr lang="en-US" dirty="0"/>
              <a:t> </a:t>
            </a:r>
            <a:r>
              <a:rPr lang="en-US" dirty="0" err="1"/>
              <a:t>nhận</a:t>
            </a:r>
            <a:r>
              <a:rPr lang="en-US" dirty="0"/>
              <a:t>, </a:t>
            </a:r>
            <a:r>
              <a:rPr lang="en-US" dirty="0" err="1"/>
              <a:t>cũng</a:t>
            </a:r>
            <a:r>
              <a:rPr lang="en-US" dirty="0"/>
              <a:t> </a:t>
            </a:r>
            <a:r>
              <a:rPr lang="en-US" dirty="0" err="1"/>
              <a:t>như</a:t>
            </a:r>
            <a:r>
              <a:rPr lang="en-US" dirty="0"/>
              <a:t> </a:t>
            </a:r>
            <a:r>
              <a:rPr lang="en-US" dirty="0" err="1"/>
              <a:t>nội</a:t>
            </a:r>
            <a:r>
              <a:rPr lang="en-US" dirty="0"/>
              <a:t> dung </a:t>
            </a:r>
            <a:r>
              <a:rPr lang="en-US" dirty="0" err="1"/>
              <a:t>dữ</a:t>
            </a:r>
            <a:r>
              <a:rPr lang="en-US" dirty="0"/>
              <a:t> </a:t>
            </a:r>
            <a:r>
              <a:rPr lang="en-US" dirty="0" err="1"/>
              <a:t>liệu</a:t>
            </a:r>
            <a:r>
              <a:rPr lang="en-US" dirty="0"/>
              <a:t>. </a:t>
            </a:r>
            <a:r>
              <a:rPr lang="en-US" dirty="0" err="1"/>
              <a:t>Các</a:t>
            </a:r>
            <a:r>
              <a:rPr lang="en-US" dirty="0"/>
              <a:t> </a:t>
            </a:r>
            <a:r>
              <a:rPr lang="en-US" dirty="0" err="1"/>
              <a:t>gói</a:t>
            </a:r>
            <a:r>
              <a:rPr lang="en-US" dirty="0"/>
              <a:t> tin </a:t>
            </a:r>
            <a:r>
              <a:rPr lang="en-US" dirty="0" err="1"/>
              <a:t>này</a:t>
            </a:r>
            <a:r>
              <a:rPr lang="en-US" dirty="0"/>
              <a:t> di </a:t>
            </a:r>
            <a:r>
              <a:rPr lang="en-US" dirty="0" err="1"/>
              <a:t>chuyển</a:t>
            </a:r>
            <a:r>
              <a:rPr lang="en-US" dirty="0"/>
              <a:t> qua </a:t>
            </a:r>
            <a:r>
              <a:rPr lang="en-US" dirty="0" err="1"/>
              <a:t>mạng</a:t>
            </a:r>
            <a:r>
              <a:rPr lang="en-US" dirty="0"/>
              <a:t> </a:t>
            </a:r>
            <a:r>
              <a:rPr lang="en-US" dirty="0" err="1"/>
              <a:t>thông</a:t>
            </a:r>
            <a:r>
              <a:rPr lang="en-US" dirty="0"/>
              <a:t> qua </a:t>
            </a:r>
            <a:r>
              <a:rPr lang="en-US" dirty="0" err="1"/>
              <a:t>bộ</a:t>
            </a:r>
            <a:r>
              <a:rPr lang="en-US" dirty="0"/>
              <a:t> </a:t>
            </a:r>
            <a:r>
              <a:rPr lang="en-US" dirty="0" err="1"/>
              <a:t>định</a:t>
            </a:r>
            <a:r>
              <a:rPr lang="en-US" dirty="0"/>
              <a:t> </a:t>
            </a:r>
            <a:r>
              <a:rPr lang="en-US" dirty="0" err="1"/>
              <a:t>tuyến</a:t>
            </a:r>
            <a:r>
              <a:rPr lang="en-US" dirty="0"/>
              <a:t> (router) </a:t>
            </a:r>
            <a:r>
              <a:rPr lang="en-US" dirty="0" err="1"/>
              <a:t>từ</a:t>
            </a:r>
            <a:r>
              <a:rPr lang="en-US" dirty="0"/>
              <a:t> </a:t>
            </a:r>
            <a:r>
              <a:rPr lang="en-US" dirty="0" err="1"/>
              <a:t>máy</a:t>
            </a:r>
            <a:r>
              <a:rPr lang="en-US" dirty="0"/>
              <a:t> </a:t>
            </a:r>
            <a:r>
              <a:rPr lang="en-US" dirty="0" err="1"/>
              <a:t>chủ</a:t>
            </a:r>
            <a:r>
              <a:rPr lang="en-US" dirty="0"/>
              <a:t> </a:t>
            </a:r>
            <a:r>
              <a:rPr lang="en-US" dirty="0" err="1"/>
              <a:t>đến</a:t>
            </a:r>
            <a:r>
              <a:rPr lang="en-US" dirty="0"/>
              <a:t> </a:t>
            </a:r>
            <a:r>
              <a:rPr lang="en-US" dirty="0" err="1"/>
              <a:t>máy</a:t>
            </a:r>
            <a:r>
              <a:rPr lang="en-US" dirty="0"/>
              <a:t> </a:t>
            </a:r>
            <a:r>
              <a:rPr lang="en-US" dirty="0" err="1"/>
              <a:t>chủ</a:t>
            </a:r>
            <a:r>
              <a:rPr lang="en-US" dirty="0"/>
              <a:t>, </a:t>
            </a:r>
            <a:r>
              <a:rPr lang="en-US" dirty="0" err="1"/>
              <a:t>tìm</a:t>
            </a:r>
            <a:r>
              <a:rPr lang="en-US" dirty="0"/>
              <a:t> </a:t>
            </a:r>
            <a:r>
              <a:rPr lang="en-US" dirty="0" err="1"/>
              <a:t>đường</a:t>
            </a:r>
            <a:r>
              <a:rPr lang="en-US" dirty="0"/>
              <a:t> </a:t>
            </a:r>
            <a:r>
              <a:rPr lang="en-US" dirty="0" err="1"/>
              <a:t>ngắn</a:t>
            </a:r>
            <a:r>
              <a:rPr lang="en-US" dirty="0"/>
              <a:t> </a:t>
            </a:r>
            <a:r>
              <a:rPr lang="en-US" dirty="0" err="1"/>
              <a:t>nhất</a:t>
            </a:r>
            <a:r>
              <a:rPr lang="en-US" dirty="0"/>
              <a:t> </a:t>
            </a:r>
            <a:r>
              <a:rPr lang="en-US" dirty="0" err="1"/>
              <a:t>để</a:t>
            </a:r>
            <a:r>
              <a:rPr lang="en-US" dirty="0"/>
              <a:t> </a:t>
            </a:r>
            <a:r>
              <a:rPr lang="en-US" dirty="0" err="1"/>
              <a:t>đến</a:t>
            </a:r>
            <a:r>
              <a:rPr lang="en-US" dirty="0"/>
              <a:t> </a:t>
            </a:r>
            <a:r>
              <a:rPr lang="en-US" dirty="0" err="1"/>
              <a:t>đích</a:t>
            </a:r>
            <a:r>
              <a:rPr lang="en-US" dirty="0"/>
              <a:t>.</a:t>
            </a:r>
          </a:p>
          <a:p>
            <a:r>
              <a:rPr lang="en-US" dirty="0" err="1"/>
              <a:t>Giao</a:t>
            </a:r>
            <a:r>
              <a:rPr lang="en-US" dirty="0"/>
              <a:t> </a:t>
            </a:r>
            <a:r>
              <a:rPr lang="en-US" dirty="0" err="1"/>
              <a:t>Thức</a:t>
            </a:r>
            <a:r>
              <a:rPr lang="en-US" dirty="0"/>
              <a:t> Internet: </a:t>
            </a:r>
            <a:r>
              <a:rPr lang="en-US" dirty="0" err="1"/>
              <a:t>Các</a:t>
            </a:r>
            <a:r>
              <a:rPr lang="en-US" dirty="0"/>
              <a:t> </a:t>
            </a:r>
            <a:r>
              <a:rPr lang="en-US" dirty="0" err="1"/>
              <a:t>gói</a:t>
            </a:r>
            <a:r>
              <a:rPr lang="en-US" dirty="0"/>
              <a:t> tin </a:t>
            </a:r>
            <a:r>
              <a:rPr lang="en-US" dirty="0" err="1"/>
              <a:t>dữ</a:t>
            </a:r>
            <a:r>
              <a:rPr lang="en-US" dirty="0"/>
              <a:t> </a:t>
            </a:r>
            <a:r>
              <a:rPr lang="en-US" dirty="0" err="1"/>
              <a:t>liệu</a:t>
            </a:r>
            <a:r>
              <a:rPr lang="en-US" dirty="0"/>
              <a:t> </a:t>
            </a:r>
            <a:r>
              <a:rPr lang="en-US" dirty="0" err="1"/>
              <a:t>được</a:t>
            </a:r>
            <a:r>
              <a:rPr lang="en-US" dirty="0"/>
              <a:t> </a:t>
            </a:r>
            <a:r>
              <a:rPr lang="en-US" dirty="0" err="1"/>
              <a:t>gửi</a:t>
            </a:r>
            <a:r>
              <a:rPr lang="en-US" dirty="0"/>
              <a:t> </a:t>
            </a:r>
            <a:r>
              <a:rPr lang="en-US" dirty="0" err="1"/>
              <a:t>và</a:t>
            </a:r>
            <a:r>
              <a:rPr lang="en-US" dirty="0"/>
              <a:t> </a:t>
            </a:r>
            <a:r>
              <a:rPr lang="en-US" dirty="0" err="1"/>
              <a:t>nhận</a:t>
            </a:r>
            <a:r>
              <a:rPr lang="en-US" dirty="0"/>
              <a:t> </a:t>
            </a:r>
            <a:r>
              <a:rPr lang="en-US" dirty="0" err="1"/>
              <a:t>thông</a:t>
            </a:r>
            <a:r>
              <a:rPr lang="en-US" dirty="0"/>
              <a:t> qua </a:t>
            </a:r>
            <a:r>
              <a:rPr lang="en-US" dirty="0" err="1"/>
              <a:t>giao</a:t>
            </a:r>
            <a:r>
              <a:rPr lang="en-US" dirty="0"/>
              <a:t> </a:t>
            </a:r>
            <a:r>
              <a:rPr lang="en-US" dirty="0" err="1"/>
              <a:t>thức</a:t>
            </a:r>
            <a:r>
              <a:rPr lang="en-US" dirty="0"/>
              <a:t> Internet, bao </a:t>
            </a:r>
            <a:r>
              <a:rPr lang="en-US" dirty="0" err="1"/>
              <a:t>gồm</a:t>
            </a:r>
            <a:r>
              <a:rPr lang="en-US" dirty="0"/>
              <a:t> IP (Internet Protocol) </a:t>
            </a:r>
            <a:r>
              <a:rPr lang="en-US" dirty="0" err="1"/>
              <a:t>và</a:t>
            </a:r>
            <a:r>
              <a:rPr lang="en-US" dirty="0"/>
              <a:t> TCP (Transmission Control Protocol). IP </a:t>
            </a:r>
            <a:r>
              <a:rPr lang="en-US" dirty="0" err="1"/>
              <a:t>quản</a:t>
            </a:r>
            <a:r>
              <a:rPr lang="en-US" dirty="0"/>
              <a:t> </a:t>
            </a:r>
            <a:r>
              <a:rPr lang="en-US" dirty="0" err="1"/>
              <a:t>lý</a:t>
            </a:r>
            <a:r>
              <a:rPr lang="en-US" dirty="0"/>
              <a:t> </a:t>
            </a:r>
            <a:r>
              <a:rPr lang="en-US" dirty="0" err="1"/>
              <a:t>định</a:t>
            </a:r>
            <a:r>
              <a:rPr lang="en-US" dirty="0"/>
              <a:t> </a:t>
            </a:r>
            <a:r>
              <a:rPr lang="en-US" dirty="0" err="1"/>
              <a:t>tuyến</a:t>
            </a:r>
            <a:r>
              <a:rPr lang="en-US" dirty="0"/>
              <a:t> </a:t>
            </a:r>
            <a:r>
              <a:rPr lang="en-US" dirty="0" err="1"/>
              <a:t>và</a:t>
            </a:r>
            <a:r>
              <a:rPr lang="en-US" dirty="0"/>
              <a:t> </a:t>
            </a:r>
            <a:r>
              <a:rPr lang="en-US" dirty="0" err="1"/>
              <a:t>xác</a:t>
            </a:r>
            <a:r>
              <a:rPr lang="en-US" dirty="0"/>
              <a:t> </a:t>
            </a:r>
            <a:r>
              <a:rPr lang="en-US" dirty="0" err="1"/>
              <a:t>định</a:t>
            </a:r>
            <a:r>
              <a:rPr lang="en-US" dirty="0"/>
              <a:t> </a:t>
            </a:r>
            <a:r>
              <a:rPr lang="en-US" dirty="0" err="1"/>
              <a:t>đích</a:t>
            </a:r>
            <a:r>
              <a:rPr lang="en-US" dirty="0"/>
              <a:t> </a:t>
            </a:r>
            <a:r>
              <a:rPr lang="en-US" dirty="0" err="1"/>
              <a:t>đến</a:t>
            </a:r>
            <a:r>
              <a:rPr lang="en-US" dirty="0"/>
              <a:t> </a:t>
            </a:r>
            <a:r>
              <a:rPr lang="en-US" dirty="0" err="1"/>
              <a:t>của</a:t>
            </a:r>
            <a:r>
              <a:rPr lang="en-US" dirty="0"/>
              <a:t> </a:t>
            </a:r>
            <a:r>
              <a:rPr lang="en-US" dirty="0" err="1"/>
              <a:t>gói</a:t>
            </a:r>
            <a:r>
              <a:rPr lang="en-US" dirty="0"/>
              <a:t> tin, </a:t>
            </a:r>
            <a:r>
              <a:rPr lang="en-US" dirty="0" err="1"/>
              <a:t>trong</a:t>
            </a:r>
            <a:r>
              <a:rPr lang="en-US" dirty="0"/>
              <a:t> </a:t>
            </a:r>
            <a:r>
              <a:rPr lang="en-US" dirty="0" err="1"/>
              <a:t>khi</a:t>
            </a:r>
            <a:r>
              <a:rPr lang="en-US" dirty="0"/>
              <a:t> TCP </a:t>
            </a:r>
            <a:r>
              <a:rPr lang="en-US" dirty="0" err="1"/>
              <a:t>đảm</a:t>
            </a:r>
            <a:r>
              <a:rPr lang="en-US" dirty="0"/>
              <a:t> </a:t>
            </a:r>
            <a:r>
              <a:rPr lang="en-US" dirty="0" err="1"/>
              <a:t>bảo</a:t>
            </a:r>
            <a:r>
              <a:rPr lang="en-US" dirty="0"/>
              <a:t> </a:t>
            </a:r>
            <a:r>
              <a:rPr lang="en-US" dirty="0" err="1"/>
              <a:t>rằng</a:t>
            </a:r>
            <a:r>
              <a:rPr lang="en-US" dirty="0"/>
              <a:t> </a:t>
            </a:r>
            <a:r>
              <a:rPr lang="en-US" dirty="0" err="1"/>
              <a:t>dữ</a:t>
            </a:r>
            <a:r>
              <a:rPr lang="en-US" dirty="0"/>
              <a:t> </a:t>
            </a:r>
            <a:r>
              <a:rPr lang="en-US" dirty="0" err="1"/>
              <a:t>liệu</a:t>
            </a:r>
            <a:r>
              <a:rPr lang="en-US" dirty="0"/>
              <a:t> </a:t>
            </a:r>
            <a:r>
              <a:rPr lang="en-US" dirty="0" err="1"/>
              <a:t>được</a:t>
            </a:r>
            <a:r>
              <a:rPr lang="en-US" dirty="0"/>
              <a:t> </a:t>
            </a:r>
            <a:r>
              <a:rPr lang="en-US" dirty="0" err="1"/>
              <a:t>truyền</a:t>
            </a:r>
            <a:r>
              <a:rPr lang="en-US" dirty="0"/>
              <a:t> </a:t>
            </a:r>
            <a:r>
              <a:rPr lang="en-US" dirty="0" err="1"/>
              <a:t>tải</a:t>
            </a:r>
            <a:r>
              <a:rPr lang="en-US" dirty="0"/>
              <a:t> </a:t>
            </a:r>
            <a:r>
              <a:rPr lang="en-US" dirty="0" err="1"/>
              <a:t>đúng</a:t>
            </a:r>
            <a:r>
              <a:rPr lang="en-US" dirty="0"/>
              <a:t> </a:t>
            </a:r>
            <a:r>
              <a:rPr lang="en-US" dirty="0" err="1"/>
              <a:t>cách</a:t>
            </a:r>
            <a:r>
              <a:rPr lang="en-US" dirty="0"/>
              <a:t> </a:t>
            </a:r>
            <a:r>
              <a:rPr lang="en-US" dirty="0" err="1"/>
              <a:t>và</a:t>
            </a:r>
            <a:r>
              <a:rPr lang="en-US" dirty="0"/>
              <a:t> an </a:t>
            </a:r>
            <a:r>
              <a:rPr lang="en-US" dirty="0" err="1"/>
              <a:t>toàn</a:t>
            </a:r>
            <a:r>
              <a:rPr lang="en-US" dirty="0"/>
              <a:t>.</a:t>
            </a:r>
          </a:p>
          <a:p>
            <a:r>
              <a:rPr lang="en-US" dirty="0" err="1"/>
              <a:t>Truyền</a:t>
            </a:r>
            <a:r>
              <a:rPr lang="en-US" dirty="0"/>
              <a:t> </a:t>
            </a:r>
            <a:r>
              <a:rPr lang="en-US" dirty="0" err="1"/>
              <a:t>tải</a:t>
            </a:r>
            <a:r>
              <a:rPr lang="en-US" dirty="0"/>
              <a:t> </a:t>
            </a:r>
            <a:r>
              <a:rPr lang="en-US" dirty="0" err="1"/>
              <a:t>dữ</a:t>
            </a:r>
            <a:r>
              <a:rPr lang="en-US" dirty="0"/>
              <a:t> </a:t>
            </a:r>
            <a:r>
              <a:rPr lang="en-US" dirty="0" err="1"/>
              <a:t>liệu</a:t>
            </a:r>
            <a:r>
              <a:rPr lang="en-US" dirty="0"/>
              <a:t> : </a:t>
            </a:r>
            <a:r>
              <a:rPr lang="en-US" dirty="0" err="1"/>
              <a:t>Khi</a:t>
            </a:r>
            <a:r>
              <a:rPr lang="en-US" dirty="0"/>
              <a:t> </a:t>
            </a:r>
            <a:r>
              <a:rPr lang="en-US" dirty="0" err="1"/>
              <a:t>các</a:t>
            </a:r>
            <a:r>
              <a:rPr lang="en-US" dirty="0"/>
              <a:t> </a:t>
            </a:r>
            <a:r>
              <a:rPr lang="en-US" dirty="0" err="1"/>
              <a:t>gói</a:t>
            </a:r>
            <a:r>
              <a:rPr lang="en-US" dirty="0"/>
              <a:t> tin </a:t>
            </a:r>
            <a:r>
              <a:rPr lang="en-US" dirty="0" err="1"/>
              <a:t>đến</a:t>
            </a:r>
            <a:r>
              <a:rPr lang="en-US" dirty="0"/>
              <a:t> </a:t>
            </a:r>
            <a:r>
              <a:rPr lang="en-US" dirty="0" err="1"/>
              <a:t>máy</a:t>
            </a:r>
            <a:r>
              <a:rPr lang="en-US" dirty="0"/>
              <a:t> </a:t>
            </a:r>
            <a:r>
              <a:rPr lang="en-US" dirty="0" err="1"/>
              <a:t>chủ</a:t>
            </a:r>
            <a:r>
              <a:rPr lang="en-US" dirty="0"/>
              <a:t> </a:t>
            </a:r>
            <a:r>
              <a:rPr lang="en-US" dirty="0" err="1"/>
              <a:t>đích</a:t>
            </a:r>
            <a:r>
              <a:rPr lang="en-US" dirty="0"/>
              <a:t>, </a:t>
            </a:r>
            <a:r>
              <a:rPr lang="en-US" dirty="0" err="1"/>
              <a:t>họ</a:t>
            </a:r>
            <a:r>
              <a:rPr lang="en-US" dirty="0"/>
              <a:t> </a:t>
            </a:r>
            <a:r>
              <a:rPr lang="en-US" dirty="0" err="1"/>
              <a:t>được</a:t>
            </a:r>
            <a:r>
              <a:rPr lang="en-US" dirty="0"/>
              <a:t> </a:t>
            </a:r>
            <a:r>
              <a:rPr lang="en-US" dirty="0" err="1"/>
              <a:t>sắp</a:t>
            </a:r>
            <a:r>
              <a:rPr lang="en-US" dirty="0"/>
              <a:t> </a:t>
            </a:r>
            <a:r>
              <a:rPr lang="en-US" dirty="0" err="1"/>
              <a:t>xếp</a:t>
            </a:r>
            <a:r>
              <a:rPr lang="en-US" dirty="0"/>
              <a:t> </a:t>
            </a:r>
            <a:r>
              <a:rPr lang="en-US" dirty="0" err="1"/>
              <a:t>lại</a:t>
            </a:r>
            <a:r>
              <a:rPr lang="en-US" dirty="0"/>
              <a:t> </a:t>
            </a:r>
            <a:r>
              <a:rPr lang="en-US" dirty="0" err="1"/>
              <a:t>và</a:t>
            </a:r>
            <a:r>
              <a:rPr lang="en-US" dirty="0"/>
              <a:t> </a:t>
            </a:r>
            <a:r>
              <a:rPr lang="en-US" dirty="0" err="1"/>
              <a:t>hiển</a:t>
            </a:r>
            <a:r>
              <a:rPr lang="en-US" dirty="0"/>
              <a:t> </a:t>
            </a:r>
            <a:r>
              <a:rPr lang="en-US" dirty="0" err="1"/>
              <a:t>thị</a:t>
            </a:r>
            <a:r>
              <a:rPr lang="en-US" dirty="0"/>
              <a:t> </a:t>
            </a:r>
            <a:r>
              <a:rPr lang="en-US" dirty="0" err="1"/>
              <a:t>trên</a:t>
            </a:r>
            <a:r>
              <a:rPr lang="en-US" dirty="0"/>
              <a:t> </a:t>
            </a:r>
            <a:r>
              <a:rPr lang="en-US" dirty="0" err="1"/>
              <a:t>trình</a:t>
            </a:r>
            <a:r>
              <a:rPr lang="en-US" dirty="0"/>
              <a:t> </a:t>
            </a:r>
            <a:r>
              <a:rPr lang="en-US" dirty="0" err="1"/>
              <a:t>duyệt</a:t>
            </a:r>
            <a:r>
              <a:rPr lang="en-US" dirty="0"/>
              <a:t> </a:t>
            </a:r>
            <a:r>
              <a:rPr lang="en-US" dirty="0" err="1"/>
              <a:t>của</a:t>
            </a:r>
            <a:r>
              <a:rPr lang="en-US" dirty="0"/>
              <a:t> </a:t>
            </a:r>
            <a:r>
              <a:rPr lang="en-US" dirty="0" err="1"/>
              <a:t>bạn</a:t>
            </a:r>
            <a:r>
              <a:rPr lang="en-US" dirty="0"/>
              <a:t> </a:t>
            </a:r>
            <a:r>
              <a:rPr lang="en-US" dirty="0" err="1"/>
              <a:t>dưới</a:t>
            </a:r>
            <a:r>
              <a:rPr lang="en-US" dirty="0"/>
              <a:t> </a:t>
            </a:r>
            <a:r>
              <a:rPr lang="en-US" dirty="0" err="1"/>
              <a:t>dạng</a:t>
            </a:r>
            <a:r>
              <a:rPr lang="en-US" dirty="0"/>
              <a:t> </a:t>
            </a:r>
            <a:r>
              <a:rPr lang="en-US" dirty="0" err="1"/>
              <a:t>trang</a:t>
            </a:r>
            <a:r>
              <a:rPr lang="en-US" dirty="0"/>
              <a:t> web </a:t>
            </a:r>
            <a:r>
              <a:rPr lang="en-US" dirty="0" err="1"/>
              <a:t>hoặc</a:t>
            </a:r>
            <a:r>
              <a:rPr lang="en-US" dirty="0"/>
              <a:t> </a:t>
            </a:r>
            <a:r>
              <a:rPr lang="en-US" dirty="0" err="1"/>
              <a:t>ứng</a:t>
            </a:r>
            <a:r>
              <a:rPr lang="en-US" dirty="0"/>
              <a:t> </a:t>
            </a:r>
            <a:r>
              <a:rPr lang="en-US" dirty="0" err="1"/>
              <a:t>dụng</a:t>
            </a:r>
            <a:r>
              <a:rPr lang="en-US" dirty="0"/>
              <a:t>. </a:t>
            </a:r>
            <a:r>
              <a:rPr lang="en-US" dirty="0" err="1"/>
              <a:t>Toàn</a:t>
            </a:r>
            <a:r>
              <a:rPr lang="en-US" dirty="0"/>
              <a:t> </a:t>
            </a:r>
            <a:r>
              <a:rPr lang="en-US" dirty="0" err="1"/>
              <a:t>bộ</a:t>
            </a:r>
            <a:r>
              <a:rPr lang="en-US" dirty="0"/>
              <a:t> </a:t>
            </a:r>
            <a:r>
              <a:rPr lang="en-US" dirty="0" err="1"/>
              <a:t>quá</a:t>
            </a:r>
            <a:r>
              <a:rPr lang="en-US" dirty="0"/>
              <a:t> </a:t>
            </a:r>
            <a:r>
              <a:rPr lang="en-US" dirty="0" err="1"/>
              <a:t>trình</a:t>
            </a:r>
            <a:r>
              <a:rPr lang="en-US" dirty="0"/>
              <a:t> </a:t>
            </a:r>
            <a:r>
              <a:rPr lang="en-US" dirty="0" err="1"/>
              <a:t>này</a:t>
            </a:r>
            <a:r>
              <a:rPr lang="en-US" dirty="0"/>
              <a:t> </a:t>
            </a:r>
            <a:r>
              <a:rPr lang="en-US" dirty="0" err="1"/>
              <a:t>diễn</a:t>
            </a:r>
            <a:r>
              <a:rPr lang="en-US" dirty="0"/>
              <a:t> </a:t>
            </a:r>
            <a:r>
              <a:rPr lang="en-US" dirty="0" err="1"/>
              <a:t>ra</a:t>
            </a:r>
            <a:r>
              <a:rPr lang="en-US" dirty="0"/>
              <a:t> </a:t>
            </a:r>
            <a:r>
              <a:rPr lang="en-US" dirty="0" err="1"/>
              <a:t>trong</a:t>
            </a:r>
            <a:r>
              <a:rPr lang="en-US" dirty="0"/>
              <a:t> </a:t>
            </a:r>
            <a:r>
              <a:rPr lang="en-US" dirty="0" err="1"/>
              <a:t>vòng</a:t>
            </a:r>
            <a:r>
              <a:rPr lang="en-US" dirty="0"/>
              <a:t> </a:t>
            </a:r>
            <a:r>
              <a:rPr lang="en-US" dirty="0" err="1"/>
              <a:t>một</a:t>
            </a:r>
            <a:r>
              <a:rPr lang="en-US" dirty="0"/>
              <a:t> </a:t>
            </a:r>
            <a:r>
              <a:rPr lang="en-US" dirty="0" err="1"/>
              <a:t>chớp</a:t>
            </a:r>
            <a:r>
              <a:rPr lang="en-US" dirty="0"/>
              <a:t> </a:t>
            </a:r>
            <a:r>
              <a:rPr lang="en-US" dirty="0" err="1"/>
              <a:t>mắt</a:t>
            </a:r>
            <a:r>
              <a:rPr lang="en-US" dirty="0"/>
              <a:t>, </a:t>
            </a:r>
            <a:r>
              <a:rPr lang="en-US" dirty="0" err="1"/>
              <a:t>cho</a:t>
            </a:r>
            <a:r>
              <a:rPr lang="en-US" dirty="0"/>
              <a:t> </a:t>
            </a:r>
            <a:r>
              <a:rPr lang="en-US" dirty="0" err="1"/>
              <a:t>phép</a:t>
            </a:r>
            <a:r>
              <a:rPr lang="en-US" dirty="0"/>
              <a:t> </a:t>
            </a:r>
            <a:r>
              <a:rPr lang="en-US" dirty="0" err="1"/>
              <a:t>bạn</a:t>
            </a:r>
            <a:r>
              <a:rPr lang="en-US" dirty="0"/>
              <a:t> </a:t>
            </a:r>
            <a:r>
              <a:rPr lang="en-US" dirty="0" err="1"/>
              <a:t>truy</a:t>
            </a:r>
            <a:r>
              <a:rPr lang="en-US" dirty="0"/>
              <a:t> </a:t>
            </a:r>
            <a:r>
              <a:rPr lang="en-US" dirty="0" err="1"/>
              <a:t>cập</a:t>
            </a:r>
            <a:r>
              <a:rPr lang="en-US" dirty="0"/>
              <a:t> </a:t>
            </a:r>
            <a:r>
              <a:rPr lang="en-US" dirty="0" err="1"/>
              <a:t>thông</a:t>
            </a:r>
            <a:r>
              <a:rPr lang="en-US" dirty="0"/>
              <a:t> tin </a:t>
            </a:r>
            <a:r>
              <a:rPr lang="en-US" dirty="0" err="1"/>
              <a:t>trên</a:t>
            </a:r>
            <a:r>
              <a:rPr lang="en-US" dirty="0"/>
              <a:t> Internet </a:t>
            </a:r>
            <a:r>
              <a:rPr lang="en-US" dirty="0" err="1"/>
              <a:t>một</a:t>
            </a:r>
            <a:r>
              <a:rPr lang="en-US" dirty="0"/>
              <a:t> </a:t>
            </a:r>
            <a:r>
              <a:rPr lang="en-US" dirty="0" err="1"/>
              <a:t>cách</a:t>
            </a:r>
            <a:r>
              <a:rPr lang="en-US" dirty="0"/>
              <a:t> </a:t>
            </a:r>
            <a:r>
              <a:rPr lang="en-US" dirty="0" err="1"/>
              <a:t>nhanh</a:t>
            </a:r>
            <a:r>
              <a:rPr lang="en-US" dirty="0"/>
              <a:t> </a:t>
            </a:r>
            <a:r>
              <a:rPr lang="en-US" dirty="0" err="1"/>
              <a:t>chóng</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Internet </a:t>
            </a:r>
            <a:r>
              <a:rPr lang="en-US" dirty="0" err="1"/>
              <a:t>đã</a:t>
            </a:r>
            <a:r>
              <a:rPr lang="en-US" dirty="0"/>
              <a:t> </a:t>
            </a:r>
            <a:r>
              <a:rPr lang="en-US" dirty="0" err="1"/>
              <a:t>trở</a:t>
            </a:r>
            <a:r>
              <a:rPr lang="en-US" dirty="0"/>
              <a:t> </a:t>
            </a:r>
            <a:r>
              <a:rPr lang="en-US" dirty="0" err="1"/>
              <a:t>thành</a:t>
            </a:r>
            <a:r>
              <a:rPr lang="en-US" dirty="0"/>
              <a:t> </a:t>
            </a:r>
            <a:r>
              <a:rPr lang="en-US" dirty="0" err="1"/>
              <a:t>một</a:t>
            </a:r>
            <a:r>
              <a:rPr lang="en-US" dirty="0"/>
              <a:t> </a:t>
            </a:r>
            <a:r>
              <a:rPr lang="en-US" dirty="0" err="1"/>
              <a:t>phần</a:t>
            </a:r>
            <a:r>
              <a:rPr lang="en-US" dirty="0"/>
              <a:t> </a:t>
            </a:r>
            <a:r>
              <a:rPr lang="en-US" dirty="0" err="1"/>
              <a:t>không</a:t>
            </a:r>
            <a:r>
              <a:rPr lang="en-US" dirty="0"/>
              <a:t> </a:t>
            </a:r>
            <a:r>
              <a:rPr lang="en-US" dirty="0" err="1"/>
              <a:t>thể</a:t>
            </a:r>
            <a:r>
              <a:rPr lang="en-US" dirty="0"/>
              <a:t> </a:t>
            </a:r>
            <a:r>
              <a:rPr lang="en-US" dirty="0" err="1"/>
              <a:t>thiếu</a:t>
            </a:r>
            <a:r>
              <a:rPr lang="en-US" dirty="0"/>
              <a:t> </a:t>
            </a:r>
            <a:r>
              <a:rPr lang="en-US" dirty="0" err="1"/>
              <a:t>trong</a:t>
            </a:r>
            <a:r>
              <a:rPr lang="en-US" dirty="0"/>
              <a:t> </a:t>
            </a:r>
            <a:r>
              <a:rPr lang="en-US" dirty="0" err="1"/>
              <a:t>cuộc</a:t>
            </a:r>
            <a:r>
              <a:rPr lang="en-US" dirty="0"/>
              <a:t> </a:t>
            </a:r>
            <a:r>
              <a:rPr lang="en-US" dirty="0" err="1"/>
              <a:t>sống</a:t>
            </a:r>
            <a:r>
              <a:rPr lang="en-US" dirty="0"/>
              <a:t> </a:t>
            </a:r>
            <a:r>
              <a:rPr lang="en-US" dirty="0" err="1"/>
              <a:t>hiện</a:t>
            </a:r>
            <a:r>
              <a:rPr lang="en-US" dirty="0"/>
              <a:t> </a:t>
            </a:r>
            <a:r>
              <a:rPr lang="en-US" dirty="0" err="1"/>
              <a:t>đại</a:t>
            </a:r>
            <a:r>
              <a:rPr lang="en-US" dirty="0"/>
              <a:t>, </a:t>
            </a:r>
            <a:r>
              <a:rPr lang="en-US" dirty="0" err="1"/>
              <a:t>thay</a:t>
            </a:r>
            <a:r>
              <a:rPr lang="en-US" dirty="0"/>
              <a:t> </a:t>
            </a:r>
            <a:r>
              <a:rPr lang="en-US" dirty="0" err="1"/>
              <a:t>đổi</a:t>
            </a:r>
            <a:r>
              <a:rPr lang="en-US" dirty="0"/>
              <a:t> </a:t>
            </a:r>
            <a:r>
              <a:rPr lang="en-US" dirty="0" err="1"/>
              <a:t>cách</a:t>
            </a:r>
            <a:r>
              <a:rPr lang="en-US" dirty="0"/>
              <a:t> con </a:t>
            </a:r>
            <a:r>
              <a:rPr lang="en-US" dirty="0" err="1"/>
              <a:t>người</a:t>
            </a:r>
            <a:r>
              <a:rPr lang="en-US" dirty="0"/>
              <a:t> </a:t>
            </a:r>
            <a:r>
              <a:rPr lang="en-US" dirty="0" err="1"/>
              <a:t>giao</a:t>
            </a:r>
            <a:r>
              <a:rPr lang="en-US" dirty="0"/>
              <a:t> </a:t>
            </a:r>
            <a:r>
              <a:rPr lang="en-US" dirty="0" err="1"/>
              <a:t>tiếp</a:t>
            </a:r>
            <a:r>
              <a:rPr lang="en-US" dirty="0"/>
              <a:t>, </a:t>
            </a:r>
            <a:r>
              <a:rPr lang="en-US" dirty="0" err="1"/>
              <a:t>học</a:t>
            </a:r>
            <a:r>
              <a:rPr lang="en-US" dirty="0"/>
              <a:t> </a:t>
            </a:r>
            <a:r>
              <a:rPr lang="en-US" dirty="0" err="1"/>
              <a:t>tập</a:t>
            </a:r>
            <a:r>
              <a:rPr lang="en-US" dirty="0"/>
              <a:t>, </a:t>
            </a:r>
            <a:r>
              <a:rPr lang="en-US" dirty="0" err="1"/>
              <a:t>làm</a:t>
            </a:r>
            <a:r>
              <a:rPr lang="en-US" dirty="0"/>
              <a:t> </a:t>
            </a:r>
            <a:r>
              <a:rPr lang="en-US" dirty="0" err="1"/>
              <a:t>việc</a:t>
            </a:r>
            <a:r>
              <a:rPr lang="en-US" dirty="0"/>
              <a:t> </a:t>
            </a:r>
            <a:r>
              <a:rPr lang="en-US" dirty="0" err="1"/>
              <a:t>và</a:t>
            </a:r>
            <a:r>
              <a:rPr lang="en-US" dirty="0"/>
              <a:t> </a:t>
            </a:r>
            <a:r>
              <a:rPr lang="en-US" dirty="0" err="1"/>
              <a:t>giải</a:t>
            </a:r>
            <a:r>
              <a:rPr lang="en-US" dirty="0"/>
              <a:t> </a:t>
            </a:r>
            <a:r>
              <a:rPr lang="en-US" dirty="0" err="1"/>
              <a:t>trí</a:t>
            </a:r>
            <a:r>
              <a:rPr lang="en-US" dirty="0"/>
              <a:t>. </a:t>
            </a:r>
            <a:r>
              <a:rPr lang="en-US" dirty="0" err="1"/>
              <a:t>Với</a:t>
            </a:r>
            <a:r>
              <a:rPr lang="en-US" dirty="0"/>
              <a:t> </a:t>
            </a:r>
            <a:r>
              <a:rPr lang="en-US" dirty="0" err="1"/>
              <a:t>khả</a:t>
            </a:r>
            <a:r>
              <a:rPr lang="en-US" dirty="0"/>
              <a:t> </a:t>
            </a:r>
            <a:r>
              <a:rPr lang="en-US" dirty="0" err="1"/>
              <a:t>năng</a:t>
            </a:r>
            <a:r>
              <a:rPr lang="en-US" dirty="0"/>
              <a:t> </a:t>
            </a:r>
            <a:r>
              <a:rPr lang="en-US" dirty="0" err="1"/>
              <a:t>kết</a:t>
            </a:r>
            <a:r>
              <a:rPr lang="en-US" dirty="0"/>
              <a:t> </a:t>
            </a:r>
            <a:r>
              <a:rPr lang="en-US" dirty="0" err="1"/>
              <a:t>nối</a:t>
            </a:r>
            <a:r>
              <a:rPr lang="en-US" dirty="0"/>
              <a:t> </a:t>
            </a:r>
            <a:r>
              <a:rPr lang="en-US" dirty="0" err="1"/>
              <a:t>không</a:t>
            </a:r>
            <a:r>
              <a:rPr lang="en-US" dirty="0"/>
              <a:t> </a:t>
            </a:r>
            <a:r>
              <a:rPr lang="en-US" dirty="0" err="1"/>
              <a:t>giới</a:t>
            </a:r>
            <a:r>
              <a:rPr lang="en-US" dirty="0"/>
              <a:t> </a:t>
            </a:r>
            <a:r>
              <a:rPr lang="en-US" dirty="0" err="1"/>
              <a:t>hạn</a:t>
            </a:r>
            <a:r>
              <a:rPr lang="en-US" dirty="0"/>
              <a:t>, Internet </a:t>
            </a:r>
            <a:r>
              <a:rPr lang="en-US" dirty="0" err="1"/>
              <a:t>mang</a:t>
            </a:r>
            <a:r>
              <a:rPr lang="en-US" dirty="0"/>
              <a:t> </a:t>
            </a:r>
            <a:r>
              <a:rPr lang="en-US" dirty="0" err="1"/>
              <a:t>lại</a:t>
            </a:r>
            <a:r>
              <a:rPr lang="en-US" dirty="0"/>
              <a:t> </a:t>
            </a:r>
            <a:r>
              <a:rPr lang="en-US" dirty="0" err="1"/>
              <a:t>nhiều</a:t>
            </a:r>
            <a:r>
              <a:rPr lang="en-US" dirty="0"/>
              <a:t> </a:t>
            </a:r>
            <a:r>
              <a:rPr lang="en-US" dirty="0" err="1"/>
              <a:t>lợi</a:t>
            </a:r>
            <a:r>
              <a:rPr lang="en-US" dirty="0"/>
              <a:t> </a:t>
            </a:r>
            <a:r>
              <a:rPr lang="en-US" dirty="0" err="1"/>
              <a:t>ích</a:t>
            </a:r>
            <a:r>
              <a:rPr lang="en-US" dirty="0"/>
              <a:t> to </a:t>
            </a:r>
            <a:r>
              <a:rPr lang="en-US" dirty="0" err="1"/>
              <a:t>lớn</a:t>
            </a:r>
            <a:r>
              <a:rPr lang="en-US" dirty="0"/>
              <a:t> </a:t>
            </a:r>
            <a:r>
              <a:rPr lang="en-US" dirty="0" err="1"/>
              <a:t>cho</a:t>
            </a:r>
            <a:r>
              <a:rPr lang="en-US" dirty="0"/>
              <a:t> </a:t>
            </a:r>
            <a:r>
              <a:rPr lang="en-US" dirty="0" err="1"/>
              <a:t>người</a:t>
            </a:r>
            <a:r>
              <a:rPr lang="en-US" dirty="0"/>
              <a:t> </a:t>
            </a:r>
            <a:r>
              <a:rPr lang="en-US" dirty="0" err="1"/>
              <a:t>dùng</a:t>
            </a:r>
            <a:r>
              <a:rPr lang="en-US" dirty="0"/>
              <a:t>:</a:t>
            </a:r>
          </a:p>
          <a:p>
            <a:endParaRPr lang="en-US" dirty="0"/>
          </a:p>
          <a:p>
            <a:r>
              <a:rPr lang="en-US" dirty="0" err="1"/>
              <a:t>Kết</a:t>
            </a:r>
            <a:r>
              <a:rPr lang="en-US" dirty="0"/>
              <a:t> </a:t>
            </a:r>
            <a:r>
              <a:rPr lang="en-US" dirty="0" err="1"/>
              <a:t>nối</a:t>
            </a:r>
            <a:r>
              <a:rPr lang="en-US" dirty="0"/>
              <a:t> </a:t>
            </a:r>
            <a:r>
              <a:rPr lang="en-US" dirty="0" err="1"/>
              <a:t>và</a:t>
            </a:r>
            <a:r>
              <a:rPr lang="en-US" dirty="0"/>
              <a:t> </a:t>
            </a:r>
            <a:r>
              <a:rPr lang="en-US" dirty="0" err="1"/>
              <a:t>giao</a:t>
            </a:r>
            <a:r>
              <a:rPr lang="en-US" dirty="0"/>
              <a:t> </a:t>
            </a:r>
            <a:r>
              <a:rPr lang="en-US" dirty="0" err="1"/>
              <a:t>tiếp</a:t>
            </a:r>
            <a:r>
              <a:rPr lang="en-US" dirty="0"/>
              <a:t> </a:t>
            </a:r>
            <a:r>
              <a:rPr lang="en-US" dirty="0" err="1"/>
              <a:t>toàn</a:t>
            </a:r>
            <a:r>
              <a:rPr lang="en-US" dirty="0"/>
              <a:t> </a:t>
            </a:r>
            <a:r>
              <a:rPr lang="en-US" dirty="0" err="1"/>
              <a:t>cầu</a:t>
            </a:r>
            <a:r>
              <a:rPr lang="en-US" dirty="0"/>
              <a:t>: Internet </a:t>
            </a:r>
            <a:r>
              <a:rPr lang="en-US" dirty="0" err="1"/>
              <a:t>giúp</a:t>
            </a:r>
            <a:r>
              <a:rPr lang="en-US" dirty="0"/>
              <a:t> </a:t>
            </a:r>
            <a:r>
              <a:rPr lang="en-US" dirty="0" err="1"/>
              <a:t>mọi</a:t>
            </a:r>
            <a:r>
              <a:rPr lang="en-US" dirty="0"/>
              <a:t> </a:t>
            </a:r>
            <a:r>
              <a:rPr lang="en-US" dirty="0" err="1"/>
              <a:t>người</a:t>
            </a:r>
            <a:r>
              <a:rPr lang="en-US" dirty="0"/>
              <a:t> </a:t>
            </a:r>
            <a:r>
              <a:rPr lang="en-US" dirty="0" err="1"/>
              <a:t>liên</a:t>
            </a:r>
            <a:r>
              <a:rPr lang="en-US" dirty="0"/>
              <a:t> </a:t>
            </a:r>
            <a:r>
              <a:rPr lang="en-US" dirty="0" err="1"/>
              <a:t>lạc</a:t>
            </a:r>
            <a:r>
              <a:rPr lang="en-US" dirty="0"/>
              <a:t> </a:t>
            </a:r>
            <a:r>
              <a:rPr lang="en-US" dirty="0" err="1"/>
              <a:t>dễ</a:t>
            </a:r>
            <a:r>
              <a:rPr lang="en-US" dirty="0"/>
              <a:t> </a:t>
            </a:r>
            <a:r>
              <a:rPr lang="en-US" dirty="0" err="1"/>
              <a:t>dàng</a:t>
            </a:r>
            <a:r>
              <a:rPr lang="en-US" dirty="0"/>
              <a:t> qua email, tin </a:t>
            </a:r>
            <a:r>
              <a:rPr lang="en-US" dirty="0" err="1"/>
              <a:t>nhắn</a:t>
            </a:r>
            <a:r>
              <a:rPr lang="en-US" dirty="0"/>
              <a:t>, </a:t>
            </a:r>
            <a:r>
              <a:rPr lang="en-US" dirty="0" err="1"/>
              <a:t>gọi</a:t>
            </a:r>
            <a:r>
              <a:rPr lang="en-US" dirty="0"/>
              <a:t> video </a:t>
            </a:r>
            <a:r>
              <a:rPr lang="en-US" dirty="0" err="1"/>
              <a:t>và</a:t>
            </a:r>
            <a:r>
              <a:rPr lang="en-US" dirty="0"/>
              <a:t> </a:t>
            </a:r>
            <a:r>
              <a:rPr lang="en-US" dirty="0" err="1"/>
              <a:t>họp</a:t>
            </a:r>
            <a:r>
              <a:rPr lang="en-US" dirty="0"/>
              <a:t> </a:t>
            </a:r>
            <a:r>
              <a:rPr lang="en-US" dirty="0" err="1"/>
              <a:t>trực</a:t>
            </a:r>
            <a:r>
              <a:rPr lang="en-US" dirty="0"/>
              <a:t> </a:t>
            </a:r>
            <a:r>
              <a:rPr lang="en-US" dirty="0" err="1"/>
              <a:t>tuyến</a:t>
            </a:r>
            <a:r>
              <a:rPr lang="en-US" dirty="0"/>
              <a:t>. </a:t>
            </a:r>
            <a:r>
              <a:rPr lang="en-US" dirty="0" err="1"/>
              <a:t>Điều</a:t>
            </a:r>
            <a:r>
              <a:rPr lang="en-US" dirty="0"/>
              <a:t> </a:t>
            </a:r>
            <a:r>
              <a:rPr lang="en-US" dirty="0" err="1"/>
              <a:t>này</a:t>
            </a:r>
            <a:r>
              <a:rPr lang="en-US" dirty="0"/>
              <a:t> </a:t>
            </a:r>
            <a:r>
              <a:rPr lang="en-US" dirty="0" err="1"/>
              <a:t>kết</a:t>
            </a:r>
            <a:r>
              <a:rPr lang="en-US" dirty="0"/>
              <a:t> </a:t>
            </a:r>
            <a:r>
              <a:rPr lang="en-US" dirty="0" err="1"/>
              <a:t>nối</a:t>
            </a:r>
            <a:r>
              <a:rPr lang="en-US" dirty="0"/>
              <a:t> con </a:t>
            </a:r>
            <a:r>
              <a:rPr lang="en-US" dirty="0" err="1"/>
              <a:t>người</a:t>
            </a:r>
            <a:r>
              <a:rPr lang="en-US" dirty="0"/>
              <a:t> </a:t>
            </a:r>
            <a:r>
              <a:rPr lang="en-US" dirty="0" err="1"/>
              <a:t>ở</a:t>
            </a:r>
            <a:r>
              <a:rPr lang="en-US" dirty="0"/>
              <a:t> </a:t>
            </a:r>
            <a:r>
              <a:rPr lang="en-US" dirty="0" err="1"/>
              <a:t>mọi</a:t>
            </a:r>
            <a:r>
              <a:rPr lang="en-US" dirty="0"/>
              <a:t> </a:t>
            </a:r>
            <a:r>
              <a:rPr lang="en-US" dirty="0" err="1"/>
              <a:t>nơi</a:t>
            </a:r>
            <a:r>
              <a:rPr lang="en-US" dirty="0"/>
              <a:t> </a:t>
            </a:r>
            <a:r>
              <a:rPr lang="en-US" dirty="0" err="1"/>
              <a:t>trên</a:t>
            </a:r>
            <a:r>
              <a:rPr lang="en-US" dirty="0"/>
              <a:t> </a:t>
            </a:r>
            <a:r>
              <a:rPr lang="en-US" dirty="0" err="1"/>
              <a:t>thế</a:t>
            </a:r>
            <a:r>
              <a:rPr lang="en-US" dirty="0"/>
              <a:t> </a:t>
            </a:r>
            <a:r>
              <a:rPr lang="en-US" dirty="0" err="1"/>
              <a:t>giới</a:t>
            </a:r>
            <a:r>
              <a:rPr lang="en-US" dirty="0"/>
              <a:t>, </a:t>
            </a:r>
            <a:r>
              <a:rPr lang="en-US" dirty="0" err="1"/>
              <a:t>phục</a:t>
            </a:r>
            <a:r>
              <a:rPr lang="en-US" dirty="0"/>
              <a:t> </a:t>
            </a:r>
            <a:r>
              <a:rPr lang="en-US" dirty="0" err="1"/>
              <a:t>vụ</a:t>
            </a:r>
            <a:r>
              <a:rPr lang="en-US" dirty="0"/>
              <a:t> </a:t>
            </a:r>
            <a:r>
              <a:rPr lang="en-US" dirty="0" err="1"/>
              <a:t>tốt</a:t>
            </a:r>
            <a:r>
              <a:rPr lang="en-US" dirty="0"/>
              <a:t> </a:t>
            </a:r>
            <a:r>
              <a:rPr lang="en-US" dirty="0" err="1"/>
              <a:t>cho</a:t>
            </a:r>
            <a:r>
              <a:rPr lang="en-US" dirty="0"/>
              <a:t> </a:t>
            </a:r>
            <a:r>
              <a:rPr lang="en-US" dirty="0" err="1"/>
              <a:t>học</a:t>
            </a:r>
            <a:r>
              <a:rPr lang="en-US" dirty="0"/>
              <a:t> </a:t>
            </a:r>
            <a:r>
              <a:rPr lang="en-US" dirty="0" err="1"/>
              <a:t>tập</a:t>
            </a:r>
            <a:r>
              <a:rPr lang="en-US" dirty="0"/>
              <a:t>, </a:t>
            </a:r>
            <a:r>
              <a:rPr lang="en-US" dirty="0" err="1"/>
              <a:t>công</a:t>
            </a:r>
            <a:r>
              <a:rPr lang="en-US" dirty="0"/>
              <a:t> </a:t>
            </a:r>
            <a:r>
              <a:rPr lang="en-US" dirty="0" err="1"/>
              <a:t>việc</a:t>
            </a:r>
            <a:r>
              <a:rPr lang="en-US" dirty="0"/>
              <a:t> </a:t>
            </a:r>
            <a:r>
              <a:rPr lang="en-US" dirty="0" err="1"/>
              <a:t>và</a:t>
            </a:r>
            <a:r>
              <a:rPr lang="en-US" dirty="0"/>
              <a:t> </a:t>
            </a:r>
            <a:r>
              <a:rPr lang="en-US" dirty="0" err="1"/>
              <a:t>giữ</a:t>
            </a:r>
            <a:r>
              <a:rPr lang="en-US" dirty="0"/>
              <a:t> </a:t>
            </a:r>
            <a:r>
              <a:rPr lang="en-US" dirty="0" err="1"/>
              <a:t>liên</a:t>
            </a:r>
            <a:r>
              <a:rPr lang="en-US" dirty="0"/>
              <a:t> </a:t>
            </a:r>
            <a:r>
              <a:rPr lang="en-US" dirty="0" err="1"/>
              <a:t>lạc</a:t>
            </a:r>
            <a:r>
              <a:rPr lang="en-US" dirty="0"/>
              <a:t> </a:t>
            </a:r>
            <a:r>
              <a:rPr lang="en-US" dirty="0" err="1"/>
              <a:t>cá</a:t>
            </a:r>
            <a:r>
              <a:rPr lang="en-US" dirty="0"/>
              <a:t> </a:t>
            </a:r>
            <a:r>
              <a:rPr lang="en-US" dirty="0" err="1"/>
              <a:t>nhân</a:t>
            </a:r>
            <a:r>
              <a:rPr lang="en-US" dirty="0"/>
              <a:t>.</a:t>
            </a:r>
          </a:p>
          <a:p>
            <a:endParaRPr lang="en-US" dirty="0"/>
          </a:p>
          <a:p>
            <a:r>
              <a:rPr lang="en-US" dirty="0" err="1"/>
              <a:t>Truy</a:t>
            </a:r>
            <a:r>
              <a:rPr lang="en-US" dirty="0"/>
              <a:t> </a:t>
            </a:r>
            <a:r>
              <a:rPr lang="en-US" dirty="0" err="1"/>
              <a:t>cập</a:t>
            </a:r>
            <a:r>
              <a:rPr lang="en-US" dirty="0"/>
              <a:t> </a:t>
            </a:r>
            <a:r>
              <a:rPr lang="en-US" dirty="0" err="1"/>
              <a:t>thông</a:t>
            </a:r>
            <a:r>
              <a:rPr lang="en-US" dirty="0"/>
              <a:t> tin </a:t>
            </a:r>
            <a:r>
              <a:rPr lang="en-US" dirty="0" err="1"/>
              <a:t>nhanh</a:t>
            </a:r>
            <a:r>
              <a:rPr lang="en-US" dirty="0"/>
              <a:t> </a:t>
            </a:r>
            <a:r>
              <a:rPr lang="en-US" dirty="0" err="1"/>
              <a:t>chóng</a:t>
            </a:r>
            <a:r>
              <a:rPr lang="en-US" dirty="0"/>
              <a:t>: </a:t>
            </a:r>
            <a:r>
              <a:rPr lang="en-US" dirty="0" err="1"/>
              <a:t>Người</a:t>
            </a:r>
            <a:r>
              <a:rPr lang="en-US" dirty="0"/>
              <a:t> </a:t>
            </a:r>
            <a:r>
              <a:rPr lang="en-US" dirty="0" err="1"/>
              <a:t>dùng</a:t>
            </a:r>
            <a:r>
              <a:rPr lang="en-US" dirty="0"/>
              <a:t> </a:t>
            </a:r>
            <a:r>
              <a:rPr lang="en-US" dirty="0" err="1"/>
              <a:t>có</a:t>
            </a:r>
            <a:r>
              <a:rPr lang="en-US" dirty="0"/>
              <a:t> </a:t>
            </a:r>
            <a:r>
              <a:rPr lang="en-US" dirty="0" err="1"/>
              <a:t>thể</a:t>
            </a:r>
            <a:r>
              <a:rPr lang="en-US" dirty="0"/>
              <a:t> </a:t>
            </a:r>
            <a:r>
              <a:rPr lang="en-US" dirty="0" err="1"/>
              <a:t>tra</a:t>
            </a:r>
            <a:r>
              <a:rPr lang="en-US" dirty="0"/>
              <a:t> </a:t>
            </a:r>
            <a:r>
              <a:rPr lang="en-US" dirty="0" err="1"/>
              <a:t>cứu</a:t>
            </a:r>
            <a:r>
              <a:rPr lang="en-US" dirty="0"/>
              <a:t> </a:t>
            </a:r>
            <a:r>
              <a:rPr lang="en-US" dirty="0" err="1"/>
              <a:t>bất</a:t>
            </a:r>
            <a:r>
              <a:rPr lang="en-US" dirty="0"/>
              <a:t> </a:t>
            </a:r>
            <a:r>
              <a:rPr lang="en-US" dirty="0" err="1"/>
              <a:t>kỳ</a:t>
            </a:r>
            <a:r>
              <a:rPr lang="en-US" dirty="0"/>
              <a:t> </a:t>
            </a:r>
            <a:r>
              <a:rPr lang="en-US" dirty="0" err="1"/>
              <a:t>thông</a:t>
            </a:r>
            <a:r>
              <a:rPr lang="en-US" dirty="0"/>
              <a:t> tin </a:t>
            </a:r>
            <a:r>
              <a:rPr lang="en-US" dirty="0" err="1"/>
              <a:t>nào</a:t>
            </a:r>
            <a:r>
              <a:rPr lang="en-US" dirty="0"/>
              <a:t> </a:t>
            </a:r>
            <a:r>
              <a:rPr lang="en-US" dirty="0" err="1"/>
              <a:t>trong</a:t>
            </a:r>
            <a:r>
              <a:rPr lang="en-US" dirty="0"/>
              <a:t> </a:t>
            </a:r>
            <a:r>
              <a:rPr lang="en-US" dirty="0" err="1"/>
              <a:t>vài</a:t>
            </a:r>
            <a:r>
              <a:rPr lang="en-US" dirty="0"/>
              <a:t> </a:t>
            </a:r>
            <a:r>
              <a:rPr lang="en-US" dirty="0" err="1"/>
              <a:t>giây</a:t>
            </a:r>
            <a:r>
              <a:rPr lang="en-US" dirty="0"/>
              <a:t>, </a:t>
            </a:r>
            <a:r>
              <a:rPr lang="en-US" dirty="0" err="1"/>
              <a:t>từ</a:t>
            </a:r>
            <a:r>
              <a:rPr lang="en-US" dirty="0"/>
              <a:t> tin </a:t>
            </a:r>
            <a:r>
              <a:rPr lang="en-US" dirty="0" err="1"/>
              <a:t>tức</a:t>
            </a:r>
            <a:r>
              <a:rPr lang="en-US" dirty="0"/>
              <a:t>, </a:t>
            </a:r>
            <a:r>
              <a:rPr lang="en-US" dirty="0" err="1"/>
              <a:t>kiến</a:t>
            </a:r>
            <a:r>
              <a:rPr lang="en-US" dirty="0"/>
              <a:t> </a:t>
            </a:r>
            <a:r>
              <a:rPr lang="en-US" dirty="0" err="1"/>
              <a:t>thức</a:t>
            </a:r>
            <a:r>
              <a:rPr lang="en-US" dirty="0"/>
              <a:t> </a:t>
            </a:r>
            <a:r>
              <a:rPr lang="en-US" dirty="0" err="1"/>
              <a:t>học</a:t>
            </a:r>
            <a:r>
              <a:rPr lang="en-US" dirty="0"/>
              <a:t> </a:t>
            </a:r>
            <a:r>
              <a:rPr lang="en-US" dirty="0" err="1"/>
              <a:t>thuật</a:t>
            </a:r>
            <a:r>
              <a:rPr lang="en-US" dirty="0"/>
              <a:t> </a:t>
            </a:r>
            <a:r>
              <a:rPr lang="en-US" dirty="0" err="1"/>
              <a:t>đến</a:t>
            </a:r>
            <a:r>
              <a:rPr lang="en-US" dirty="0"/>
              <a:t> </a:t>
            </a:r>
            <a:r>
              <a:rPr lang="en-US" dirty="0" err="1"/>
              <a:t>các</a:t>
            </a:r>
            <a:r>
              <a:rPr lang="en-US" dirty="0"/>
              <a:t> </a:t>
            </a:r>
            <a:r>
              <a:rPr lang="en-US" dirty="0" err="1"/>
              <a:t>mẹo</a:t>
            </a:r>
            <a:r>
              <a:rPr lang="en-US" dirty="0"/>
              <a:t> </a:t>
            </a:r>
            <a:r>
              <a:rPr lang="en-US" dirty="0" err="1"/>
              <a:t>vặt</a:t>
            </a:r>
            <a:r>
              <a:rPr lang="en-US" dirty="0"/>
              <a:t> </a:t>
            </a:r>
            <a:r>
              <a:rPr lang="en-US" dirty="0" err="1"/>
              <a:t>trong</a:t>
            </a:r>
            <a:r>
              <a:rPr lang="en-US" dirty="0"/>
              <a:t> </a:t>
            </a:r>
            <a:r>
              <a:rPr lang="en-US" dirty="0" err="1"/>
              <a:t>đời</a:t>
            </a:r>
            <a:r>
              <a:rPr lang="en-US" dirty="0"/>
              <a:t> </a:t>
            </a:r>
            <a:r>
              <a:rPr lang="en-US" dirty="0" err="1"/>
              <a:t>sống</a:t>
            </a:r>
            <a:r>
              <a:rPr lang="en-US" dirty="0"/>
              <a:t>, </a:t>
            </a:r>
            <a:r>
              <a:rPr lang="en-US" dirty="0" err="1"/>
              <a:t>nhờ</a:t>
            </a:r>
            <a:r>
              <a:rPr lang="en-US" dirty="0"/>
              <a:t> </a:t>
            </a:r>
            <a:r>
              <a:rPr lang="en-US" dirty="0" err="1"/>
              <a:t>các</a:t>
            </a:r>
            <a:r>
              <a:rPr lang="en-US" dirty="0"/>
              <a:t> </a:t>
            </a:r>
            <a:r>
              <a:rPr lang="en-US" dirty="0" err="1"/>
              <a:t>công</a:t>
            </a:r>
            <a:r>
              <a:rPr lang="en-US" dirty="0"/>
              <a:t> </a:t>
            </a:r>
            <a:r>
              <a:rPr lang="en-US" dirty="0" err="1"/>
              <a:t>cụ</a:t>
            </a:r>
            <a:r>
              <a:rPr lang="en-US" dirty="0"/>
              <a:t> </a:t>
            </a:r>
            <a:r>
              <a:rPr lang="en-US" dirty="0" err="1"/>
              <a:t>tìm</a:t>
            </a:r>
            <a:r>
              <a:rPr lang="en-US" dirty="0"/>
              <a:t> </a:t>
            </a:r>
            <a:r>
              <a:rPr lang="en-US" dirty="0" err="1"/>
              <a:t>kiếm</a:t>
            </a:r>
            <a:r>
              <a:rPr lang="en-US" dirty="0"/>
              <a:t> </a:t>
            </a:r>
            <a:r>
              <a:rPr lang="en-US" dirty="0" err="1"/>
              <a:t>và</a:t>
            </a:r>
            <a:r>
              <a:rPr lang="en-US" dirty="0"/>
              <a:t> website </a:t>
            </a:r>
            <a:r>
              <a:rPr lang="en-US" dirty="0" err="1"/>
              <a:t>chuyên</a:t>
            </a:r>
            <a:r>
              <a:rPr lang="en-US" dirty="0"/>
              <a:t> </a:t>
            </a:r>
            <a:r>
              <a:rPr lang="en-US" dirty="0" err="1"/>
              <a:t>ngành</a:t>
            </a:r>
            <a:r>
              <a:rPr lang="en-US" dirty="0"/>
              <a:t>.</a:t>
            </a:r>
          </a:p>
          <a:p>
            <a:endParaRPr lang="en-US" dirty="0"/>
          </a:p>
          <a:p>
            <a:r>
              <a:rPr lang="en-US" dirty="0" err="1"/>
              <a:t>Học</a:t>
            </a:r>
            <a:r>
              <a:rPr lang="en-US" dirty="0"/>
              <a:t> </a:t>
            </a:r>
            <a:r>
              <a:rPr lang="en-US" dirty="0" err="1"/>
              <a:t>tập</a:t>
            </a:r>
            <a:r>
              <a:rPr lang="en-US" dirty="0"/>
              <a:t> </a:t>
            </a:r>
            <a:r>
              <a:rPr lang="en-US" dirty="0" err="1"/>
              <a:t>và</a:t>
            </a:r>
            <a:r>
              <a:rPr lang="en-US" dirty="0"/>
              <a:t> </a:t>
            </a:r>
            <a:r>
              <a:rPr lang="en-US" dirty="0" err="1"/>
              <a:t>nghiên</a:t>
            </a:r>
            <a:r>
              <a:rPr lang="en-US" dirty="0"/>
              <a:t> </a:t>
            </a:r>
            <a:r>
              <a:rPr lang="en-US" dirty="0" err="1"/>
              <a:t>cứu</a:t>
            </a:r>
            <a:r>
              <a:rPr lang="en-US" dirty="0"/>
              <a:t>: Internet </a:t>
            </a:r>
            <a:r>
              <a:rPr lang="en-US" dirty="0" err="1"/>
              <a:t>cung</a:t>
            </a:r>
            <a:r>
              <a:rPr lang="en-US" dirty="0"/>
              <a:t> </a:t>
            </a:r>
            <a:r>
              <a:rPr lang="en-US" dirty="0" err="1"/>
              <a:t>cấp</a:t>
            </a:r>
            <a:r>
              <a:rPr lang="en-US" dirty="0"/>
              <a:t> </a:t>
            </a:r>
            <a:r>
              <a:rPr lang="en-US" dirty="0" err="1"/>
              <a:t>kho</a:t>
            </a:r>
            <a:r>
              <a:rPr lang="en-US" dirty="0"/>
              <a:t> </a:t>
            </a:r>
            <a:r>
              <a:rPr lang="en-US" dirty="0" err="1"/>
              <a:t>tài</a:t>
            </a:r>
            <a:r>
              <a:rPr lang="en-US" dirty="0"/>
              <a:t> </a:t>
            </a:r>
            <a:r>
              <a:rPr lang="en-US" dirty="0" err="1"/>
              <a:t>liệu</a:t>
            </a:r>
            <a:r>
              <a:rPr lang="en-US" dirty="0"/>
              <a:t> </a:t>
            </a:r>
            <a:r>
              <a:rPr lang="en-US" dirty="0" err="1"/>
              <a:t>lớn</a:t>
            </a:r>
            <a:r>
              <a:rPr lang="en-US" dirty="0"/>
              <a:t>, </a:t>
            </a:r>
            <a:r>
              <a:rPr lang="en-US" dirty="0" err="1"/>
              <a:t>các</a:t>
            </a:r>
            <a:r>
              <a:rPr lang="en-US" dirty="0"/>
              <a:t> </a:t>
            </a:r>
            <a:r>
              <a:rPr lang="en-US" dirty="0" err="1"/>
              <a:t>khóa</a:t>
            </a:r>
            <a:r>
              <a:rPr lang="en-US" dirty="0"/>
              <a:t> </a:t>
            </a:r>
            <a:r>
              <a:rPr lang="en-US" dirty="0" err="1"/>
              <a:t>học</a:t>
            </a:r>
            <a:r>
              <a:rPr lang="en-US" dirty="0"/>
              <a:t> </a:t>
            </a:r>
            <a:r>
              <a:rPr lang="en-US" dirty="0" err="1"/>
              <a:t>trực</a:t>
            </a:r>
            <a:r>
              <a:rPr lang="en-US" dirty="0"/>
              <a:t> </a:t>
            </a:r>
            <a:r>
              <a:rPr lang="en-US" dirty="0" err="1"/>
              <a:t>tuyến</a:t>
            </a:r>
            <a:r>
              <a:rPr lang="en-US" dirty="0"/>
              <a:t>, video </a:t>
            </a:r>
            <a:r>
              <a:rPr lang="en-US" dirty="0" err="1"/>
              <a:t>hướng</a:t>
            </a:r>
            <a:r>
              <a:rPr lang="en-US" dirty="0"/>
              <a:t> </a:t>
            </a:r>
            <a:r>
              <a:rPr lang="en-US" dirty="0" err="1"/>
              <a:t>dẫn</a:t>
            </a:r>
            <a:r>
              <a:rPr lang="en-US" dirty="0"/>
              <a:t>, </a:t>
            </a:r>
            <a:r>
              <a:rPr lang="en-US" dirty="0" err="1"/>
              <a:t>bài</a:t>
            </a:r>
            <a:r>
              <a:rPr lang="en-US" dirty="0"/>
              <a:t> </a:t>
            </a:r>
            <a:r>
              <a:rPr lang="en-US" dirty="0" err="1"/>
              <a:t>giảng</a:t>
            </a:r>
            <a:r>
              <a:rPr lang="en-US" dirty="0"/>
              <a:t> </a:t>
            </a:r>
            <a:r>
              <a:rPr lang="en-US" dirty="0" err="1"/>
              <a:t>miễn</a:t>
            </a:r>
            <a:r>
              <a:rPr lang="en-US" dirty="0"/>
              <a:t> </a:t>
            </a:r>
            <a:r>
              <a:rPr lang="en-US" dirty="0" err="1"/>
              <a:t>phí</a:t>
            </a:r>
            <a:r>
              <a:rPr lang="en-US" dirty="0"/>
              <a:t>,... </a:t>
            </a:r>
            <a:r>
              <a:rPr lang="en-US" dirty="0" err="1"/>
              <a:t>giúp</a:t>
            </a:r>
            <a:r>
              <a:rPr lang="en-US" dirty="0"/>
              <a:t> </a:t>
            </a:r>
            <a:r>
              <a:rPr lang="en-US" dirty="0" err="1"/>
              <a:t>người</a:t>
            </a:r>
            <a:r>
              <a:rPr lang="en-US" dirty="0"/>
              <a:t> </a:t>
            </a:r>
            <a:r>
              <a:rPr lang="en-US" dirty="0" err="1"/>
              <a:t>học</a:t>
            </a:r>
            <a:r>
              <a:rPr lang="en-US" dirty="0"/>
              <a:t> </a:t>
            </a:r>
            <a:r>
              <a:rPr lang="en-US" dirty="0" err="1"/>
              <a:t>tiếp</a:t>
            </a:r>
            <a:r>
              <a:rPr lang="en-US" dirty="0"/>
              <a:t> </a:t>
            </a:r>
            <a:r>
              <a:rPr lang="en-US" dirty="0" err="1"/>
              <a:t>cận</a:t>
            </a:r>
            <a:r>
              <a:rPr lang="en-US" dirty="0"/>
              <a:t> </a:t>
            </a:r>
            <a:r>
              <a:rPr lang="en-US" dirty="0" err="1"/>
              <a:t>kiến</a:t>
            </a:r>
            <a:r>
              <a:rPr lang="en-US" dirty="0"/>
              <a:t> </a:t>
            </a:r>
            <a:r>
              <a:rPr lang="en-US" dirty="0" err="1"/>
              <a:t>thức</a:t>
            </a:r>
            <a:r>
              <a:rPr lang="en-US" dirty="0"/>
              <a:t> </a:t>
            </a:r>
            <a:r>
              <a:rPr lang="en-US" dirty="0" err="1"/>
              <a:t>mọi</a:t>
            </a:r>
            <a:r>
              <a:rPr lang="en-US" dirty="0"/>
              <a:t> </a:t>
            </a:r>
            <a:r>
              <a:rPr lang="en-US" dirty="0" err="1"/>
              <a:t>lúc</a:t>
            </a:r>
            <a:r>
              <a:rPr lang="en-US" dirty="0"/>
              <a:t>, </a:t>
            </a:r>
            <a:r>
              <a:rPr lang="en-US" dirty="0" err="1"/>
              <a:t>mọi</a:t>
            </a:r>
            <a:r>
              <a:rPr lang="en-US" dirty="0"/>
              <a:t> </a:t>
            </a:r>
            <a:r>
              <a:rPr lang="en-US" dirty="0" err="1"/>
              <a:t>nơi</a:t>
            </a:r>
            <a:r>
              <a:rPr lang="en-US" dirty="0"/>
              <a:t>.</a:t>
            </a:r>
          </a:p>
          <a:p>
            <a:endParaRPr lang="en-US" dirty="0"/>
          </a:p>
          <a:p>
            <a:r>
              <a:rPr lang="en-US" dirty="0" err="1"/>
              <a:t>Giải</a:t>
            </a:r>
            <a:r>
              <a:rPr lang="en-US" dirty="0"/>
              <a:t> </a:t>
            </a:r>
            <a:r>
              <a:rPr lang="en-US" dirty="0" err="1"/>
              <a:t>trí</a:t>
            </a:r>
            <a:r>
              <a:rPr lang="en-US" dirty="0"/>
              <a:t>: </a:t>
            </a:r>
            <a:r>
              <a:rPr lang="en-US" dirty="0" err="1"/>
              <a:t>Người</a:t>
            </a:r>
            <a:r>
              <a:rPr lang="en-US" dirty="0"/>
              <a:t> </a:t>
            </a:r>
            <a:r>
              <a:rPr lang="en-US" dirty="0" err="1"/>
              <a:t>dùng</a:t>
            </a:r>
            <a:r>
              <a:rPr lang="en-US" dirty="0"/>
              <a:t> </a:t>
            </a:r>
            <a:r>
              <a:rPr lang="en-US" dirty="0" err="1"/>
              <a:t>có</a:t>
            </a:r>
            <a:r>
              <a:rPr lang="en-US" dirty="0"/>
              <a:t> </a:t>
            </a:r>
            <a:r>
              <a:rPr lang="en-US" dirty="0" err="1"/>
              <a:t>thể</a:t>
            </a:r>
            <a:r>
              <a:rPr lang="en-US" dirty="0"/>
              <a:t> </a:t>
            </a:r>
            <a:r>
              <a:rPr lang="en-US" dirty="0" err="1"/>
              <a:t>nghe</a:t>
            </a:r>
            <a:r>
              <a:rPr lang="en-US" dirty="0"/>
              <a:t> </a:t>
            </a:r>
            <a:r>
              <a:rPr lang="en-US" dirty="0" err="1"/>
              <a:t>nhạc</a:t>
            </a:r>
            <a:r>
              <a:rPr lang="en-US" dirty="0"/>
              <a:t>, </a:t>
            </a:r>
            <a:r>
              <a:rPr lang="en-US" dirty="0" err="1"/>
              <a:t>xem</a:t>
            </a:r>
            <a:r>
              <a:rPr lang="en-US" dirty="0"/>
              <a:t> </a:t>
            </a:r>
            <a:r>
              <a:rPr lang="en-US" dirty="0" err="1"/>
              <a:t>phim</a:t>
            </a:r>
            <a:r>
              <a:rPr lang="en-US" dirty="0"/>
              <a:t>, </a:t>
            </a:r>
            <a:r>
              <a:rPr lang="en-US" dirty="0" err="1"/>
              <a:t>đọc</a:t>
            </a:r>
            <a:r>
              <a:rPr lang="en-US" dirty="0"/>
              <a:t> </a:t>
            </a:r>
            <a:r>
              <a:rPr lang="en-US" dirty="0" err="1"/>
              <a:t>báo</a:t>
            </a:r>
            <a:r>
              <a:rPr lang="en-US" dirty="0"/>
              <a:t>, </a:t>
            </a:r>
            <a:r>
              <a:rPr lang="en-US" dirty="0" err="1"/>
              <a:t>chơi</a:t>
            </a:r>
            <a:r>
              <a:rPr lang="en-US" dirty="0"/>
              <a:t> game, </a:t>
            </a:r>
            <a:r>
              <a:rPr lang="en-US" dirty="0" err="1"/>
              <a:t>lướt</a:t>
            </a:r>
            <a:r>
              <a:rPr lang="en-US" dirty="0"/>
              <a:t> </a:t>
            </a:r>
            <a:r>
              <a:rPr lang="en-US" dirty="0" err="1"/>
              <a:t>mạng</a:t>
            </a:r>
            <a:r>
              <a:rPr lang="en-US" dirty="0"/>
              <a:t> </a:t>
            </a:r>
            <a:r>
              <a:rPr lang="en-US" dirty="0" err="1"/>
              <a:t>xã</a:t>
            </a:r>
            <a:r>
              <a:rPr lang="en-US" dirty="0"/>
              <a:t> </a:t>
            </a:r>
            <a:r>
              <a:rPr lang="en-US" dirty="0" err="1"/>
              <a:t>hội</a:t>
            </a:r>
            <a:r>
              <a:rPr lang="en-US" dirty="0"/>
              <a:t>,... </a:t>
            </a:r>
            <a:r>
              <a:rPr lang="en-US" dirty="0" err="1"/>
              <a:t>ngay</a:t>
            </a:r>
            <a:r>
              <a:rPr lang="en-US" dirty="0"/>
              <a:t> </a:t>
            </a:r>
            <a:r>
              <a:rPr lang="en-US" dirty="0" err="1"/>
              <a:t>trên</a:t>
            </a:r>
            <a:r>
              <a:rPr lang="en-US" dirty="0"/>
              <a:t> </a:t>
            </a:r>
            <a:r>
              <a:rPr lang="en-US" dirty="0" err="1"/>
              <a:t>thiết</a:t>
            </a:r>
            <a:r>
              <a:rPr lang="en-US" dirty="0"/>
              <a:t> </a:t>
            </a:r>
            <a:r>
              <a:rPr lang="en-US" dirty="0" err="1"/>
              <a:t>bị</a:t>
            </a:r>
            <a:r>
              <a:rPr lang="en-US" dirty="0"/>
              <a:t> </a:t>
            </a:r>
            <a:r>
              <a:rPr lang="en-US" dirty="0" err="1"/>
              <a:t>kết</a:t>
            </a:r>
            <a:r>
              <a:rPr lang="en-US" dirty="0"/>
              <a:t> </a:t>
            </a:r>
            <a:r>
              <a:rPr lang="en-US" dirty="0" err="1"/>
              <a:t>nối</a:t>
            </a:r>
            <a:r>
              <a:rPr lang="en-US" dirty="0"/>
              <a:t> </a:t>
            </a:r>
            <a:r>
              <a:rPr lang="en-US" dirty="0" err="1"/>
              <a:t>mạng</a:t>
            </a:r>
            <a:r>
              <a:rPr lang="en-US" dirty="0"/>
              <a:t>, </a:t>
            </a:r>
            <a:r>
              <a:rPr lang="en-US" dirty="0" err="1"/>
              <a:t>giúp</a:t>
            </a:r>
            <a:r>
              <a:rPr lang="en-US" dirty="0"/>
              <a:t> </a:t>
            </a:r>
            <a:r>
              <a:rPr lang="en-US" dirty="0" err="1"/>
              <a:t>thư</a:t>
            </a:r>
            <a:r>
              <a:rPr lang="en-US" dirty="0"/>
              <a:t> </a:t>
            </a:r>
            <a:r>
              <a:rPr lang="en-US" dirty="0" err="1"/>
              <a:t>giãn</a:t>
            </a:r>
            <a:r>
              <a:rPr lang="en-US" dirty="0"/>
              <a:t> </a:t>
            </a:r>
            <a:r>
              <a:rPr lang="en-US" dirty="0" err="1"/>
              <a:t>sau</a:t>
            </a:r>
            <a:r>
              <a:rPr lang="en-US" dirty="0"/>
              <a:t> </a:t>
            </a:r>
            <a:r>
              <a:rPr lang="en-US" dirty="0" err="1"/>
              <a:t>giờ</a:t>
            </a:r>
            <a:r>
              <a:rPr lang="en-US" dirty="0"/>
              <a:t> </a:t>
            </a:r>
            <a:r>
              <a:rPr lang="en-US" dirty="0" err="1"/>
              <a:t>học</a:t>
            </a:r>
            <a:r>
              <a:rPr lang="en-US" dirty="0"/>
              <a:t> </a:t>
            </a:r>
            <a:r>
              <a:rPr lang="en-US" dirty="0" err="1"/>
              <a:t>và</a:t>
            </a:r>
            <a:r>
              <a:rPr lang="en-US" dirty="0"/>
              <a:t> </a:t>
            </a:r>
            <a:r>
              <a:rPr lang="en-US" dirty="0" err="1"/>
              <a:t>làm</a:t>
            </a:r>
            <a:r>
              <a:rPr lang="en-US" dirty="0"/>
              <a:t> </a:t>
            </a:r>
            <a:r>
              <a:rPr lang="en-US" dirty="0" err="1"/>
              <a:t>việc</a:t>
            </a:r>
            <a:r>
              <a:rPr lang="en-US" dirty="0"/>
              <a:t>.</a:t>
            </a:r>
          </a:p>
          <a:p>
            <a:endParaRPr lang="en-US" dirty="0"/>
          </a:p>
          <a:p>
            <a:r>
              <a:rPr lang="en-US" dirty="0" err="1"/>
              <a:t>Thương</a:t>
            </a:r>
            <a:r>
              <a:rPr lang="en-US" dirty="0"/>
              <a:t> </a:t>
            </a:r>
            <a:r>
              <a:rPr lang="en-US" dirty="0" err="1"/>
              <a:t>mại</a:t>
            </a:r>
            <a:r>
              <a:rPr lang="en-US" dirty="0"/>
              <a:t> </a:t>
            </a:r>
            <a:r>
              <a:rPr lang="en-US" dirty="0" err="1"/>
              <a:t>điện</a:t>
            </a:r>
            <a:r>
              <a:rPr lang="en-US" dirty="0"/>
              <a:t> </a:t>
            </a:r>
            <a:r>
              <a:rPr lang="en-US" dirty="0" err="1"/>
              <a:t>tử</a:t>
            </a:r>
            <a:r>
              <a:rPr lang="en-US" dirty="0"/>
              <a:t>: </a:t>
            </a:r>
            <a:r>
              <a:rPr lang="en-US" dirty="0" err="1"/>
              <a:t>Mua</a:t>
            </a:r>
            <a:r>
              <a:rPr lang="en-US" dirty="0"/>
              <a:t> </a:t>
            </a:r>
            <a:r>
              <a:rPr lang="en-US" dirty="0" err="1"/>
              <a:t>sắm</a:t>
            </a:r>
            <a:r>
              <a:rPr lang="en-US" dirty="0"/>
              <a:t>, </a:t>
            </a:r>
            <a:r>
              <a:rPr lang="en-US" dirty="0" err="1"/>
              <a:t>đặt</a:t>
            </a:r>
            <a:r>
              <a:rPr lang="en-US" dirty="0"/>
              <a:t> </a:t>
            </a:r>
            <a:r>
              <a:rPr lang="en-US" dirty="0" err="1"/>
              <a:t>dịch</a:t>
            </a:r>
            <a:r>
              <a:rPr lang="en-US" dirty="0"/>
              <a:t> </a:t>
            </a:r>
            <a:r>
              <a:rPr lang="en-US" dirty="0" err="1"/>
              <a:t>vụ</a:t>
            </a:r>
            <a:r>
              <a:rPr lang="en-US" dirty="0"/>
              <a:t>, </a:t>
            </a:r>
            <a:r>
              <a:rPr lang="en-US" dirty="0" err="1"/>
              <a:t>thanh</a:t>
            </a:r>
            <a:r>
              <a:rPr lang="en-US" dirty="0"/>
              <a:t> </a:t>
            </a:r>
            <a:r>
              <a:rPr lang="en-US" dirty="0" err="1"/>
              <a:t>toán</a:t>
            </a:r>
            <a:r>
              <a:rPr lang="en-US" dirty="0"/>
              <a:t> </a:t>
            </a:r>
            <a:r>
              <a:rPr lang="en-US" dirty="0" err="1"/>
              <a:t>trực</a:t>
            </a:r>
            <a:r>
              <a:rPr lang="en-US" dirty="0"/>
              <a:t> </a:t>
            </a:r>
            <a:r>
              <a:rPr lang="en-US" dirty="0" err="1"/>
              <a:t>tuyến</a:t>
            </a:r>
            <a:r>
              <a:rPr lang="en-US" dirty="0"/>
              <a:t> </a:t>
            </a:r>
            <a:r>
              <a:rPr lang="en-US" dirty="0" err="1"/>
              <a:t>đều</a:t>
            </a:r>
            <a:r>
              <a:rPr lang="en-US" dirty="0"/>
              <a:t> </a:t>
            </a:r>
            <a:r>
              <a:rPr lang="en-US" dirty="0" err="1"/>
              <a:t>dễ</a:t>
            </a:r>
            <a:r>
              <a:rPr lang="en-US" dirty="0"/>
              <a:t> </a:t>
            </a:r>
            <a:r>
              <a:rPr lang="en-US" dirty="0" err="1"/>
              <a:t>dàng</a:t>
            </a:r>
            <a:r>
              <a:rPr lang="en-US" dirty="0"/>
              <a:t> </a:t>
            </a:r>
            <a:r>
              <a:rPr lang="en-US" dirty="0" err="1"/>
              <a:t>hơn</a:t>
            </a:r>
            <a:r>
              <a:rPr lang="en-US" dirty="0"/>
              <a:t> </a:t>
            </a:r>
            <a:r>
              <a:rPr lang="en-US" dirty="0" err="1"/>
              <a:t>nhờ</a:t>
            </a:r>
            <a:r>
              <a:rPr lang="en-US" dirty="0"/>
              <a:t> Internet. </a:t>
            </a:r>
            <a:r>
              <a:rPr lang="en-US" dirty="0" err="1"/>
              <a:t>Người</a:t>
            </a:r>
            <a:r>
              <a:rPr lang="en-US" dirty="0"/>
              <a:t> </a:t>
            </a:r>
            <a:r>
              <a:rPr lang="en-US" dirty="0" err="1"/>
              <a:t>bán</a:t>
            </a:r>
            <a:r>
              <a:rPr lang="en-US" dirty="0"/>
              <a:t> </a:t>
            </a:r>
            <a:r>
              <a:rPr lang="en-US" dirty="0" err="1"/>
              <a:t>cũng</a:t>
            </a:r>
            <a:r>
              <a:rPr lang="en-US" dirty="0"/>
              <a:t> </a:t>
            </a:r>
            <a:r>
              <a:rPr lang="en-US" dirty="0" err="1"/>
              <a:t>có</a:t>
            </a:r>
            <a:r>
              <a:rPr lang="en-US" dirty="0"/>
              <a:t> </a:t>
            </a:r>
            <a:r>
              <a:rPr lang="en-US" dirty="0" err="1"/>
              <a:t>thể</a:t>
            </a:r>
            <a:r>
              <a:rPr lang="en-US" dirty="0"/>
              <a:t> </a:t>
            </a:r>
            <a:r>
              <a:rPr lang="en-US" dirty="0" err="1"/>
              <a:t>kinh</a:t>
            </a:r>
            <a:r>
              <a:rPr lang="en-US" dirty="0"/>
              <a:t> </a:t>
            </a:r>
            <a:r>
              <a:rPr lang="en-US" dirty="0" err="1"/>
              <a:t>doanh</a:t>
            </a:r>
            <a:r>
              <a:rPr lang="en-US" dirty="0"/>
              <a:t> online, </a:t>
            </a:r>
            <a:r>
              <a:rPr lang="en-US" dirty="0" err="1"/>
              <a:t>quảng</a:t>
            </a:r>
            <a:r>
              <a:rPr lang="en-US" dirty="0"/>
              <a:t> </a:t>
            </a:r>
            <a:r>
              <a:rPr lang="en-US" dirty="0" err="1"/>
              <a:t>bá</a:t>
            </a:r>
            <a:r>
              <a:rPr lang="en-US" dirty="0"/>
              <a:t> </a:t>
            </a:r>
            <a:r>
              <a:rPr lang="en-US" dirty="0" err="1"/>
              <a:t>và</a:t>
            </a:r>
            <a:r>
              <a:rPr lang="en-US" dirty="0"/>
              <a:t> </a:t>
            </a:r>
            <a:r>
              <a:rPr lang="en-US" dirty="0" err="1"/>
              <a:t>chăm</a:t>
            </a:r>
            <a:r>
              <a:rPr lang="en-US" dirty="0"/>
              <a:t> </a:t>
            </a:r>
            <a:r>
              <a:rPr lang="en-US" dirty="0" err="1"/>
              <a:t>sóc</a:t>
            </a:r>
            <a:r>
              <a:rPr lang="en-US" dirty="0"/>
              <a:t> </a:t>
            </a:r>
            <a:r>
              <a:rPr lang="en-US" dirty="0" err="1"/>
              <a:t>khách</a:t>
            </a:r>
            <a:r>
              <a:rPr lang="en-US" dirty="0"/>
              <a:t> </a:t>
            </a:r>
            <a:r>
              <a:rPr lang="en-US" dirty="0" err="1"/>
              <a:t>hàng</a:t>
            </a:r>
            <a:r>
              <a:rPr lang="en-US" dirty="0"/>
              <a:t> </a:t>
            </a:r>
            <a:r>
              <a:rPr lang="en-US" dirty="0" err="1"/>
              <a:t>hiệu</a:t>
            </a:r>
            <a:r>
              <a:rPr lang="en-US" dirty="0"/>
              <a:t> </a:t>
            </a:r>
            <a:r>
              <a:rPr lang="en-US" dirty="0" err="1"/>
              <a:t>quả</a:t>
            </a:r>
            <a:r>
              <a:rPr lang="en-US" dirty="0"/>
              <a:t>.</a:t>
            </a:r>
          </a:p>
          <a:p>
            <a:endParaRPr lang="en-US" dirty="0"/>
          </a:p>
          <a:p>
            <a:r>
              <a:rPr lang="en-US" dirty="0" err="1"/>
              <a:t>Làm</a:t>
            </a:r>
            <a:r>
              <a:rPr lang="en-US" dirty="0"/>
              <a:t> </a:t>
            </a:r>
            <a:r>
              <a:rPr lang="en-US" dirty="0" err="1"/>
              <a:t>việc</a:t>
            </a:r>
            <a:r>
              <a:rPr lang="en-US" dirty="0"/>
              <a:t> </a:t>
            </a:r>
            <a:r>
              <a:rPr lang="en-US" dirty="0" err="1"/>
              <a:t>từ</a:t>
            </a:r>
            <a:r>
              <a:rPr lang="en-US" dirty="0"/>
              <a:t> </a:t>
            </a:r>
            <a:r>
              <a:rPr lang="en-US" dirty="0" err="1"/>
              <a:t>xa</a:t>
            </a:r>
            <a:r>
              <a:rPr lang="en-US" dirty="0"/>
              <a:t>: Internet </a:t>
            </a:r>
            <a:r>
              <a:rPr lang="en-US" dirty="0" err="1"/>
              <a:t>hỗ</a:t>
            </a:r>
            <a:r>
              <a:rPr lang="en-US" dirty="0"/>
              <a:t> </a:t>
            </a:r>
            <a:r>
              <a:rPr lang="en-US" dirty="0" err="1"/>
              <a:t>trợ</a:t>
            </a:r>
            <a:r>
              <a:rPr lang="en-US" dirty="0"/>
              <a:t> </a:t>
            </a:r>
            <a:r>
              <a:rPr lang="en-US" dirty="0" err="1"/>
              <a:t>làm</a:t>
            </a:r>
            <a:r>
              <a:rPr lang="en-US" dirty="0"/>
              <a:t> </a:t>
            </a:r>
            <a:r>
              <a:rPr lang="en-US" dirty="0" err="1"/>
              <a:t>việc</a:t>
            </a:r>
            <a:r>
              <a:rPr lang="en-US" dirty="0"/>
              <a:t> online qua </a:t>
            </a:r>
            <a:r>
              <a:rPr lang="en-US" dirty="0" err="1"/>
              <a:t>các</a:t>
            </a:r>
            <a:r>
              <a:rPr lang="en-US" dirty="0"/>
              <a:t> </a:t>
            </a:r>
            <a:r>
              <a:rPr lang="en-US" dirty="0" err="1"/>
              <a:t>công</a:t>
            </a:r>
            <a:r>
              <a:rPr lang="en-US" dirty="0"/>
              <a:t> </a:t>
            </a:r>
            <a:r>
              <a:rPr lang="en-US" dirty="0" err="1"/>
              <a:t>cụ</a:t>
            </a:r>
            <a:r>
              <a:rPr lang="en-US" dirty="0"/>
              <a:t> </a:t>
            </a:r>
            <a:r>
              <a:rPr lang="en-US" dirty="0" err="1"/>
              <a:t>như</a:t>
            </a:r>
            <a:r>
              <a:rPr lang="en-US" dirty="0"/>
              <a:t> </a:t>
            </a:r>
            <a:r>
              <a:rPr lang="en-US" dirty="0" err="1"/>
              <a:t>họp</a:t>
            </a:r>
            <a:r>
              <a:rPr lang="en-US" dirty="0"/>
              <a:t> </a:t>
            </a:r>
            <a:r>
              <a:rPr lang="en-US" dirty="0" err="1"/>
              <a:t>trực</a:t>
            </a:r>
            <a:r>
              <a:rPr lang="en-US" dirty="0"/>
              <a:t> </a:t>
            </a:r>
            <a:r>
              <a:rPr lang="en-US" dirty="0" err="1"/>
              <a:t>tuyến</a:t>
            </a:r>
            <a:r>
              <a:rPr lang="en-US" dirty="0"/>
              <a:t>, chia </a:t>
            </a:r>
            <a:r>
              <a:rPr lang="en-US" dirty="0" err="1"/>
              <a:t>sẻ</a:t>
            </a:r>
            <a:r>
              <a:rPr lang="en-US" dirty="0"/>
              <a:t> </a:t>
            </a:r>
            <a:r>
              <a:rPr lang="en-US" dirty="0" err="1"/>
              <a:t>tài</a:t>
            </a:r>
            <a:r>
              <a:rPr lang="en-US" dirty="0"/>
              <a:t> </a:t>
            </a:r>
            <a:r>
              <a:rPr lang="en-US" dirty="0" err="1"/>
              <a:t>liệu</a:t>
            </a:r>
            <a:r>
              <a:rPr lang="en-US" dirty="0"/>
              <a:t>, </a:t>
            </a:r>
            <a:r>
              <a:rPr lang="en-US" dirty="0" err="1"/>
              <a:t>giao</a:t>
            </a:r>
            <a:r>
              <a:rPr lang="en-US" dirty="0"/>
              <a:t> </a:t>
            </a:r>
            <a:r>
              <a:rPr lang="en-US" dirty="0" err="1"/>
              <a:t>việc</a:t>
            </a:r>
            <a:r>
              <a:rPr lang="en-US" dirty="0"/>
              <a:t>,... </a:t>
            </a:r>
            <a:r>
              <a:rPr lang="en-US" dirty="0" err="1"/>
              <a:t>giúp</a:t>
            </a:r>
            <a:r>
              <a:rPr lang="en-US" dirty="0"/>
              <a:t> </a:t>
            </a:r>
            <a:r>
              <a:rPr lang="en-US" dirty="0" err="1"/>
              <a:t>tiết</a:t>
            </a:r>
            <a:r>
              <a:rPr lang="en-US" dirty="0"/>
              <a:t> </a:t>
            </a:r>
            <a:r>
              <a:rPr lang="en-US" dirty="0" err="1"/>
              <a:t>kiệm</a:t>
            </a:r>
            <a:r>
              <a:rPr lang="en-US" dirty="0"/>
              <a:t> </a:t>
            </a:r>
            <a:r>
              <a:rPr lang="en-US" dirty="0" err="1"/>
              <a:t>thời</a:t>
            </a:r>
            <a:r>
              <a:rPr lang="en-US" dirty="0"/>
              <a:t> </a:t>
            </a:r>
            <a:r>
              <a:rPr lang="en-US" dirty="0" err="1"/>
              <a:t>gian</a:t>
            </a:r>
            <a:r>
              <a:rPr lang="en-US" dirty="0"/>
              <a:t> </a:t>
            </a:r>
            <a:r>
              <a:rPr lang="en-US" dirty="0" err="1"/>
              <a:t>và</a:t>
            </a:r>
            <a:r>
              <a:rPr lang="en-US" dirty="0"/>
              <a:t> </a:t>
            </a:r>
            <a:r>
              <a:rPr lang="en-US" dirty="0" err="1"/>
              <a:t>tăng</a:t>
            </a:r>
            <a:r>
              <a:rPr lang="en-US" dirty="0"/>
              <a:t> </a:t>
            </a:r>
            <a:r>
              <a:rPr lang="en-US" dirty="0" err="1"/>
              <a:t>tính</a:t>
            </a:r>
            <a:r>
              <a:rPr lang="en-US" dirty="0"/>
              <a:t> </a:t>
            </a:r>
            <a:r>
              <a:rPr lang="en-US" dirty="0" err="1"/>
              <a:t>linh</a:t>
            </a:r>
            <a:r>
              <a:rPr lang="en-US" dirty="0"/>
              <a:t> </a:t>
            </a:r>
            <a:r>
              <a:rPr lang="en-US" dirty="0" err="1"/>
              <a:t>hoạt</a:t>
            </a:r>
            <a:r>
              <a:rPr lang="en-US" dirty="0"/>
              <a:t> </a:t>
            </a:r>
            <a:r>
              <a:rPr lang="en-US" dirty="0" err="1"/>
              <a:t>trong</a:t>
            </a:r>
            <a:r>
              <a:rPr lang="en-US" dirty="0"/>
              <a:t> </a:t>
            </a:r>
            <a:r>
              <a:rPr lang="en-US" dirty="0" err="1"/>
              <a:t>công</a:t>
            </a:r>
            <a:r>
              <a:rPr lang="en-US" dirty="0"/>
              <a:t> </a:t>
            </a:r>
            <a:r>
              <a:rPr lang="en-US" dirty="0" err="1"/>
              <a:t>việc</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Bên</a:t>
            </a:r>
            <a:r>
              <a:rPr lang="en-US" dirty="0"/>
              <a:t> </a:t>
            </a:r>
            <a:r>
              <a:rPr lang="en-US" dirty="0" err="1"/>
              <a:t>cạnh</a:t>
            </a:r>
            <a:r>
              <a:rPr lang="en-US" dirty="0"/>
              <a:t> </a:t>
            </a:r>
            <a:r>
              <a:rPr lang="en-US" dirty="0" err="1"/>
              <a:t>lợi</a:t>
            </a:r>
            <a:r>
              <a:rPr lang="en-US" dirty="0"/>
              <a:t> </a:t>
            </a:r>
            <a:r>
              <a:rPr lang="en-US" dirty="0" err="1"/>
              <a:t>ích</a:t>
            </a:r>
            <a:r>
              <a:rPr lang="en-US" dirty="0"/>
              <a:t> </a:t>
            </a:r>
            <a:r>
              <a:rPr lang="en-US" dirty="0" err="1"/>
              <a:t>của</a:t>
            </a:r>
            <a:r>
              <a:rPr lang="en-US" dirty="0"/>
              <a:t> Internet </a:t>
            </a:r>
            <a:r>
              <a:rPr lang="en-US" dirty="0" err="1"/>
              <a:t>thì</a:t>
            </a:r>
            <a:r>
              <a:rPr lang="en-US" dirty="0"/>
              <a:t> </a:t>
            </a:r>
            <a:r>
              <a:rPr lang="en-US" dirty="0" err="1"/>
              <a:t>còn</a:t>
            </a:r>
            <a:r>
              <a:rPr lang="en-US" dirty="0"/>
              <a:t> </a:t>
            </a:r>
            <a:r>
              <a:rPr lang="en-US" dirty="0" err="1"/>
              <a:t>có</a:t>
            </a:r>
            <a:r>
              <a:rPr lang="en-US" dirty="0"/>
              <a:t> 1 </a:t>
            </a:r>
            <a:r>
              <a:rPr lang="en-US" dirty="0" err="1"/>
              <a:t>số</a:t>
            </a:r>
            <a:r>
              <a:rPr lang="en-US" dirty="0"/>
              <a:t> </a:t>
            </a:r>
            <a:r>
              <a:rPr lang="en-US" dirty="0" err="1"/>
              <a:t>hạn</a:t>
            </a:r>
            <a:r>
              <a:rPr lang="en-US" dirty="0"/>
              <a:t> </a:t>
            </a:r>
            <a:r>
              <a:rPr lang="en-US" dirty="0" err="1"/>
              <a:t>chế</a:t>
            </a:r>
            <a:r>
              <a:rPr lang="en-US" dirty="0"/>
              <a:t> </a:t>
            </a:r>
            <a:r>
              <a:rPr lang="en-US" dirty="0" err="1"/>
              <a:t>của</a:t>
            </a:r>
            <a:r>
              <a:rPr lang="en-US" dirty="0"/>
              <a:t> Internet</a:t>
            </a:r>
          </a:p>
          <a:p>
            <a:endParaRPr lang="en-US" dirty="0"/>
          </a:p>
          <a:p>
            <a:r>
              <a:rPr lang="en-US" dirty="0" err="1"/>
              <a:t>Bảo</a:t>
            </a:r>
            <a:r>
              <a:rPr lang="en-US" dirty="0"/>
              <a:t> </a:t>
            </a:r>
            <a:r>
              <a:rPr lang="en-US" dirty="0" err="1"/>
              <a:t>mật</a:t>
            </a:r>
            <a:r>
              <a:rPr lang="en-US" dirty="0"/>
              <a:t> </a:t>
            </a:r>
            <a:r>
              <a:rPr lang="en-US" dirty="0" err="1"/>
              <a:t>và</a:t>
            </a:r>
            <a:r>
              <a:rPr lang="en-US" dirty="0"/>
              <a:t> </a:t>
            </a:r>
            <a:r>
              <a:rPr lang="en-US" dirty="0" err="1"/>
              <a:t>riêng</a:t>
            </a:r>
            <a:r>
              <a:rPr lang="en-US" dirty="0"/>
              <a:t> </a:t>
            </a:r>
            <a:r>
              <a:rPr lang="en-US" dirty="0" err="1"/>
              <a:t>tư</a:t>
            </a:r>
            <a:r>
              <a:rPr lang="en-US" dirty="0"/>
              <a:t>: </a:t>
            </a:r>
            <a:r>
              <a:rPr lang="en-US" dirty="0" err="1"/>
              <a:t>Dữ</a:t>
            </a:r>
            <a:r>
              <a:rPr lang="en-US" dirty="0"/>
              <a:t> </a:t>
            </a:r>
            <a:r>
              <a:rPr lang="en-US" dirty="0" err="1"/>
              <a:t>liệu</a:t>
            </a:r>
            <a:r>
              <a:rPr lang="en-US" dirty="0"/>
              <a:t> </a:t>
            </a:r>
            <a:r>
              <a:rPr lang="en-US" dirty="0" err="1"/>
              <a:t>cá</a:t>
            </a:r>
            <a:r>
              <a:rPr lang="en-US" dirty="0"/>
              <a:t> </a:t>
            </a:r>
            <a:r>
              <a:rPr lang="en-US" dirty="0" err="1"/>
              <a:t>nhân</a:t>
            </a:r>
            <a:r>
              <a:rPr lang="en-US" dirty="0"/>
              <a:t> </a:t>
            </a:r>
            <a:r>
              <a:rPr lang="en-US" dirty="0" err="1"/>
              <a:t>của</a:t>
            </a:r>
            <a:r>
              <a:rPr lang="en-US" dirty="0"/>
              <a:t> </a:t>
            </a:r>
            <a:r>
              <a:rPr lang="en-US" dirty="0" err="1"/>
              <a:t>người</a:t>
            </a:r>
            <a:r>
              <a:rPr lang="en-US" dirty="0"/>
              <a:t> </a:t>
            </a:r>
            <a:r>
              <a:rPr lang="en-US" dirty="0" err="1"/>
              <a:t>dùng</a:t>
            </a:r>
            <a:r>
              <a:rPr lang="en-US" dirty="0"/>
              <a:t> </a:t>
            </a:r>
            <a:r>
              <a:rPr lang="en-US" dirty="0" err="1"/>
              <a:t>như</a:t>
            </a:r>
            <a:r>
              <a:rPr lang="en-US" dirty="0"/>
              <a:t> </a:t>
            </a:r>
            <a:r>
              <a:rPr lang="en-US" dirty="0" err="1"/>
              <a:t>thông</a:t>
            </a:r>
            <a:r>
              <a:rPr lang="en-US" dirty="0"/>
              <a:t> tin </a:t>
            </a:r>
            <a:r>
              <a:rPr lang="en-US" dirty="0" err="1"/>
              <a:t>tài</a:t>
            </a:r>
            <a:r>
              <a:rPr lang="en-US" dirty="0"/>
              <a:t> </a:t>
            </a:r>
            <a:r>
              <a:rPr lang="en-US" dirty="0" err="1"/>
              <a:t>khoản</a:t>
            </a:r>
            <a:r>
              <a:rPr lang="en-US" dirty="0"/>
              <a:t>, </a:t>
            </a:r>
            <a:r>
              <a:rPr lang="en-US" dirty="0" err="1"/>
              <a:t>hình</a:t>
            </a:r>
            <a:r>
              <a:rPr lang="en-US" dirty="0"/>
              <a:t> </a:t>
            </a:r>
            <a:r>
              <a:rPr lang="en-US" dirty="0" err="1"/>
              <a:t>ảnh</a:t>
            </a:r>
            <a:r>
              <a:rPr lang="en-US" dirty="0"/>
              <a:t>, </a:t>
            </a:r>
            <a:r>
              <a:rPr lang="en-US" dirty="0" err="1"/>
              <a:t>lịch</a:t>
            </a:r>
            <a:r>
              <a:rPr lang="en-US" dirty="0"/>
              <a:t> </a:t>
            </a:r>
            <a:r>
              <a:rPr lang="en-US" dirty="0" err="1"/>
              <a:t>sử</a:t>
            </a:r>
            <a:r>
              <a:rPr lang="en-US" dirty="0"/>
              <a:t> </a:t>
            </a:r>
            <a:r>
              <a:rPr lang="en-US" dirty="0" err="1"/>
              <a:t>truy</a:t>
            </a:r>
            <a:r>
              <a:rPr lang="en-US" dirty="0"/>
              <a:t> </a:t>
            </a:r>
            <a:r>
              <a:rPr lang="en-US" dirty="0" err="1"/>
              <a:t>cập</a:t>
            </a:r>
            <a:r>
              <a:rPr lang="en-US" dirty="0"/>
              <a:t>,... </a:t>
            </a:r>
            <a:r>
              <a:rPr lang="en-US" dirty="0" err="1"/>
              <a:t>có</a:t>
            </a:r>
            <a:r>
              <a:rPr lang="en-US" dirty="0"/>
              <a:t> </a:t>
            </a:r>
            <a:r>
              <a:rPr lang="en-US" dirty="0" err="1"/>
              <a:t>thể</a:t>
            </a:r>
            <a:r>
              <a:rPr lang="en-US" dirty="0"/>
              <a:t> </a:t>
            </a:r>
            <a:r>
              <a:rPr lang="en-US" dirty="0" err="1"/>
              <a:t>bị</a:t>
            </a:r>
            <a:r>
              <a:rPr lang="en-US" dirty="0"/>
              <a:t> </a:t>
            </a:r>
            <a:r>
              <a:rPr lang="en-US" dirty="0" err="1"/>
              <a:t>thu</a:t>
            </a:r>
            <a:r>
              <a:rPr lang="en-US" dirty="0"/>
              <a:t> </a:t>
            </a:r>
            <a:r>
              <a:rPr lang="en-US" dirty="0" err="1"/>
              <a:t>thập</a:t>
            </a:r>
            <a:r>
              <a:rPr lang="en-US" dirty="0"/>
              <a:t> </a:t>
            </a:r>
            <a:r>
              <a:rPr lang="en-US" dirty="0" err="1"/>
              <a:t>trái</a:t>
            </a:r>
            <a:r>
              <a:rPr lang="en-US" dirty="0"/>
              <a:t> </a:t>
            </a:r>
            <a:r>
              <a:rPr lang="en-US" dirty="0" err="1"/>
              <a:t>phép</a:t>
            </a:r>
            <a:r>
              <a:rPr lang="en-US" dirty="0"/>
              <a:t> </a:t>
            </a:r>
            <a:r>
              <a:rPr lang="en-US" dirty="0" err="1"/>
              <a:t>hoặc</a:t>
            </a:r>
            <a:r>
              <a:rPr lang="en-US" dirty="0"/>
              <a:t> </a:t>
            </a:r>
            <a:r>
              <a:rPr lang="en-US" dirty="0" err="1"/>
              <a:t>bị</a:t>
            </a:r>
            <a:r>
              <a:rPr lang="en-US" dirty="0"/>
              <a:t> </a:t>
            </a:r>
            <a:r>
              <a:rPr lang="en-US" dirty="0" err="1"/>
              <a:t>tấn</a:t>
            </a:r>
            <a:r>
              <a:rPr lang="en-US" dirty="0"/>
              <a:t> </a:t>
            </a:r>
            <a:r>
              <a:rPr lang="en-US" dirty="0" err="1"/>
              <a:t>công</a:t>
            </a:r>
            <a:r>
              <a:rPr lang="en-US" dirty="0"/>
              <a:t> </a:t>
            </a:r>
            <a:r>
              <a:rPr lang="en-US" dirty="0" err="1"/>
              <a:t>nếu</a:t>
            </a:r>
            <a:r>
              <a:rPr lang="en-US" dirty="0"/>
              <a:t> </a:t>
            </a:r>
            <a:r>
              <a:rPr lang="en-US" dirty="0" err="1"/>
              <a:t>không</a:t>
            </a:r>
            <a:r>
              <a:rPr lang="en-US" dirty="0"/>
              <a:t> </a:t>
            </a:r>
            <a:r>
              <a:rPr lang="en-US" dirty="0" err="1"/>
              <a:t>có</a:t>
            </a:r>
            <a:r>
              <a:rPr lang="en-US" dirty="0"/>
              <a:t> </a:t>
            </a:r>
            <a:r>
              <a:rPr lang="en-US" dirty="0" err="1"/>
              <a:t>các</a:t>
            </a:r>
            <a:r>
              <a:rPr lang="en-US" dirty="0"/>
              <a:t> </a:t>
            </a:r>
            <a:r>
              <a:rPr lang="en-US" dirty="0" err="1"/>
              <a:t>biện</a:t>
            </a:r>
            <a:r>
              <a:rPr lang="en-US" dirty="0"/>
              <a:t> </a:t>
            </a:r>
            <a:r>
              <a:rPr lang="en-US" dirty="0" err="1"/>
              <a:t>pháp</a:t>
            </a:r>
            <a:r>
              <a:rPr lang="en-US" dirty="0"/>
              <a:t> </a:t>
            </a:r>
            <a:r>
              <a:rPr lang="en-US" dirty="0" err="1"/>
              <a:t>bảo</a:t>
            </a:r>
            <a:r>
              <a:rPr lang="en-US" dirty="0"/>
              <a:t> </a:t>
            </a:r>
            <a:r>
              <a:rPr lang="en-US" dirty="0" err="1"/>
              <a:t>mật</a:t>
            </a:r>
            <a:r>
              <a:rPr lang="en-US" dirty="0"/>
              <a:t> </a:t>
            </a:r>
            <a:r>
              <a:rPr lang="en-US" dirty="0" err="1"/>
              <a:t>phù</a:t>
            </a:r>
            <a:r>
              <a:rPr lang="en-US" dirty="0"/>
              <a:t> </a:t>
            </a:r>
            <a:r>
              <a:rPr lang="en-US" dirty="0" err="1"/>
              <a:t>hợp</a:t>
            </a:r>
            <a:r>
              <a:rPr lang="en-US" dirty="0"/>
              <a:t>. </a:t>
            </a:r>
            <a:r>
              <a:rPr lang="en-US" dirty="0" err="1"/>
              <a:t>Điều</a:t>
            </a:r>
            <a:r>
              <a:rPr lang="en-US" dirty="0"/>
              <a:t> </a:t>
            </a:r>
            <a:r>
              <a:rPr lang="en-US" dirty="0" err="1"/>
              <a:t>này</a:t>
            </a:r>
            <a:r>
              <a:rPr lang="en-US" dirty="0"/>
              <a:t> </a:t>
            </a:r>
            <a:r>
              <a:rPr lang="en-US" dirty="0" err="1"/>
              <a:t>dẫn</a:t>
            </a:r>
            <a:r>
              <a:rPr lang="en-US" dirty="0"/>
              <a:t> </a:t>
            </a:r>
            <a:r>
              <a:rPr lang="en-US" dirty="0" err="1"/>
              <a:t>đến</a:t>
            </a:r>
            <a:r>
              <a:rPr lang="en-US" dirty="0"/>
              <a:t> </a:t>
            </a:r>
            <a:r>
              <a:rPr lang="en-US" dirty="0" err="1"/>
              <a:t>nguy</a:t>
            </a:r>
            <a:r>
              <a:rPr lang="en-US" dirty="0"/>
              <a:t> </a:t>
            </a:r>
            <a:r>
              <a:rPr lang="en-US" dirty="0" err="1"/>
              <a:t>cơ</a:t>
            </a:r>
            <a:r>
              <a:rPr lang="en-US" dirty="0"/>
              <a:t> </a:t>
            </a:r>
            <a:r>
              <a:rPr lang="en-US" dirty="0" err="1"/>
              <a:t>bị</a:t>
            </a:r>
            <a:r>
              <a:rPr lang="en-US" dirty="0"/>
              <a:t> </a:t>
            </a:r>
            <a:r>
              <a:rPr lang="en-US" dirty="0" err="1"/>
              <a:t>lộ</a:t>
            </a:r>
            <a:r>
              <a:rPr lang="en-US" dirty="0"/>
              <a:t> </a:t>
            </a:r>
            <a:r>
              <a:rPr lang="en-US" dirty="0" err="1"/>
              <a:t>thông</a:t>
            </a:r>
            <a:r>
              <a:rPr lang="en-US" dirty="0"/>
              <a:t> tin </a:t>
            </a:r>
            <a:r>
              <a:rPr lang="en-US" dirty="0" err="1"/>
              <a:t>nhạy</a:t>
            </a:r>
            <a:r>
              <a:rPr lang="en-US" dirty="0"/>
              <a:t> </a:t>
            </a:r>
            <a:r>
              <a:rPr lang="en-US" dirty="0" err="1"/>
              <a:t>cảm</a:t>
            </a:r>
            <a:r>
              <a:rPr lang="en-US" dirty="0"/>
              <a:t>, </a:t>
            </a:r>
            <a:r>
              <a:rPr lang="en-US" dirty="0" err="1"/>
              <a:t>lừa</a:t>
            </a:r>
            <a:r>
              <a:rPr lang="en-US" dirty="0"/>
              <a:t> </a:t>
            </a:r>
            <a:r>
              <a:rPr lang="en-US" dirty="0" err="1"/>
              <a:t>đảo</a:t>
            </a:r>
            <a:r>
              <a:rPr lang="en-US" dirty="0"/>
              <a:t> </a:t>
            </a:r>
            <a:r>
              <a:rPr lang="en-US" dirty="0" err="1"/>
              <a:t>hoặc</a:t>
            </a:r>
            <a:r>
              <a:rPr lang="en-US" dirty="0"/>
              <a:t> </a:t>
            </a:r>
            <a:r>
              <a:rPr lang="en-US" dirty="0" err="1"/>
              <a:t>mất</a:t>
            </a:r>
            <a:r>
              <a:rPr lang="en-US" dirty="0"/>
              <a:t> </a:t>
            </a:r>
            <a:r>
              <a:rPr lang="en-US" dirty="0" err="1"/>
              <a:t>quyền</a:t>
            </a:r>
            <a:r>
              <a:rPr lang="en-US" dirty="0"/>
              <a:t> </a:t>
            </a:r>
            <a:r>
              <a:rPr lang="en-US" dirty="0" err="1"/>
              <a:t>kiểm</a:t>
            </a:r>
            <a:r>
              <a:rPr lang="en-US" dirty="0"/>
              <a:t> </a:t>
            </a:r>
            <a:r>
              <a:rPr lang="en-US" dirty="0" err="1"/>
              <a:t>soát</a:t>
            </a:r>
            <a:r>
              <a:rPr lang="en-US" dirty="0"/>
              <a:t> </a:t>
            </a:r>
            <a:r>
              <a:rPr lang="en-US" dirty="0" err="1"/>
              <a:t>tài</a:t>
            </a:r>
            <a:r>
              <a:rPr lang="en-US" dirty="0"/>
              <a:t> </a:t>
            </a:r>
            <a:r>
              <a:rPr lang="en-US" dirty="0" err="1"/>
              <a:t>khoản</a:t>
            </a:r>
            <a:r>
              <a:rPr lang="en-US" dirty="0"/>
              <a:t> </a:t>
            </a:r>
            <a:r>
              <a:rPr lang="en-US" dirty="0" err="1"/>
              <a:t>cá</a:t>
            </a:r>
            <a:r>
              <a:rPr lang="en-US" dirty="0"/>
              <a:t> </a:t>
            </a:r>
            <a:r>
              <a:rPr lang="en-US" dirty="0" err="1"/>
              <a:t>nhân</a:t>
            </a:r>
            <a:r>
              <a:rPr lang="en-US" dirty="0"/>
              <a:t>.</a:t>
            </a:r>
          </a:p>
          <a:p>
            <a:endParaRPr lang="en-US" dirty="0"/>
          </a:p>
          <a:p>
            <a:r>
              <a:rPr lang="en-US" dirty="0" err="1"/>
              <a:t>Thông</a:t>
            </a:r>
            <a:r>
              <a:rPr lang="en-US" dirty="0"/>
              <a:t> tin </a:t>
            </a:r>
            <a:r>
              <a:rPr lang="en-US" dirty="0" err="1"/>
              <a:t>sai</a:t>
            </a:r>
            <a:r>
              <a:rPr lang="en-US" dirty="0"/>
              <a:t> </a:t>
            </a:r>
            <a:r>
              <a:rPr lang="en-US" dirty="0" err="1"/>
              <a:t>lệch</a:t>
            </a:r>
            <a:r>
              <a:rPr lang="en-US" dirty="0"/>
              <a:t>: </a:t>
            </a:r>
            <a:r>
              <a:rPr lang="en-US" dirty="0" err="1"/>
              <a:t>Trên</a:t>
            </a:r>
            <a:r>
              <a:rPr lang="en-US" dirty="0"/>
              <a:t> Internet </a:t>
            </a:r>
            <a:r>
              <a:rPr lang="en-US" dirty="0" err="1"/>
              <a:t>có</a:t>
            </a:r>
            <a:r>
              <a:rPr lang="en-US" dirty="0"/>
              <a:t> </a:t>
            </a:r>
            <a:r>
              <a:rPr lang="en-US" dirty="0" err="1"/>
              <a:t>rất</a:t>
            </a:r>
            <a:r>
              <a:rPr lang="en-US" dirty="0"/>
              <a:t> </a:t>
            </a:r>
            <a:r>
              <a:rPr lang="en-US" dirty="0" err="1"/>
              <a:t>nhiều</a:t>
            </a:r>
            <a:r>
              <a:rPr lang="en-US" dirty="0"/>
              <a:t> </a:t>
            </a:r>
            <a:r>
              <a:rPr lang="en-US" dirty="0" err="1"/>
              <a:t>nguồn</a:t>
            </a:r>
            <a:r>
              <a:rPr lang="en-US" dirty="0"/>
              <a:t> </a:t>
            </a:r>
            <a:r>
              <a:rPr lang="en-US" dirty="0" err="1"/>
              <a:t>thông</a:t>
            </a:r>
            <a:r>
              <a:rPr lang="en-US" dirty="0"/>
              <a:t> tin </a:t>
            </a:r>
            <a:r>
              <a:rPr lang="en-US" dirty="0" err="1"/>
              <a:t>khác</a:t>
            </a:r>
            <a:r>
              <a:rPr lang="en-US" dirty="0"/>
              <a:t> </a:t>
            </a:r>
            <a:r>
              <a:rPr lang="en-US" dirty="0" err="1"/>
              <a:t>nhau</a:t>
            </a:r>
            <a:r>
              <a:rPr lang="en-US" dirty="0"/>
              <a:t>, </a:t>
            </a:r>
            <a:r>
              <a:rPr lang="en-US" dirty="0" err="1"/>
              <a:t>không</a:t>
            </a:r>
            <a:r>
              <a:rPr lang="en-US" dirty="0"/>
              <a:t> </a:t>
            </a:r>
            <a:r>
              <a:rPr lang="en-US" dirty="0" err="1"/>
              <a:t>phải</a:t>
            </a:r>
            <a:r>
              <a:rPr lang="en-US" dirty="0"/>
              <a:t> </a:t>
            </a:r>
            <a:r>
              <a:rPr lang="en-US" dirty="0" err="1"/>
              <a:t>tất</a:t>
            </a:r>
            <a:r>
              <a:rPr lang="en-US" dirty="0"/>
              <a:t> </a:t>
            </a:r>
            <a:r>
              <a:rPr lang="en-US" dirty="0" err="1"/>
              <a:t>cả</a:t>
            </a:r>
            <a:r>
              <a:rPr lang="en-US" dirty="0"/>
              <a:t> </a:t>
            </a:r>
            <a:r>
              <a:rPr lang="en-US" dirty="0" err="1"/>
              <a:t>đều</a:t>
            </a:r>
            <a:r>
              <a:rPr lang="en-US" dirty="0"/>
              <a:t> </a:t>
            </a:r>
            <a:r>
              <a:rPr lang="en-US" dirty="0" err="1"/>
              <a:t>đáng</a:t>
            </a:r>
            <a:r>
              <a:rPr lang="en-US" dirty="0"/>
              <a:t> tin </a:t>
            </a:r>
            <a:r>
              <a:rPr lang="en-US" dirty="0" err="1"/>
              <a:t>cậy</a:t>
            </a:r>
            <a:r>
              <a:rPr lang="en-US" dirty="0"/>
              <a:t>. </a:t>
            </a:r>
            <a:r>
              <a:rPr lang="en-US" dirty="0" err="1"/>
              <a:t>Việc</a:t>
            </a:r>
            <a:r>
              <a:rPr lang="en-US" dirty="0"/>
              <a:t> </a:t>
            </a:r>
            <a:r>
              <a:rPr lang="en-US" dirty="0" err="1"/>
              <a:t>thiếu</a:t>
            </a:r>
            <a:r>
              <a:rPr lang="en-US" dirty="0"/>
              <a:t> </a:t>
            </a:r>
            <a:r>
              <a:rPr lang="en-US" dirty="0" err="1"/>
              <a:t>kiểm</a:t>
            </a:r>
            <a:r>
              <a:rPr lang="en-US" dirty="0"/>
              <a:t> </a:t>
            </a:r>
            <a:r>
              <a:rPr lang="en-US" dirty="0" err="1"/>
              <a:t>duyệt</a:t>
            </a:r>
            <a:r>
              <a:rPr lang="en-US" dirty="0"/>
              <a:t> </a:t>
            </a:r>
            <a:r>
              <a:rPr lang="en-US" dirty="0" err="1"/>
              <a:t>dễ</a:t>
            </a:r>
            <a:r>
              <a:rPr lang="en-US" dirty="0"/>
              <a:t> </a:t>
            </a:r>
            <a:r>
              <a:rPr lang="en-US" dirty="0" err="1"/>
              <a:t>khiến</a:t>
            </a:r>
            <a:r>
              <a:rPr lang="en-US" dirty="0"/>
              <a:t> </a:t>
            </a:r>
            <a:r>
              <a:rPr lang="en-US" dirty="0" err="1"/>
              <a:t>người</a:t>
            </a:r>
            <a:r>
              <a:rPr lang="en-US" dirty="0"/>
              <a:t> </a:t>
            </a:r>
            <a:r>
              <a:rPr lang="en-US" dirty="0" err="1"/>
              <a:t>dùng</a:t>
            </a:r>
            <a:r>
              <a:rPr lang="en-US" dirty="0"/>
              <a:t> </a:t>
            </a:r>
            <a:r>
              <a:rPr lang="en-US" dirty="0" err="1"/>
              <a:t>tiếp</a:t>
            </a:r>
            <a:r>
              <a:rPr lang="en-US" dirty="0"/>
              <a:t> </a:t>
            </a:r>
            <a:r>
              <a:rPr lang="en-US" dirty="0" err="1"/>
              <a:t>cận</a:t>
            </a:r>
            <a:r>
              <a:rPr lang="en-US" dirty="0"/>
              <a:t> </a:t>
            </a:r>
            <a:r>
              <a:rPr lang="en-US" dirty="0" err="1"/>
              <a:t>các</a:t>
            </a:r>
            <a:r>
              <a:rPr lang="en-US" dirty="0"/>
              <a:t> tin </a:t>
            </a:r>
            <a:r>
              <a:rPr lang="en-US" dirty="0" err="1"/>
              <a:t>giả</a:t>
            </a:r>
            <a:r>
              <a:rPr lang="en-US" dirty="0"/>
              <a:t>, </a:t>
            </a:r>
            <a:r>
              <a:rPr lang="en-US" dirty="0" err="1"/>
              <a:t>nội</a:t>
            </a:r>
            <a:r>
              <a:rPr lang="en-US" dirty="0"/>
              <a:t> dung </a:t>
            </a:r>
            <a:r>
              <a:rPr lang="en-US" dirty="0" err="1"/>
              <a:t>sai</a:t>
            </a:r>
            <a:r>
              <a:rPr lang="en-US" dirty="0"/>
              <a:t> </a:t>
            </a:r>
            <a:r>
              <a:rPr lang="en-US" dirty="0" err="1"/>
              <a:t>lệch</a:t>
            </a:r>
            <a:r>
              <a:rPr lang="en-US" dirty="0"/>
              <a:t>, </a:t>
            </a:r>
            <a:r>
              <a:rPr lang="en-US" dirty="0" err="1"/>
              <a:t>đặc</a:t>
            </a:r>
            <a:r>
              <a:rPr lang="en-US" dirty="0"/>
              <a:t> </a:t>
            </a:r>
            <a:r>
              <a:rPr lang="en-US" dirty="0" err="1"/>
              <a:t>biệt</a:t>
            </a:r>
            <a:r>
              <a:rPr lang="en-US" dirty="0"/>
              <a:t> </a:t>
            </a:r>
            <a:r>
              <a:rPr lang="en-US" dirty="0" err="1"/>
              <a:t>là</a:t>
            </a:r>
            <a:r>
              <a:rPr lang="en-US" dirty="0"/>
              <a:t> </a:t>
            </a:r>
            <a:r>
              <a:rPr lang="en-US" dirty="0" err="1"/>
              <a:t>về</a:t>
            </a:r>
            <a:r>
              <a:rPr lang="en-US" dirty="0"/>
              <a:t> </a:t>
            </a:r>
            <a:r>
              <a:rPr lang="en-US" dirty="0" err="1"/>
              <a:t>sức</a:t>
            </a:r>
            <a:r>
              <a:rPr lang="en-US" dirty="0"/>
              <a:t> </a:t>
            </a:r>
            <a:r>
              <a:rPr lang="en-US" dirty="0" err="1"/>
              <a:t>khỏe</a:t>
            </a:r>
            <a:r>
              <a:rPr lang="en-US" dirty="0"/>
              <a:t>, </a:t>
            </a:r>
            <a:r>
              <a:rPr lang="en-US" dirty="0" err="1"/>
              <a:t>pháp</a:t>
            </a:r>
            <a:r>
              <a:rPr lang="en-US" dirty="0"/>
              <a:t> </a:t>
            </a:r>
            <a:r>
              <a:rPr lang="en-US" dirty="0" err="1"/>
              <a:t>luật</a:t>
            </a:r>
            <a:r>
              <a:rPr lang="en-US" dirty="0"/>
              <a:t>, </a:t>
            </a:r>
            <a:r>
              <a:rPr lang="en-US" dirty="0" err="1"/>
              <a:t>chính</a:t>
            </a:r>
            <a:r>
              <a:rPr lang="en-US" dirty="0"/>
              <a:t> </a:t>
            </a:r>
            <a:r>
              <a:rPr lang="en-US" dirty="0" err="1"/>
              <a:t>trị</a:t>
            </a:r>
            <a:r>
              <a:rPr lang="en-US" dirty="0"/>
              <a:t>,... </a:t>
            </a:r>
            <a:r>
              <a:rPr lang="en-US" dirty="0" err="1"/>
              <a:t>Điều</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dẫn</a:t>
            </a:r>
            <a:r>
              <a:rPr lang="en-US" dirty="0"/>
              <a:t> </a:t>
            </a:r>
            <a:r>
              <a:rPr lang="en-US" dirty="0" err="1"/>
              <a:t>đến</a:t>
            </a:r>
            <a:r>
              <a:rPr lang="en-US" dirty="0"/>
              <a:t> </a:t>
            </a:r>
            <a:r>
              <a:rPr lang="en-US" dirty="0" err="1"/>
              <a:t>hiểu</a:t>
            </a:r>
            <a:r>
              <a:rPr lang="en-US" dirty="0"/>
              <a:t> </a:t>
            </a:r>
            <a:r>
              <a:rPr lang="en-US" dirty="0" err="1"/>
              <a:t>lầm</a:t>
            </a:r>
            <a:r>
              <a:rPr lang="en-US" dirty="0"/>
              <a:t>, </a:t>
            </a:r>
            <a:r>
              <a:rPr lang="en-US" dirty="0" err="1"/>
              <a:t>hoang</a:t>
            </a:r>
            <a:r>
              <a:rPr lang="en-US" dirty="0"/>
              <a:t> </a:t>
            </a:r>
            <a:r>
              <a:rPr lang="en-US" dirty="0" err="1"/>
              <a:t>mang</a:t>
            </a:r>
            <a:r>
              <a:rPr lang="en-US" dirty="0"/>
              <a:t> </a:t>
            </a:r>
            <a:r>
              <a:rPr lang="en-US" dirty="0" err="1"/>
              <a:t>hoặc</a:t>
            </a:r>
            <a:r>
              <a:rPr lang="en-US" dirty="0"/>
              <a:t> </a:t>
            </a:r>
            <a:r>
              <a:rPr lang="en-US" dirty="0" err="1"/>
              <a:t>bị</a:t>
            </a:r>
            <a:r>
              <a:rPr lang="en-US" dirty="0"/>
              <a:t> </a:t>
            </a:r>
            <a:r>
              <a:rPr lang="en-US" dirty="0" err="1"/>
              <a:t>lợi</a:t>
            </a:r>
            <a:r>
              <a:rPr lang="en-US" dirty="0"/>
              <a:t> </a:t>
            </a:r>
            <a:r>
              <a:rPr lang="en-US" dirty="0" err="1"/>
              <a:t>dụng</a:t>
            </a:r>
            <a:r>
              <a:rPr lang="en-US" dirty="0"/>
              <a:t>.</a:t>
            </a:r>
          </a:p>
          <a:p>
            <a:endParaRPr lang="en-US" dirty="0"/>
          </a:p>
          <a:p>
            <a:r>
              <a:rPr lang="en-US" dirty="0" err="1"/>
              <a:t>Nghiện</a:t>
            </a:r>
            <a:r>
              <a:rPr lang="en-US" dirty="0"/>
              <a:t> Internet: </a:t>
            </a:r>
            <a:r>
              <a:rPr lang="en-US" dirty="0" err="1"/>
              <a:t>Việc</a:t>
            </a:r>
            <a:r>
              <a:rPr lang="en-US" dirty="0"/>
              <a:t> </a:t>
            </a:r>
            <a:r>
              <a:rPr lang="en-US" dirty="0" err="1"/>
              <a:t>sử</a:t>
            </a:r>
            <a:r>
              <a:rPr lang="en-US" dirty="0"/>
              <a:t> </a:t>
            </a:r>
            <a:r>
              <a:rPr lang="en-US" dirty="0" err="1"/>
              <a:t>dụng</a:t>
            </a:r>
            <a:r>
              <a:rPr lang="en-US" dirty="0"/>
              <a:t> Internet </a:t>
            </a:r>
            <a:r>
              <a:rPr lang="en-US" dirty="0" err="1"/>
              <a:t>liên</a:t>
            </a:r>
            <a:r>
              <a:rPr lang="en-US" dirty="0"/>
              <a:t> </a:t>
            </a:r>
            <a:r>
              <a:rPr lang="en-US" dirty="0" err="1"/>
              <a:t>tục</a:t>
            </a:r>
            <a:r>
              <a:rPr lang="en-US" dirty="0"/>
              <a:t> </a:t>
            </a:r>
            <a:r>
              <a:rPr lang="en-US" dirty="0" err="1"/>
              <a:t>trong</a:t>
            </a:r>
            <a:r>
              <a:rPr lang="en-US" dirty="0"/>
              <a:t> </a:t>
            </a:r>
            <a:r>
              <a:rPr lang="en-US" dirty="0" err="1"/>
              <a:t>thời</a:t>
            </a:r>
            <a:r>
              <a:rPr lang="en-US" dirty="0"/>
              <a:t> </a:t>
            </a:r>
            <a:r>
              <a:rPr lang="en-US" dirty="0" err="1"/>
              <a:t>gian</a:t>
            </a:r>
            <a:r>
              <a:rPr lang="en-US" dirty="0"/>
              <a:t> </a:t>
            </a:r>
            <a:r>
              <a:rPr lang="en-US" dirty="0" err="1"/>
              <a:t>dài</a:t>
            </a:r>
            <a:r>
              <a:rPr lang="en-US" dirty="0"/>
              <a:t> </a:t>
            </a:r>
            <a:r>
              <a:rPr lang="en-US" dirty="0" err="1"/>
              <a:t>dễ</a:t>
            </a:r>
            <a:r>
              <a:rPr lang="en-US" dirty="0"/>
              <a:t> </a:t>
            </a:r>
            <a:r>
              <a:rPr lang="en-US" dirty="0" err="1"/>
              <a:t>dẫn</a:t>
            </a:r>
            <a:r>
              <a:rPr lang="en-US" dirty="0"/>
              <a:t> </a:t>
            </a:r>
            <a:r>
              <a:rPr lang="en-US" dirty="0" err="1"/>
              <a:t>đến</a:t>
            </a:r>
            <a:r>
              <a:rPr lang="en-US" dirty="0"/>
              <a:t> </a:t>
            </a:r>
            <a:r>
              <a:rPr lang="en-US" dirty="0" err="1"/>
              <a:t>nghiện</a:t>
            </a:r>
            <a:r>
              <a:rPr lang="en-US" dirty="0"/>
              <a:t>, </a:t>
            </a:r>
            <a:r>
              <a:rPr lang="en-US" dirty="0" err="1"/>
              <a:t>đặc</a:t>
            </a:r>
            <a:r>
              <a:rPr lang="en-US" dirty="0"/>
              <a:t> </a:t>
            </a:r>
            <a:r>
              <a:rPr lang="en-US" dirty="0" err="1"/>
              <a:t>biệt</a:t>
            </a:r>
            <a:r>
              <a:rPr lang="en-US" dirty="0"/>
              <a:t> </a:t>
            </a:r>
            <a:r>
              <a:rPr lang="en-US" dirty="0" err="1"/>
              <a:t>là</a:t>
            </a:r>
            <a:r>
              <a:rPr lang="en-US" dirty="0"/>
              <a:t> </a:t>
            </a:r>
            <a:r>
              <a:rPr lang="en-US" dirty="0" err="1"/>
              <a:t>mạng</a:t>
            </a:r>
            <a:r>
              <a:rPr lang="en-US" dirty="0"/>
              <a:t> </a:t>
            </a:r>
            <a:r>
              <a:rPr lang="en-US" dirty="0" err="1"/>
              <a:t>xã</a:t>
            </a:r>
            <a:r>
              <a:rPr lang="en-US" dirty="0"/>
              <a:t> </a:t>
            </a:r>
            <a:r>
              <a:rPr lang="en-US" dirty="0" err="1"/>
              <a:t>hội</a:t>
            </a:r>
            <a:r>
              <a:rPr lang="en-US" dirty="0"/>
              <a:t>, </a:t>
            </a:r>
            <a:r>
              <a:rPr lang="en-US" dirty="0" err="1"/>
              <a:t>trò</a:t>
            </a:r>
            <a:r>
              <a:rPr lang="en-US" dirty="0"/>
              <a:t> </a:t>
            </a:r>
            <a:r>
              <a:rPr lang="en-US" dirty="0" err="1"/>
              <a:t>chơi</a:t>
            </a:r>
            <a:r>
              <a:rPr lang="en-US" dirty="0"/>
              <a:t> </a:t>
            </a:r>
            <a:r>
              <a:rPr lang="en-US" dirty="0" err="1"/>
              <a:t>điện</a:t>
            </a:r>
            <a:r>
              <a:rPr lang="en-US" dirty="0"/>
              <a:t> </a:t>
            </a:r>
            <a:r>
              <a:rPr lang="en-US" dirty="0" err="1"/>
              <a:t>tử</a:t>
            </a:r>
            <a:r>
              <a:rPr lang="en-US" dirty="0"/>
              <a:t> </a:t>
            </a:r>
            <a:r>
              <a:rPr lang="en-US" dirty="0" err="1"/>
              <a:t>và</a:t>
            </a:r>
            <a:r>
              <a:rPr lang="en-US" dirty="0"/>
              <a:t> video </a:t>
            </a:r>
            <a:r>
              <a:rPr lang="en-US" dirty="0" err="1"/>
              <a:t>trực</a:t>
            </a:r>
            <a:r>
              <a:rPr lang="en-US" dirty="0"/>
              <a:t> </a:t>
            </a:r>
            <a:r>
              <a:rPr lang="en-US" dirty="0" err="1"/>
              <a:t>tuyến</a:t>
            </a:r>
            <a:r>
              <a:rPr lang="en-US" dirty="0"/>
              <a:t>. </a:t>
            </a:r>
            <a:r>
              <a:rPr lang="en-US" dirty="0" err="1"/>
              <a:t>Điều</a:t>
            </a:r>
            <a:r>
              <a:rPr lang="en-US" dirty="0"/>
              <a:t> </a:t>
            </a:r>
            <a:r>
              <a:rPr lang="en-US" dirty="0" err="1"/>
              <a:t>này</a:t>
            </a:r>
            <a:r>
              <a:rPr lang="en-US" dirty="0"/>
              <a:t> </a:t>
            </a:r>
            <a:r>
              <a:rPr lang="en-US" dirty="0" err="1"/>
              <a:t>làm</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sức</a:t>
            </a:r>
            <a:r>
              <a:rPr lang="en-US" dirty="0"/>
              <a:t> </a:t>
            </a:r>
            <a:r>
              <a:rPr lang="en-US" dirty="0" err="1"/>
              <a:t>khỏe</a:t>
            </a:r>
            <a:r>
              <a:rPr lang="en-US" dirty="0"/>
              <a:t> </a:t>
            </a:r>
            <a:r>
              <a:rPr lang="en-US" dirty="0" err="1"/>
              <a:t>thể</a:t>
            </a:r>
            <a:r>
              <a:rPr lang="en-US" dirty="0"/>
              <a:t> </a:t>
            </a:r>
            <a:r>
              <a:rPr lang="en-US" dirty="0" err="1"/>
              <a:t>chất</a:t>
            </a:r>
            <a:r>
              <a:rPr lang="en-US" dirty="0"/>
              <a:t>, </a:t>
            </a:r>
            <a:r>
              <a:rPr lang="en-US" dirty="0" err="1"/>
              <a:t>tinh</a:t>
            </a:r>
            <a:r>
              <a:rPr lang="en-US" dirty="0"/>
              <a:t> </a:t>
            </a:r>
            <a:r>
              <a:rPr lang="en-US" dirty="0" err="1"/>
              <a:t>thần</a:t>
            </a:r>
            <a:r>
              <a:rPr lang="en-US" dirty="0"/>
              <a:t>, </a:t>
            </a:r>
            <a:r>
              <a:rPr lang="en-US" dirty="0" err="1"/>
              <a:t>và</a:t>
            </a:r>
            <a:r>
              <a:rPr lang="en-US" dirty="0"/>
              <a:t> </a:t>
            </a:r>
            <a:r>
              <a:rPr lang="en-US" dirty="0" err="1"/>
              <a:t>làm</a:t>
            </a:r>
            <a:r>
              <a:rPr lang="en-US" dirty="0"/>
              <a:t> </a:t>
            </a:r>
            <a:r>
              <a:rPr lang="en-US" dirty="0" err="1"/>
              <a:t>giảm</a:t>
            </a:r>
            <a:r>
              <a:rPr lang="en-US" dirty="0"/>
              <a:t> </a:t>
            </a:r>
            <a:r>
              <a:rPr lang="en-US" dirty="0" err="1"/>
              <a:t>hiệu</a:t>
            </a:r>
            <a:r>
              <a:rPr lang="en-US" dirty="0"/>
              <a:t> </a:t>
            </a:r>
            <a:r>
              <a:rPr lang="en-US" dirty="0" err="1"/>
              <a:t>quả</a:t>
            </a:r>
            <a:r>
              <a:rPr lang="en-US" dirty="0"/>
              <a:t> </a:t>
            </a:r>
            <a:r>
              <a:rPr lang="en-US" dirty="0" err="1"/>
              <a:t>học</a:t>
            </a:r>
            <a:r>
              <a:rPr lang="en-US" dirty="0"/>
              <a:t> </a:t>
            </a:r>
            <a:r>
              <a:rPr lang="en-US" dirty="0" err="1"/>
              <a:t>tập</a:t>
            </a:r>
            <a:r>
              <a:rPr lang="en-US" dirty="0"/>
              <a:t>, </a:t>
            </a:r>
            <a:r>
              <a:rPr lang="en-US" dirty="0" err="1"/>
              <a:t>làm</a:t>
            </a:r>
            <a:r>
              <a:rPr lang="en-US" dirty="0"/>
              <a:t> </a:t>
            </a:r>
            <a:r>
              <a:rPr lang="en-US" dirty="0" err="1"/>
              <a:t>việc</a:t>
            </a:r>
            <a:r>
              <a:rPr lang="en-US" dirty="0"/>
              <a:t>.</a:t>
            </a:r>
          </a:p>
          <a:p>
            <a:endParaRPr lang="en-US" dirty="0"/>
          </a:p>
          <a:p>
            <a:r>
              <a:rPr lang="en-US" dirty="0" err="1"/>
              <a:t>Tội</a:t>
            </a:r>
            <a:r>
              <a:rPr lang="en-US" dirty="0"/>
              <a:t> </a:t>
            </a:r>
            <a:r>
              <a:rPr lang="en-US" dirty="0" err="1"/>
              <a:t>phạm</a:t>
            </a:r>
            <a:r>
              <a:rPr lang="en-US" dirty="0"/>
              <a:t> </a:t>
            </a:r>
            <a:r>
              <a:rPr lang="en-US" dirty="0" err="1"/>
              <a:t>mạng</a:t>
            </a:r>
            <a:r>
              <a:rPr lang="en-US" dirty="0"/>
              <a:t> (Cybercrime): </a:t>
            </a:r>
            <a:r>
              <a:rPr lang="en-US" dirty="0" err="1"/>
              <a:t>Các</a:t>
            </a:r>
            <a:r>
              <a:rPr lang="en-US" dirty="0"/>
              <a:t> </a:t>
            </a:r>
            <a:r>
              <a:rPr lang="en-US" dirty="0" err="1"/>
              <a:t>hình</a:t>
            </a:r>
            <a:r>
              <a:rPr lang="en-US" dirty="0"/>
              <a:t> </a:t>
            </a:r>
            <a:r>
              <a:rPr lang="en-US" dirty="0" err="1"/>
              <a:t>thức</a:t>
            </a:r>
            <a:r>
              <a:rPr lang="en-US" dirty="0"/>
              <a:t> </a:t>
            </a:r>
            <a:r>
              <a:rPr lang="en-US" dirty="0" err="1"/>
              <a:t>tội</a:t>
            </a:r>
            <a:r>
              <a:rPr lang="en-US" dirty="0"/>
              <a:t> </a:t>
            </a:r>
            <a:r>
              <a:rPr lang="en-US" dirty="0" err="1"/>
              <a:t>phạm</a:t>
            </a:r>
            <a:r>
              <a:rPr lang="en-US" dirty="0"/>
              <a:t> qua </a:t>
            </a:r>
            <a:r>
              <a:rPr lang="en-US" dirty="0" err="1"/>
              <a:t>mạng</a:t>
            </a:r>
            <a:r>
              <a:rPr lang="en-US" dirty="0"/>
              <a:t> </a:t>
            </a:r>
            <a:r>
              <a:rPr lang="en-US" dirty="0" err="1"/>
              <a:t>như</a:t>
            </a:r>
            <a:r>
              <a:rPr lang="en-US" dirty="0"/>
              <a:t> </a:t>
            </a:r>
            <a:r>
              <a:rPr lang="en-US" dirty="0" err="1"/>
              <a:t>lừa</a:t>
            </a:r>
            <a:r>
              <a:rPr lang="en-US" dirty="0"/>
              <a:t> </a:t>
            </a:r>
            <a:r>
              <a:rPr lang="en-US" dirty="0" err="1"/>
              <a:t>đảo</a:t>
            </a:r>
            <a:r>
              <a:rPr lang="en-US" dirty="0"/>
              <a:t>, </a:t>
            </a:r>
            <a:r>
              <a:rPr lang="en-US" dirty="0" err="1"/>
              <a:t>phát</a:t>
            </a:r>
            <a:r>
              <a:rPr lang="en-US" dirty="0"/>
              <a:t> </a:t>
            </a:r>
            <a:r>
              <a:rPr lang="en-US" dirty="0" err="1"/>
              <a:t>tán</a:t>
            </a:r>
            <a:r>
              <a:rPr lang="en-US" dirty="0"/>
              <a:t> </a:t>
            </a:r>
            <a:r>
              <a:rPr lang="en-US" dirty="0" err="1"/>
              <a:t>mã</a:t>
            </a:r>
            <a:r>
              <a:rPr lang="en-US" dirty="0"/>
              <a:t> </a:t>
            </a:r>
            <a:r>
              <a:rPr lang="en-US" dirty="0" err="1"/>
              <a:t>độc</a:t>
            </a:r>
            <a:r>
              <a:rPr lang="en-US" dirty="0"/>
              <a:t>, </a:t>
            </a:r>
            <a:r>
              <a:rPr lang="en-US" dirty="0" err="1"/>
              <a:t>đánh</a:t>
            </a:r>
            <a:r>
              <a:rPr lang="en-US" dirty="0"/>
              <a:t> </a:t>
            </a:r>
            <a:r>
              <a:rPr lang="en-US" dirty="0" err="1"/>
              <a:t>cắp</a:t>
            </a:r>
            <a:r>
              <a:rPr lang="en-US" dirty="0"/>
              <a:t> </a:t>
            </a:r>
            <a:r>
              <a:rPr lang="en-US" dirty="0" err="1"/>
              <a:t>dữ</a:t>
            </a:r>
            <a:r>
              <a:rPr lang="en-US" dirty="0"/>
              <a:t> </a:t>
            </a:r>
            <a:r>
              <a:rPr lang="en-US" dirty="0" err="1"/>
              <a:t>liệu</a:t>
            </a:r>
            <a:r>
              <a:rPr lang="en-US" dirty="0"/>
              <a:t>, </a:t>
            </a:r>
            <a:r>
              <a:rPr lang="en-US" dirty="0" err="1"/>
              <a:t>hoặc</a:t>
            </a:r>
            <a:r>
              <a:rPr lang="en-US" dirty="0"/>
              <a:t> </a:t>
            </a:r>
            <a:r>
              <a:rPr lang="en-US" dirty="0" err="1"/>
              <a:t>xâm</a:t>
            </a:r>
            <a:r>
              <a:rPr lang="en-US" dirty="0"/>
              <a:t> </a:t>
            </a:r>
            <a:r>
              <a:rPr lang="en-US" dirty="0" err="1"/>
              <a:t>nhập</a:t>
            </a:r>
            <a:r>
              <a:rPr lang="en-US" dirty="0"/>
              <a:t> </a:t>
            </a:r>
            <a:r>
              <a:rPr lang="en-US" dirty="0" err="1"/>
              <a:t>hệ</a:t>
            </a:r>
            <a:r>
              <a:rPr lang="en-US" dirty="0"/>
              <a:t> </a:t>
            </a:r>
            <a:r>
              <a:rPr lang="en-US" dirty="0" err="1"/>
              <a:t>thống</a:t>
            </a:r>
            <a:r>
              <a:rPr lang="en-US" dirty="0"/>
              <a:t> </a:t>
            </a:r>
            <a:r>
              <a:rPr lang="en-US" dirty="0" err="1"/>
              <a:t>ngày</a:t>
            </a:r>
            <a:r>
              <a:rPr lang="en-US" dirty="0"/>
              <a:t> </a:t>
            </a:r>
            <a:r>
              <a:rPr lang="en-US" dirty="0" err="1"/>
              <a:t>càng</a:t>
            </a:r>
            <a:r>
              <a:rPr lang="en-US" dirty="0"/>
              <a:t> </a:t>
            </a:r>
            <a:r>
              <a:rPr lang="en-US" dirty="0" err="1"/>
              <a:t>tinh</a:t>
            </a:r>
            <a:r>
              <a:rPr lang="en-US" dirty="0"/>
              <a:t> vi. </a:t>
            </a:r>
            <a:r>
              <a:rPr lang="en-US" dirty="0" err="1"/>
              <a:t>Chúng</a:t>
            </a:r>
            <a:r>
              <a:rPr lang="en-US" dirty="0"/>
              <a:t> </a:t>
            </a:r>
            <a:r>
              <a:rPr lang="en-US" dirty="0" err="1"/>
              <a:t>gây</a:t>
            </a:r>
            <a:r>
              <a:rPr lang="en-US" dirty="0"/>
              <a:t> </a:t>
            </a:r>
            <a:r>
              <a:rPr lang="en-US" dirty="0" err="1"/>
              <a:t>thiệt</a:t>
            </a:r>
            <a:r>
              <a:rPr lang="en-US" dirty="0"/>
              <a:t> </a:t>
            </a:r>
            <a:r>
              <a:rPr lang="en-US" dirty="0" err="1"/>
              <a:t>hại</a:t>
            </a:r>
            <a:r>
              <a:rPr lang="en-US" dirty="0"/>
              <a:t> </a:t>
            </a:r>
            <a:r>
              <a:rPr lang="en-US" dirty="0" err="1"/>
              <a:t>nghiêm</a:t>
            </a:r>
            <a:r>
              <a:rPr lang="en-US" dirty="0"/>
              <a:t> </a:t>
            </a:r>
            <a:r>
              <a:rPr lang="en-US" dirty="0" err="1"/>
              <a:t>trọng</a:t>
            </a:r>
            <a:r>
              <a:rPr lang="en-US" dirty="0"/>
              <a:t> </a:t>
            </a:r>
            <a:r>
              <a:rPr lang="en-US" dirty="0" err="1"/>
              <a:t>cho</a:t>
            </a:r>
            <a:r>
              <a:rPr lang="en-US" dirty="0"/>
              <a:t> </a:t>
            </a:r>
            <a:r>
              <a:rPr lang="en-US" dirty="0" err="1"/>
              <a:t>cá</a:t>
            </a:r>
            <a:r>
              <a:rPr lang="en-US" dirty="0"/>
              <a:t> </a:t>
            </a:r>
            <a:r>
              <a:rPr lang="en-US" dirty="0" err="1"/>
              <a:t>nhân</a:t>
            </a:r>
            <a:r>
              <a:rPr lang="en-US" dirty="0"/>
              <a:t>, </a:t>
            </a:r>
            <a:r>
              <a:rPr lang="en-US" dirty="0" err="1"/>
              <a:t>doanh</a:t>
            </a:r>
            <a:r>
              <a:rPr lang="en-US" dirty="0"/>
              <a:t> </a:t>
            </a:r>
            <a:r>
              <a:rPr lang="en-US" dirty="0" err="1"/>
              <a:t>nghiệp</a:t>
            </a:r>
            <a:r>
              <a:rPr lang="en-US" dirty="0"/>
              <a:t> </a:t>
            </a:r>
            <a:r>
              <a:rPr lang="en-US" dirty="0" err="1"/>
              <a:t>và</a:t>
            </a:r>
            <a:r>
              <a:rPr lang="en-US" dirty="0"/>
              <a:t> </a:t>
            </a:r>
            <a:r>
              <a:rPr lang="en-US" dirty="0" err="1"/>
              <a:t>cả</a:t>
            </a:r>
            <a:r>
              <a:rPr lang="en-US" dirty="0"/>
              <a:t> </a:t>
            </a:r>
            <a:r>
              <a:rPr lang="en-US" dirty="0" err="1"/>
              <a:t>cơ</a:t>
            </a:r>
            <a:r>
              <a:rPr lang="en-US" dirty="0"/>
              <a:t> </a:t>
            </a:r>
            <a:r>
              <a:rPr lang="en-US" dirty="0" err="1"/>
              <a:t>quan</a:t>
            </a:r>
            <a:r>
              <a:rPr lang="en-US" dirty="0"/>
              <a:t> </a:t>
            </a:r>
            <a:r>
              <a:rPr lang="en-US" dirty="0" err="1"/>
              <a:t>nhà</a:t>
            </a:r>
            <a:r>
              <a:rPr lang="en-US" dirty="0"/>
              <a:t> </a:t>
            </a:r>
            <a:r>
              <a:rPr lang="en-US" dirty="0" err="1"/>
              <a:t>nước</a:t>
            </a:r>
            <a:r>
              <a:rPr lang="en-US" dirty="0"/>
              <a:t> </a:t>
            </a:r>
            <a:r>
              <a:rPr lang="en-US" dirty="0" err="1"/>
              <a:t>nếu</a:t>
            </a:r>
            <a:r>
              <a:rPr lang="en-US" dirty="0"/>
              <a:t> </a:t>
            </a:r>
            <a:r>
              <a:rPr lang="en-US" dirty="0" err="1"/>
              <a:t>không</a:t>
            </a:r>
            <a:r>
              <a:rPr lang="en-US" dirty="0"/>
              <a:t> </a:t>
            </a:r>
            <a:r>
              <a:rPr lang="en-US" dirty="0" err="1"/>
              <a:t>có</a:t>
            </a:r>
            <a:r>
              <a:rPr lang="en-US" dirty="0"/>
              <a:t> </a:t>
            </a:r>
            <a:r>
              <a:rPr lang="en-US" dirty="0" err="1"/>
              <a:t>biện</a:t>
            </a:r>
            <a:r>
              <a:rPr lang="en-US" dirty="0"/>
              <a:t> </a:t>
            </a:r>
            <a:r>
              <a:rPr lang="en-US" dirty="0" err="1"/>
              <a:t>pháp</a:t>
            </a:r>
            <a:r>
              <a:rPr lang="en-US" dirty="0"/>
              <a:t> </a:t>
            </a:r>
            <a:r>
              <a:rPr lang="en-US" dirty="0" err="1"/>
              <a:t>bảo</a:t>
            </a:r>
            <a:r>
              <a:rPr lang="en-US" dirty="0"/>
              <a:t> </a:t>
            </a:r>
            <a:r>
              <a:rPr lang="en-US" dirty="0" err="1"/>
              <a:t>mật</a:t>
            </a:r>
            <a:r>
              <a:rPr lang="en-US" dirty="0"/>
              <a:t> </a:t>
            </a:r>
            <a:r>
              <a:rPr lang="en-US" dirty="0" err="1"/>
              <a:t>tốt</a:t>
            </a:r>
            <a:r>
              <a:rPr lang="en-US" dirty="0"/>
              <a:t>.</a:t>
            </a:r>
          </a:p>
          <a:p>
            <a:endParaRPr lang="en-US" dirty="0"/>
          </a:p>
          <a:p>
            <a:r>
              <a:rPr lang="en-US" dirty="0" err="1"/>
              <a:t>Phụ</a:t>
            </a:r>
            <a:r>
              <a:rPr lang="en-US" dirty="0"/>
              <a:t> </a:t>
            </a:r>
            <a:r>
              <a:rPr lang="en-US" dirty="0" err="1"/>
              <a:t>thuộc</a:t>
            </a:r>
            <a:r>
              <a:rPr lang="en-US" dirty="0"/>
              <a:t> </a:t>
            </a:r>
            <a:r>
              <a:rPr lang="en-US" dirty="0" err="1"/>
              <a:t>quá</a:t>
            </a:r>
            <a:r>
              <a:rPr lang="en-US" dirty="0"/>
              <a:t> </a:t>
            </a:r>
            <a:r>
              <a:rPr lang="en-US" dirty="0" err="1"/>
              <a:t>mức</a:t>
            </a:r>
            <a:r>
              <a:rPr lang="en-US" dirty="0"/>
              <a:t>: </a:t>
            </a:r>
            <a:r>
              <a:rPr lang="en-US" dirty="0" err="1"/>
              <a:t>Sử</a:t>
            </a:r>
            <a:r>
              <a:rPr lang="en-US" dirty="0"/>
              <a:t> </a:t>
            </a:r>
            <a:r>
              <a:rPr lang="en-US" dirty="0" err="1"/>
              <a:t>dụng</a:t>
            </a:r>
            <a:r>
              <a:rPr lang="en-US" dirty="0"/>
              <a:t> Internet </a:t>
            </a:r>
            <a:r>
              <a:rPr lang="en-US" dirty="0" err="1"/>
              <a:t>quá</a:t>
            </a:r>
            <a:r>
              <a:rPr lang="en-US" dirty="0"/>
              <a:t> </a:t>
            </a:r>
            <a:r>
              <a:rPr lang="en-US" dirty="0" err="1"/>
              <a:t>nhiều</a:t>
            </a:r>
            <a:r>
              <a:rPr lang="en-US" dirty="0"/>
              <a:t> </a:t>
            </a:r>
            <a:r>
              <a:rPr lang="en-US" dirty="0" err="1"/>
              <a:t>dễ</a:t>
            </a:r>
            <a:r>
              <a:rPr lang="en-US" dirty="0"/>
              <a:t> </a:t>
            </a:r>
            <a:r>
              <a:rPr lang="en-US" dirty="0" err="1"/>
              <a:t>dẫn</a:t>
            </a:r>
            <a:r>
              <a:rPr lang="en-US" dirty="0"/>
              <a:t> </a:t>
            </a:r>
            <a:r>
              <a:rPr lang="en-US" dirty="0" err="1"/>
              <a:t>đến</a:t>
            </a:r>
            <a:r>
              <a:rPr lang="en-US" dirty="0"/>
              <a:t> </a:t>
            </a:r>
            <a:r>
              <a:rPr lang="en-US" dirty="0" err="1"/>
              <a:t>lệ</a:t>
            </a:r>
            <a:r>
              <a:rPr lang="en-US" dirty="0"/>
              <a:t> </a:t>
            </a:r>
            <a:r>
              <a:rPr lang="en-US" dirty="0" err="1"/>
              <a:t>thuộc</a:t>
            </a:r>
            <a:r>
              <a:rPr lang="en-US" dirty="0"/>
              <a:t>, </a:t>
            </a:r>
            <a:r>
              <a:rPr lang="en-US" dirty="0" err="1"/>
              <a:t>giảm</a:t>
            </a:r>
            <a:r>
              <a:rPr lang="en-US" dirty="0"/>
              <a:t> </a:t>
            </a:r>
            <a:r>
              <a:rPr lang="en-US" dirty="0" err="1"/>
              <a:t>giao</a:t>
            </a:r>
            <a:r>
              <a:rPr lang="en-US" dirty="0"/>
              <a:t> </a:t>
            </a:r>
            <a:r>
              <a:rPr lang="en-US" dirty="0" err="1"/>
              <a:t>tiếp</a:t>
            </a:r>
            <a:r>
              <a:rPr lang="en-US" dirty="0"/>
              <a:t> </a:t>
            </a:r>
            <a:r>
              <a:rPr lang="en-US" dirty="0" err="1"/>
              <a:t>thực</a:t>
            </a:r>
            <a:r>
              <a:rPr lang="en-US" dirty="0"/>
              <a:t> </a:t>
            </a:r>
            <a:r>
              <a:rPr lang="en-US" dirty="0" err="1"/>
              <a:t>tế</a:t>
            </a:r>
            <a:r>
              <a:rPr lang="en-US" dirty="0"/>
              <a:t>, </a:t>
            </a:r>
            <a:r>
              <a:rPr lang="en-US" dirty="0" err="1"/>
              <a:t>tư</a:t>
            </a:r>
            <a:r>
              <a:rPr lang="en-US" dirty="0"/>
              <a:t> </a:t>
            </a:r>
            <a:r>
              <a:rPr lang="en-US" dirty="0" err="1"/>
              <a:t>duy</a:t>
            </a:r>
            <a:r>
              <a:rPr lang="en-US" dirty="0"/>
              <a:t> </a:t>
            </a:r>
            <a:r>
              <a:rPr lang="en-US" dirty="0" err="1"/>
              <a:t>độc</a:t>
            </a:r>
            <a:r>
              <a:rPr lang="en-US" dirty="0"/>
              <a:t> </a:t>
            </a:r>
            <a:r>
              <a:rPr lang="en-US" dirty="0" err="1"/>
              <a:t>lập</a:t>
            </a:r>
            <a:r>
              <a:rPr lang="en-US" dirty="0"/>
              <a:t> </a:t>
            </a:r>
            <a:r>
              <a:rPr lang="en-US" dirty="0" err="1"/>
              <a:t>và</a:t>
            </a:r>
            <a:r>
              <a:rPr lang="en-US" dirty="0"/>
              <a:t> </a:t>
            </a:r>
            <a:r>
              <a:rPr lang="en-US" dirty="0" err="1"/>
              <a:t>kỹ</a:t>
            </a:r>
            <a:r>
              <a:rPr lang="en-US" dirty="0"/>
              <a:t> </a:t>
            </a:r>
            <a:r>
              <a:rPr lang="en-US" dirty="0" err="1"/>
              <a:t>năng</a:t>
            </a:r>
            <a:r>
              <a:rPr lang="en-US" dirty="0"/>
              <a:t> </a:t>
            </a:r>
            <a:r>
              <a:rPr lang="en-US" dirty="0" err="1"/>
              <a:t>sống</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chất</a:t>
            </a:r>
            <a:r>
              <a:rPr lang="en-US" dirty="0"/>
              <a:t> </a:t>
            </a:r>
            <a:r>
              <a:rPr lang="en-US" dirty="0" err="1"/>
              <a:t>lượng</a:t>
            </a:r>
            <a:r>
              <a:rPr lang="en-US" dirty="0"/>
              <a:t> </a:t>
            </a:r>
            <a:r>
              <a:rPr lang="en-US" dirty="0" err="1"/>
              <a:t>cuộc</a:t>
            </a:r>
            <a:r>
              <a:rPr lang="en-US" dirty="0"/>
              <a:t> </a:t>
            </a:r>
            <a:r>
              <a:rPr lang="en-US" dirty="0" err="1"/>
              <a:t>sống</a:t>
            </a:r>
            <a:r>
              <a:rPr lang="en-US" dirty="0"/>
              <a:t> </a:t>
            </a:r>
            <a:r>
              <a:rPr lang="en-US" dirty="0" err="1"/>
              <a:t>lâu</a:t>
            </a:r>
            <a:r>
              <a:rPr lang="en-US" dirty="0"/>
              <a:t> </a:t>
            </a:r>
            <a:r>
              <a:rPr lang="en-US" dirty="0" err="1"/>
              <a:t>dài</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Sau </a:t>
            </a:r>
            <a:r>
              <a:rPr lang="en-US" dirty="0" err="1"/>
              <a:t>đây</a:t>
            </a:r>
            <a:r>
              <a:rPr lang="en-US" dirty="0"/>
              <a:t> </a:t>
            </a:r>
            <a:r>
              <a:rPr lang="en-US" dirty="0" err="1"/>
              <a:t>là</a:t>
            </a:r>
            <a:r>
              <a:rPr lang="en-US" dirty="0"/>
              <a:t> 1 </a:t>
            </a:r>
            <a:r>
              <a:rPr lang="en-US" dirty="0" err="1"/>
              <a:t>số</a:t>
            </a:r>
            <a:r>
              <a:rPr lang="en-US" dirty="0"/>
              <a:t> </a:t>
            </a:r>
            <a:r>
              <a:rPr lang="en-US" dirty="0" err="1"/>
              <a:t>dịch</a:t>
            </a:r>
            <a:r>
              <a:rPr lang="en-US" dirty="0"/>
              <a:t> </a:t>
            </a:r>
            <a:r>
              <a:rPr lang="en-US" dirty="0" err="1"/>
              <a:t>vụ</a:t>
            </a:r>
            <a:r>
              <a:rPr lang="en-US" dirty="0"/>
              <a:t> </a:t>
            </a:r>
            <a:r>
              <a:rPr lang="en-US" dirty="0" err="1"/>
              <a:t>phổ</a:t>
            </a:r>
            <a:r>
              <a:rPr lang="en-US" dirty="0"/>
              <a:t> </a:t>
            </a:r>
            <a:r>
              <a:rPr lang="en-US" dirty="0" err="1"/>
              <a:t>biến</a:t>
            </a:r>
            <a:r>
              <a:rPr lang="en-US" dirty="0"/>
              <a:t> </a:t>
            </a:r>
            <a:r>
              <a:rPr lang="en-US" dirty="0" err="1"/>
              <a:t>của</a:t>
            </a:r>
            <a:r>
              <a:rPr lang="en-US" dirty="0"/>
              <a:t> Internet, </a:t>
            </a:r>
            <a:r>
              <a:rPr lang="en-US" dirty="0" err="1"/>
              <a:t>như</a:t>
            </a:r>
            <a:r>
              <a:rPr lang="en-US" dirty="0"/>
              <a:t> </a:t>
            </a:r>
            <a:r>
              <a:rPr lang="en-US" dirty="0" err="1"/>
              <a:t>các</a:t>
            </a:r>
            <a:r>
              <a:rPr lang="en-US" dirty="0"/>
              <a:t> </a:t>
            </a:r>
            <a:r>
              <a:rPr lang="en-US" dirty="0" err="1"/>
              <a:t>bạn</a:t>
            </a:r>
            <a:r>
              <a:rPr lang="en-US" dirty="0"/>
              <a:t> </a:t>
            </a:r>
            <a:r>
              <a:rPr lang="en-US" dirty="0" err="1"/>
              <a:t>đã</a:t>
            </a:r>
            <a:r>
              <a:rPr lang="en-US" dirty="0"/>
              <a:t> </a:t>
            </a:r>
            <a:r>
              <a:rPr lang="en-US" dirty="0" err="1"/>
              <a:t>biết</a:t>
            </a:r>
            <a:r>
              <a:rPr lang="en-US" dirty="0"/>
              <a:t> </a:t>
            </a:r>
            <a:r>
              <a:rPr lang="en-US" dirty="0" err="1"/>
              <a:t>thì</a:t>
            </a:r>
            <a:r>
              <a:rPr lang="en-US" dirty="0"/>
              <a:t> Internet </a:t>
            </a:r>
            <a:r>
              <a:rPr lang="en-US" dirty="0" err="1"/>
              <a:t>cung</a:t>
            </a:r>
            <a:r>
              <a:rPr lang="en-US" dirty="0"/>
              <a:t> </a:t>
            </a:r>
            <a:r>
              <a:rPr lang="en-US" dirty="0" err="1"/>
              <a:t>cấp</a:t>
            </a:r>
            <a:r>
              <a:rPr lang="en-US" dirty="0"/>
              <a:t> </a:t>
            </a:r>
            <a:r>
              <a:rPr lang="en-US" dirty="0" err="1"/>
              <a:t>vô</a:t>
            </a:r>
            <a:r>
              <a:rPr lang="en-US" dirty="0"/>
              <a:t> </a:t>
            </a:r>
            <a:r>
              <a:rPr lang="en-US" dirty="0" err="1"/>
              <a:t>số</a:t>
            </a:r>
            <a:r>
              <a:rPr lang="en-US" dirty="0"/>
              <a:t> </a:t>
            </a:r>
            <a:r>
              <a:rPr lang="en-US" dirty="0" err="1"/>
              <a:t>dịch</a:t>
            </a:r>
            <a:r>
              <a:rPr lang="en-US" dirty="0"/>
              <a:t> </a:t>
            </a:r>
            <a:r>
              <a:rPr lang="en-US" dirty="0" err="1"/>
              <a:t>vụ</a:t>
            </a:r>
            <a:r>
              <a:rPr lang="en-US" dirty="0"/>
              <a:t> </a:t>
            </a:r>
            <a:r>
              <a:rPr lang="en-US" dirty="0" err="1"/>
              <a:t>thiết</a:t>
            </a:r>
            <a:r>
              <a:rPr lang="en-US" dirty="0"/>
              <a:t> </a:t>
            </a:r>
            <a:r>
              <a:rPr lang="en-US" dirty="0" err="1"/>
              <a:t>yếu</a:t>
            </a:r>
            <a:r>
              <a:rPr lang="en-US" dirty="0"/>
              <a:t>.</a:t>
            </a:r>
          </a:p>
          <a:p>
            <a:endParaRPr lang="en-US" dirty="0"/>
          </a:p>
          <a:p>
            <a:r>
              <a:rPr lang="en-US" dirty="0" err="1"/>
              <a:t>Đầu</a:t>
            </a:r>
            <a:r>
              <a:rPr lang="en-US" dirty="0"/>
              <a:t> </a:t>
            </a:r>
            <a:r>
              <a:rPr lang="en-US" dirty="0" err="1"/>
              <a:t>tiên</a:t>
            </a:r>
            <a:r>
              <a:rPr lang="en-US" dirty="0"/>
              <a:t> </a:t>
            </a:r>
            <a:r>
              <a:rPr lang="en-US" dirty="0" err="1"/>
              <a:t>phải</a:t>
            </a:r>
            <a:r>
              <a:rPr lang="en-US" dirty="0"/>
              <a:t> </a:t>
            </a:r>
            <a:r>
              <a:rPr lang="en-US" dirty="0" err="1"/>
              <a:t>kể</a:t>
            </a:r>
            <a:r>
              <a:rPr lang="en-US" dirty="0"/>
              <a:t> </a:t>
            </a:r>
            <a:r>
              <a:rPr lang="en-US" dirty="0" err="1"/>
              <a:t>đến</a:t>
            </a:r>
            <a:r>
              <a:rPr lang="en-US" dirty="0"/>
              <a:t> </a:t>
            </a:r>
            <a:r>
              <a:rPr lang="en-US" dirty="0" err="1"/>
              <a:t>Thư</a:t>
            </a:r>
            <a:r>
              <a:rPr lang="en-US" dirty="0"/>
              <a:t> </a:t>
            </a:r>
            <a:r>
              <a:rPr lang="en-US" dirty="0" err="1"/>
              <a:t>điện</a:t>
            </a:r>
            <a:r>
              <a:rPr lang="en-US" dirty="0"/>
              <a:t> </a:t>
            </a:r>
            <a:r>
              <a:rPr lang="en-US" dirty="0" err="1"/>
              <a:t>tử</a:t>
            </a:r>
            <a:r>
              <a:rPr lang="en-US" dirty="0"/>
              <a:t> (Email) - </a:t>
            </a:r>
            <a:r>
              <a:rPr lang="en-US" dirty="0" err="1"/>
              <a:t>phương</a:t>
            </a:r>
            <a:r>
              <a:rPr lang="en-US" dirty="0"/>
              <a:t> </a:t>
            </a:r>
            <a:r>
              <a:rPr lang="en-US" dirty="0" err="1"/>
              <a:t>tiện</a:t>
            </a:r>
            <a:r>
              <a:rPr lang="en-US" dirty="0"/>
              <a:t> </a:t>
            </a:r>
            <a:r>
              <a:rPr lang="en-US" dirty="0" err="1"/>
              <a:t>giao</a:t>
            </a:r>
            <a:r>
              <a:rPr lang="en-US" dirty="0"/>
              <a:t> </a:t>
            </a:r>
            <a:r>
              <a:rPr lang="en-US" dirty="0" err="1"/>
              <a:t>tiếp</a:t>
            </a:r>
            <a:r>
              <a:rPr lang="en-US" dirty="0"/>
              <a:t> </a:t>
            </a:r>
            <a:r>
              <a:rPr lang="en-US" dirty="0" err="1"/>
              <a:t>đã</a:t>
            </a:r>
            <a:r>
              <a:rPr lang="en-US" dirty="0"/>
              <a:t> </a:t>
            </a:r>
            <a:r>
              <a:rPr lang="en-US" dirty="0" err="1"/>
              <a:t>cách</a:t>
            </a:r>
            <a:r>
              <a:rPr lang="en-US" dirty="0"/>
              <a:t> </a:t>
            </a:r>
            <a:r>
              <a:rPr lang="en-US" dirty="0" err="1"/>
              <a:t>mạng</a:t>
            </a:r>
            <a:r>
              <a:rPr lang="en-US" dirty="0"/>
              <a:t> </a:t>
            </a:r>
            <a:r>
              <a:rPr lang="en-US" dirty="0" err="1"/>
              <a:t>hóa</a:t>
            </a:r>
            <a:r>
              <a:rPr lang="en-US" dirty="0"/>
              <a:t> </a:t>
            </a:r>
            <a:r>
              <a:rPr lang="en-US" dirty="0" err="1"/>
              <a:t>truyền</a:t>
            </a:r>
            <a:r>
              <a:rPr lang="en-US" dirty="0"/>
              <a:t> </a:t>
            </a:r>
            <a:r>
              <a:rPr lang="en-US" dirty="0" err="1"/>
              <a:t>thông</a:t>
            </a:r>
            <a:r>
              <a:rPr lang="en-US" dirty="0"/>
              <a:t>. </a:t>
            </a:r>
            <a:r>
              <a:rPr lang="en-US" dirty="0" err="1"/>
              <a:t>Từ</a:t>
            </a:r>
            <a:r>
              <a:rPr lang="en-US" dirty="0"/>
              <a:t> </a:t>
            </a:r>
            <a:r>
              <a:rPr lang="en-US" dirty="0" err="1"/>
              <a:t>một</a:t>
            </a:r>
            <a:r>
              <a:rPr lang="en-US" dirty="0"/>
              <a:t> </a:t>
            </a:r>
            <a:r>
              <a:rPr lang="en-US" dirty="0" err="1"/>
              <a:t>bức</a:t>
            </a:r>
            <a:r>
              <a:rPr lang="en-US" dirty="0"/>
              <a:t> </a:t>
            </a:r>
            <a:r>
              <a:rPr lang="en-US" dirty="0" err="1"/>
              <a:t>thư</a:t>
            </a:r>
            <a:r>
              <a:rPr lang="en-US" dirty="0"/>
              <a:t> </a:t>
            </a:r>
            <a:r>
              <a:rPr lang="en-US" dirty="0" err="1"/>
              <a:t>truyền</a:t>
            </a:r>
            <a:r>
              <a:rPr lang="en-US" dirty="0"/>
              <a:t> </a:t>
            </a:r>
            <a:r>
              <a:rPr lang="en-US" dirty="0" err="1"/>
              <a:t>thống</a:t>
            </a:r>
            <a:r>
              <a:rPr lang="en-US" dirty="0"/>
              <a:t> </a:t>
            </a:r>
            <a:r>
              <a:rPr lang="en-US" dirty="0" err="1"/>
              <a:t>mất</a:t>
            </a:r>
            <a:r>
              <a:rPr lang="en-US" dirty="0"/>
              <a:t> </a:t>
            </a:r>
            <a:r>
              <a:rPr lang="en-US" dirty="0" err="1"/>
              <a:t>vài</a:t>
            </a:r>
            <a:r>
              <a:rPr lang="en-US" dirty="0"/>
              <a:t> </a:t>
            </a:r>
            <a:r>
              <a:rPr lang="en-US" dirty="0" err="1"/>
              <a:t>ngày</a:t>
            </a:r>
            <a:r>
              <a:rPr lang="en-US" dirty="0"/>
              <a:t> </a:t>
            </a:r>
            <a:r>
              <a:rPr lang="en-US" dirty="0" err="1"/>
              <a:t>để</a:t>
            </a:r>
            <a:r>
              <a:rPr lang="en-US" dirty="0"/>
              <a:t> </a:t>
            </a:r>
            <a:r>
              <a:rPr lang="en-US" dirty="0" err="1"/>
              <a:t>chuyển</a:t>
            </a:r>
            <a:r>
              <a:rPr lang="en-US" dirty="0"/>
              <a:t> </a:t>
            </a:r>
            <a:r>
              <a:rPr lang="en-US" dirty="0" err="1"/>
              <a:t>phát</a:t>
            </a:r>
            <a:r>
              <a:rPr lang="en-US" dirty="0"/>
              <a:t>, </a:t>
            </a:r>
            <a:r>
              <a:rPr lang="en-US" dirty="0" err="1"/>
              <a:t>giờ</a:t>
            </a:r>
            <a:r>
              <a:rPr lang="en-US" dirty="0"/>
              <a:t> </a:t>
            </a:r>
            <a:r>
              <a:rPr lang="en-US" dirty="0" err="1"/>
              <a:t>đây</a:t>
            </a:r>
            <a:r>
              <a:rPr lang="en-US" dirty="0"/>
              <a:t> </a:t>
            </a:r>
            <a:r>
              <a:rPr lang="en-US" dirty="0" err="1"/>
              <a:t>với</a:t>
            </a:r>
            <a:r>
              <a:rPr lang="en-US" dirty="0"/>
              <a:t> Gmail hay Yahoo Mail, </a:t>
            </a:r>
            <a:r>
              <a:rPr lang="en-US" dirty="0" err="1"/>
              <a:t>chúng</a:t>
            </a:r>
            <a:r>
              <a:rPr lang="en-US" dirty="0"/>
              <a:t> ta </a:t>
            </a:r>
            <a:r>
              <a:rPr lang="en-US" dirty="0" err="1"/>
              <a:t>có</a:t>
            </a:r>
            <a:r>
              <a:rPr lang="en-US" dirty="0"/>
              <a:t> </a:t>
            </a:r>
            <a:r>
              <a:rPr lang="en-US" dirty="0" err="1"/>
              <a:t>thể</a:t>
            </a:r>
            <a:r>
              <a:rPr lang="en-US" dirty="0"/>
              <a:t> </a:t>
            </a:r>
            <a:r>
              <a:rPr lang="en-US" dirty="0" err="1"/>
              <a:t>gửi</a:t>
            </a:r>
            <a:r>
              <a:rPr lang="en-US" dirty="0"/>
              <a:t> </a:t>
            </a:r>
            <a:r>
              <a:rPr lang="en-US" dirty="0" err="1"/>
              <a:t>nhận</a:t>
            </a:r>
            <a:r>
              <a:rPr lang="en-US" dirty="0"/>
              <a:t> </a:t>
            </a:r>
            <a:r>
              <a:rPr lang="en-US" dirty="0" err="1"/>
              <a:t>tài</a:t>
            </a:r>
            <a:r>
              <a:rPr lang="en-US" dirty="0"/>
              <a:t> </a:t>
            </a:r>
            <a:r>
              <a:rPr lang="en-US" dirty="0" err="1"/>
              <a:t>liệu</a:t>
            </a:r>
            <a:r>
              <a:rPr lang="en-US" dirty="0"/>
              <a:t>, </a:t>
            </a:r>
            <a:r>
              <a:rPr lang="en-US" dirty="0" err="1"/>
              <a:t>hình</a:t>
            </a:r>
            <a:r>
              <a:rPr lang="en-US" dirty="0"/>
              <a:t> </a:t>
            </a:r>
            <a:r>
              <a:rPr lang="en-US" dirty="0" err="1"/>
              <a:t>ảnh</a:t>
            </a:r>
            <a:r>
              <a:rPr lang="en-US" dirty="0"/>
              <a:t> </a:t>
            </a:r>
            <a:r>
              <a:rPr lang="en-US" dirty="0" err="1"/>
              <a:t>tới</a:t>
            </a:r>
            <a:r>
              <a:rPr lang="en-US" dirty="0"/>
              <a:t> </a:t>
            </a:r>
            <a:r>
              <a:rPr lang="en-US" dirty="0" err="1"/>
              <a:t>bất</a:t>
            </a:r>
            <a:r>
              <a:rPr lang="en-US" dirty="0"/>
              <a:t> </a:t>
            </a:r>
            <a:r>
              <a:rPr lang="en-US" dirty="0" err="1"/>
              <a:t>kỳ</a:t>
            </a:r>
            <a:r>
              <a:rPr lang="en-US" dirty="0"/>
              <a:t> </a:t>
            </a:r>
            <a:r>
              <a:rPr lang="en-US" dirty="0" err="1"/>
              <a:t>đâu</a:t>
            </a:r>
            <a:r>
              <a:rPr lang="en-US" dirty="0"/>
              <a:t> </a:t>
            </a:r>
            <a:r>
              <a:rPr lang="en-US" dirty="0" err="1"/>
              <a:t>trên</a:t>
            </a:r>
            <a:r>
              <a:rPr lang="en-US" dirty="0"/>
              <a:t> </a:t>
            </a:r>
            <a:r>
              <a:rPr lang="en-US" dirty="0" err="1"/>
              <a:t>thế</a:t>
            </a:r>
            <a:r>
              <a:rPr lang="en-US" dirty="0"/>
              <a:t> </a:t>
            </a:r>
            <a:r>
              <a:rPr lang="en-US" dirty="0" err="1"/>
              <a:t>giới</a:t>
            </a:r>
            <a:r>
              <a:rPr lang="en-US" dirty="0"/>
              <a:t> </a:t>
            </a:r>
            <a:r>
              <a:rPr lang="en-US" dirty="0" err="1"/>
              <a:t>chỉ</a:t>
            </a:r>
            <a:r>
              <a:rPr lang="en-US" dirty="0"/>
              <a:t> </a:t>
            </a:r>
            <a:r>
              <a:rPr lang="en-US" dirty="0" err="1"/>
              <a:t>trong</a:t>
            </a:r>
            <a:r>
              <a:rPr lang="en-US" dirty="0"/>
              <a:t> </a:t>
            </a:r>
            <a:r>
              <a:rPr lang="en-US" dirty="0" err="1"/>
              <a:t>tích</a:t>
            </a:r>
            <a:r>
              <a:rPr lang="en-US" dirty="0"/>
              <a:t> </a:t>
            </a:r>
            <a:r>
              <a:rPr lang="en-US" dirty="0" err="1"/>
              <a:t>tắc</a:t>
            </a:r>
            <a:r>
              <a:rPr lang="en-US" dirty="0"/>
              <a:t>. </a:t>
            </a:r>
            <a:r>
              <a:rPr lang="en-US" dirty="0" err="1"/>
              <a:t>Đặc</a:t>
            </a:r>
            <a:r>
              <a:rPr lang="en-US" dirty="0"/>
              <a:t> </a:t>
            </a:r>
            <a:r>
              <a:rPr lang="en-US" dirty="0" err="1"/>
              <a:t>biệt</a:t>
            </a:r>
            <a:r>
              <a:rPr lang="en-US" dirty="0"/>
              <a:t>, email </a:t>
            </a:r>
            <a:r>
              <a:rPr lang="en-US" dirty="0" err="1"/>
              <a:t>còn</a:t>
            </a:r>
            <a:r>
              <a:rPr lang="en-US" dirty="0"/>
              <a:t> </a:t>
            </a:r>
            <a:r>
              <a:rPr lang="en-US" dirty="0" err="1"/>
              <a:t>cho</a:t>
            </a:r>
            <a:r>
              <a:rPr lang="en-US" dirty="0"/>
              <a:t> </a:t>
            </a:r>
            <a:r>
              <a:rPr lang="en-US" dirty="0" err="1"/>
              <a:t>phép</a:t>
            </a:r>
            <a:r>
              <a:rPr lang="en-US" dirty="0"/>
              <a:t> </a:t>
            </a:r>
            <a:r>
              <a:rPr lang="en-US" dirty="0" err="1"/>
              <a:t>đính</a:t>
            </a:r>
            <a:r>
              <a:rPr lang="en-US" dirty="0"/>
              <a:t> </a:t>
            </a:r>
            <a:r>
              <a:rPr lang="en-US" dirty="0" err="1"/>
              <a:t>kèm</a:t>
            </a:r>
            <a:r>
              <a:rPr lang="en-US" dirty="0"/>
              <a:t> file dung </a:t>
            </a:r>
            <a:r>
              <a:rPr lang="en-US" dirty="0" err="1"/>
              <a:t>lượng</a:t>
            </a:r>
            <a:r>
              <a:rPr lang="en-US" dirty="0"/>
              <a:t> </a:t>
            </a:r>
            <a:r>
              <a:rPr lang="en-US" dirty="0" err="1"/>
              <a:t>lớn</a:t>
            </a:r>
            <a:r>
              <a:rPr lang="en-US" dirty="0"/>
              <a:t>, </a:t>
            </a:r>
            <a:r>
              <a:rPr lang="en-US" dirty="0" err="1"/>
              <a:t>gửi</a:t>
            </a:r>
            <a:r>
              <a:rPr lang="en-US" dirty="0"/>
              <a:t> </a:t>
            </a:r>
            <a:r>
              <a:rPr lang="en-US" dirty="0" err="1"/>
              <a:t>đồng</a:t>
            </a:r>
            <a:r>
              <a:rPr lang="en-US" dirty="0"/>
              <a:t> </a:t>
            </a:r>
            <a:r>
              <a:rPr lang="en-US" dirty="0" err="1"/>
              <a:t>loạt</a:t>
            </a:r>
            <a:r>
              <a:rPr lang="en-US" dirty="0"/>
              <a:t> </a:t>
            </a:r>
            <a:r>
              <a:rPr lang="en-US" dirty="0" err="1"/>
              <a:t>cho</a:t>
            </a:r>
            <a:r>
              <a:rPr lang="en-US" dirty="0"/>
              <a:t> </a:t>
            </a:r>
            <a:r>
              <a:rPr lang="en-US" dirty="0" err="1"/>
              <a:t>hàng</a:t>
            </a:r>
            <a:r>
              <a:rPr lang="en-US" dirty="0"/>
              <a:t> </a:t>
            </a:r>
            <a:r>
              <a:rPr lang="en-US" dirty="0" err="1"/>
              <a:t>trăm</a:t>
            </a:r>
            <a:r>
              <a:rPr lang="en-US" dirty="0"/>
              <a:t> </a:t>
            </a:r>
            <a:r>
              <a:rPr lang="en-US" dirty="0" err="1"/>
              <a:t>người</a:t>
            </a:r>
            <a:r>
              <a:rPr lang="en-US" dirty="0"/>
              <a:t>, hay </a:t>
            </a:r>
            <a:r>
              <a:rPr lang="en-US" dirty="0" err="1"/>
              <a:t>thậm</a:t>
            </a:r>
            <a:r>
              <a:rPr lang="en-US" dirty="0"/>
              <a:t> </a:t>
            </a:r>
            <a:r>
              <a:rPr lang="en-US" dirty="0" err="1"/>
              <a:t>chí</a:t>
            </a:r>
            <a:r>
              <a:rPr lang="en-US" dirty="0"/>
              <a:t> </a:t>
            </a:r>
            <a:r>
              <a:rPr lang="en-US" dirty="0" err="1"/>
              <a:t>lên</a:t>
            </a:r>
            <a:r>
              <a:rPr lang="en-US" dirty="0"/>
              <a:t> </a:t>
            </a:r>
            <a:r>
              <a:rPr lang="en-US" dirty="0" err="1"/>
              <a:t>lịch</a:t>
            </a:r>
            <a:r>
              <a:rPr lang="en-US" dirty="0"/>
              <a:t> </a:t>
            </a:r>
            <a:r>
              <a:rPr lang="en-US" dirty="0" err="1"/>
              <a:t>gửi</a:t>
            </a:r>
            <a:r>
              <a:rPr lang="en-US" dirty="0"/>
              <a:t> </a:t>
            </a:r>
            <a:r>
              <a:rPr lang="en-US" dirty="0" err="1"/>
              <a:t>tự</a:t>
            </a:r>
            <a:r>
              <a:rPr lang="en-US" dirty="0"/>
              <a:t> </a:t>
            </a:r>
            <a:r>
              <a:rPr lang="en-US" dirty="0" err="1"/>
              <a:t>động</a:t>
            </a:r>
            <a:r>
              <a:rPr lang="en-US" dirty="0"/>
              <a:t> - </a:t>
            </a:r>
            <a:r>
              <a:rPr lang="en-US" dirty="0" err="1"/>
              <a:t>những</a:t>
            </a:r>
            <a:r>
              <a:rPr lang="en-US" dirty="0"/>
              <a:t> </a:t>
            </a:r>
            <a:r>
              <a:rPr lang="en-US" dirty="0" err="1"/>
              <a:t>tính</a:t>
            </a:r>
            <a:r>
              <a:rPr lang="en-US" dirty="0"/>
              <a:t> </a:t>
            </a:r>
            <a:r>
              <a:rPr lang="en-US" dirty="0" err="1"/>
              <a:t>năng</a:t>
            </a:r>
            <a:r>
              <a:rPr lang="en-US" dirty="0"/>
              <a:t> </a:t>
            </a:r>
            <a:r>
              <a:rPr lang="en-US" dirty="0" err="1"/>
              <a:t>mà</a:t>
            </a:r>
            <a:r>
              <a:rPr lang="en-US" dirty="0"/>
              <a:t> </a:t>
            </a:r>
            <a:r>
              <a:rPr lang="en-US" dirty="0" err="1"/>
              <a:t>cách</a:t>
            </a:r>
            <a:r>
              <a:rPr lang="en-US" dirty="0"/>
              <a:t> </a:t>
            </a:r>
            <a:r>
              <a:rPr lang="en-US" dirty="0" err="1"/>
              <a:t>đây</a:t>
            </a:r>
            <a:r>
              <a:rPr lang="en-US" dirty="0"/>
              <a:t> 30 </a:t>
            </a:r>
            <a:r>
              <a:rPr lang="en-US" dirty="0" err="1"/>
              <a:t>năm</a:t>
            </a:r>
            <a:r>
              <a:rPr lang="en-US" dirty="0"/>
              <a:t> </a:t>
            </a:r>
            <a:r>
              <a:rPr lang="en-US" dirty="0" err="1"/>
              <a:t>còn</a:t>
            </a:r>
            <a:r>
              <a:rPr lang="en-US" dirty="0"/>
              <a:t> </a:t>
            </a:r>
            <a:r>
              <a:rPr lang="en-US" dirty="0" err="1"/>
              <a:t>là</a:t>
            </a:r>
            <a:r>
              <a:rPr lang="en-US" dirty="0"/>
              <a:t> </a:t>
            </a:r>
            <a:r>
              <a:rPr lang="en-US" dirty="0" err="1"/>
              <a:t>điều</a:t>
            </a:r>
            <a:r>
              <a:rPr lang="en-US" dirty="0"/>
              <a:t> </a:t>
            </a:r>
            <a:r>
              <a:rPr lang="en-US" dirty="0" err="1"/>
              <a:t>không</a:t>
            </a:r>
            <a:r>
              <a:rPr lang="en-US" dirty="0"/>
              <a:t> </a:t>
            </a:r>
            <a:r>
              <a:rPr lang="en-US" dirty="0" err="1"/>
              <a:t>tưởng</a:t>
            </a:r>
            <a:r>
              <a:rPr lang="en-US" dirty="0"/>
              <a:t>.</a:t>
            </a:r>
          </a:p>
          <a:p>
            <a:endParaRPr lang="en-US" dirty="0"/>
          </a:p>
          <a:p>
            <a:r>
              <a:rPr lang="en-US" dirty="0" err="1"/>
              <a:t>Tiếp</a:t>
            </a:r>
            <a:r>
              <a:rPr lang="en-US" dirty="0"/>
              <a:t> </a:t>
            </a:r>
            <a:r>
              <a:rPr lang="en-US" dirty="0" err="1"/>
              <a:t>theo</a:t>
            </a:r>
            <a:r>
              <a:rPr lang="en-US" dirty="0"/>
              <a:t> </a:t>
            </a:r>
            <a:r>
              <a:rPr lang="en-US" dirty="0" err="1"/>
              <a:t>là</a:t>
            </a:r>
            <a:r>
              <a:rPr lang="en-US" dirty="0"/>
              <a:t> World Wide Web (WWW) - </a:t>
            </a:r>
            <a:r>
              <a:rPr lang="en-US" dirty="0" err="1"/>
              <a:t>xương</a:t>
            </a:r>
            <a:r>
              <a:rPr lang="en-US" dirty="0"/>
              <a:t> </a:t>
            </a:r>
            <a:r>
              <a:rPr lang="en-US" dirty="0" err="1"/>
              <a:t>sống</a:t>
            </a:r>
            <a:r>
              <a:rPr lang="en-US" dirty="0"/>
              <a:t> </a:t>
            </a:r>
            <a:r>
              <a:rPr lang="en-US" dirty="0" err="1"/>
              <a:t>của</a:t>
            </a:r>
            <a:r>
              <a:rPr lang="en-US" dirty="0"/>
              <a:t> Internet </a:t>
            </a:r>
            <a:r>
              <a:rPr lang="en-US" dirty="0" err="1"/>
              <a:t>hiện</a:t>
            </a:r>
            <a:r>
              <a:rPr lang="en-US" dirty="0"/>
              <a:t> </a:t>
            </a:r>
            <a:r>
              <a:rPr lang="en-US" dirty="0" err="1"/>
              <a:t>đại</a:t>
            </a:r>
            <a:r>
              <a:rPr lang="en-US" dirty="0"/>
              <a:t>. </a:t>
            </a:r>
            <a:r>
              <a:rPr lang="en-US" dirty="0" err="1"/>
              <a:t>Là</a:t>
            </a:r>
            <a:r>
              <a:rPr lang="en-US" dirty="0"/>
              <a:t> </a:t>
            </a:r>
            <a:r>
              <a:rPr lang="en-US" dirty="0" err="1"/>
              <a:t>Hệ</a:t>
            </a:r>
            <a:r>
              <a:rPr lang="en-US" dirty="0"/>
              <a:t> </a:t>
            </a:r>
            <a:r>
              <a:rPr lang="en-US" dirty="0" err="1"/>
              <a:t>thống</a:t>
            </a:r>
            <a:r>
              <a:rPr lang="en-US" dirty="0"/>
              <a:t> </a:t>
            </a:r>
            <a:r>
              <a:rPr lang="en-US" dirty="0" err="1"/>
              <a:t>các</a:t>
            </a:r>
            <a:r>
              <a:rPr lang="en-US" dirty="0"/>
              <a:t> </a:t>
            </a:r>
            <a:r>
              <a:rPr lang="en-US" dirty="0" err="1"/>
              <a:t>trang</a:t>
            </a:r>
            <a:r>
              <a:rPr lang="en-US" dirty="0"/>
              <a:t> web </a:t>
            </a:r>
            <a:r>
              <a:rPr lang="en-US" dirty="0" err="1"/>
              <a:t>được</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nhau</a:t>
            </a:r>
            <a:r>
              <a:rPr lang="en-US" dirty="0"/>
              <a:t> </a:t>
            </a:r>
            <a:r>
              <a:rPr lang="en-US" dirty="0" err="1"/>
              <a:t>giống</a:t>
            </a:r>
            <a:r>
              <a:rPr lang="en-US" dirty="0"/>
              <a:t> </a:t>
            </a:r>
            <a:r>
              <a:rPr lang="en-US" dirty="0" err="1"/>
              <a:t>như</a:t>
            </a:r>
            <a:r>
              <a:rPr lang="en-US" dirty="0"/>
              <a:t> </a:t>
            </a:r>
            <a:r>
              <a:rPr lang="en-US" dirty="0" err="1"/>
              <a:t>một</a:t>
            </a:r>
            <a:r>
              <a:rPr lang="en-US" dirty="0"/>
              <a:t> </a:t>
            </a:r>
            <a:r>
              <a:rPr lang="en-US" dirty="0" err="1"/>
              <a:t>thư</a:t>
            </a:r>
            <a:r>
              <a:rPr lang="en-US" dirty="0"/>
              <a:t> </a:t>
            </a:r>
            <a:r>
              <a:rPr lang="en-US" dirty="0" err="1"/>
              <a:t>viện</a:t>
            </a:r>
            <a:r>
              <a:rPr lang="en-US" dirty="0"/>
              <a:t> </a:t>
            </a:r>
            <a:r>
              <a:rPr lang="en-US" dirty="0" err="1"/>
              <a:t>khổng</a:t>
            </a:r>
            <a:r>
              <a:rPr lang="en-US" dirty="0"/>
              <a:t> </a:t>
            </a:r>
            <a:r>
              <a:rPr lang="en-US" dirty="0" err="1"/>
              <a:t>lồ</a:t>
            </a:r>
            <a:r>
              <a:rPr lang="en-US" dirty="0"/>
              <a:t> </a:t>
            </a:r>
            <a:r>
              <a:rPr lang="en-US" dirty="0" err="1"/>
              <a:t>mà</a:t>
            </a:r>
            <a:r>
              <a:rPr lang="en-US" dirty="0"/>
              <a:t> </a:t>
            </a:r>
            <a:r>
              <a:rPr lang="en-US" dirty="0" err="1"/>
              <a:t>ở</a:t>
            </a:r>
            <a:r>
              <a:rPr lang="en-US" dirty="0"/>
              <a:t> </a:t>
            </a:r>
            <a:r>
              <a:rPr lang="en-US" dirty="0" err="1"/>
              <a:t>đó</a:t>
            </a:r>
            <a:r>
              <a:rPr lang="en-US" dirty="0"/>
              <a:t>, </a:t>
            </a:r>
            <a:r>
              <a:rPr lang="en-US" dirty="0" err="1"/>
              <a:t>chỉ</a:t>
            </a:r>
            <a:r>
              <a:rPr lang="en-US" dirty="0"/>
              <a:t> </a:t>
            </a:r>
            <a:r>
              <a:rPr lang="en-US" dirty="0" err="1"/>
              <a:t>với</a:t>
            </a:r>
            <a:r>
              <a:rPr lang="en-US" dirty="0"/>
              <a:t> </a:t>
            </a:r>
            <a:r>
              <a:rPr lang="en-US" dirty="0" err="1"/>
              <a:t>trình</a:t>
            </a:r>
            <a:r>
              <a:rPr lang="en-US" dirty="0"/>
              <a:t> </a:t>
            </a:r>
            <a:r>
              <a:rPr lang="en-US" dirty="0" err="1"/>
              <a:t>duyệt</a:t>
            </a:r>
            <a:r>
              <a:rPr lang="en-US" dirty="0"/>
              <a:t> Chrome, Firefox hay Safari, </a:t>
            </a:r>
            <a:r>
              <a:rPr lang="en-US" dirty="0" err="1"/>
              <a:t>chúng</a:t>
            </a:r>
            <a:r>
              <a:rPr lang="en-US" dirty="0"/>
              <a:t> ta </a:t>
            </a:r>
            <a:r>
              <a:rPr lang="en-US" dirty="0" err="1"/>
              <a:t>có</a:t>
            </a:r>
            <a:r>
              <a:rPr lang="en-US" dirty="0"/>
              <a:t> </a:t>
            </a:r>
            <a:r>
              <a:rPr lang="en-US" dirty="0" err="1"/>
              <a:t>thể</a:t>
            </a:r>
            <a:r>
              <a:rPr lang="en-US" dirty="0"/>
              <a:t> </a:t>
            </a:r>
            <a:r>
              <a:rPr lang="en-US" dirty="0" err="1"/>
              <a:t>truy</a:t>
            </a:r>
            <a:r>
              <a:rPr lang="en-US" dirty="0"/>
              <a:t> </a:t>
            </a:r>
            <a:r>
              <a:rPr lang="en-US" dirty="0" err="1"/>
              <a:t>cập</a:t>
            </a:r>
            <a:r>
              <a:rPr lang="en-US" dirty="0"/>
              <a:t> </a:t>
            </a:r>
            <a:r>
              <a:rPr lang="en-US" dirty="0" err="1"/>
              <a:t>vào</a:t>
            </a:r>
            <a:r>
              <a:rPr lang="en-US" dirty="0"/>
              <a:t> </a:t>
            </a:r>
            <a:r>
              <a:rPr lang="en-US" dirty="0" err="1"/>
              <a:t>kho</a:t>
            </a:r>
            <a:r>
              <a:rPr lang="en-US" dirty="0"/>
              <a:t> tri </a:t>
            </a:r>
            <a:r>
              <a:rPr lang="en-US" dirty="0" err="1"/>
              <a:t>thức</a:t>
            </a:r>
            <a:r>
              <a:rPr lang="en-US" dirty="0"/>
              <a:t> </a:t>
            </a:r>
            <a:r>
              <a:rPr lang="en-US" dirty="0" err="1"/>
              <a:t>vô</a:t>
            </a:r>
            <a:r>
              <a:rPr lang="en-US" dirty="0"/>
              <a:t> </a:t>
            </a:r>
            <a:r>
              <a:rPr lang="en-US" dirty="0" err="1"/>
              <a:t>tận</a:t>
            </a:r>
            <a:r>
              <a:rPr lang="en-US" dirty="0"/>
              <a:t>. </a:t>
            </a:r>
            <a:r>
              <a:rPr lang="en-US" dirty="0" err="1"/>
              <a:t>Từ</a:t>
            </a:r>
            <a:r>
              <a:rPr lang="en-US" dirty="0"/>
              <a:t> </a:t>
            </a:r>
            <a:r>
              <a:rPr lang="en-US" dirty="0" err="1"/>
              <a:t>việc</a:t>
            </a:r>
            <a:r>
              <a:rPr lang="en-US" dirty="0"/>
              <a:t> </a:t>
            </a:r>
            <a:r>
              <a:rPr lang="en-US" dirty="0" err="1"/>
              <a:t>đọc</a:t>
            </a:r>
            <a:r>
              <a:rPr lang="en-US" dirty="0"/>
              <a:t> </a:t>
            </a:r>
            <a:r>
              <a:rPr lang="en-US" dirty="0" err="1"/>
              <a:t>báo</a:t>
            </a:r>
            <a:r>
              <a:rPr lang="en-US" dirty="0"/>
              <a:t> tin </a:t>
            </a:r>
            <a:r>
              <a:rPr lang="en-US" dirty="0" err="1"/>
              <a:t>tức</a:t>
            </a:r>
            <a:r>
              <a:rPr lang="en-US" dirty="0"/>
              <a:t> </a:t>
            </a:r>
            <a:r>
              <a:rPr lang="en-US" dirty="0" err="1"/>
              <a:t>như</a:t>
            </a:r>
            <a:r>
              <a:rPr lang="en-US" dirty="0"/>
              <a:t> </a:t>
            </a:r>
            <a:r>
              <a:rPr lang="en-US" dirty="0" err="1"/>
              <a:t>Tuổi</a:t>
            </a:r>
            <a:r>
              <a:rPr lang="en-US" dirty="0"/>
              <a:t> </a:t>
            </a:r>
            <a:r>
              <a:rPr lang="en-US" dirty="0" err="1"/>
              <a:t>Trẻ</a:t>
            </a:r>
            <a:r>
              <a:rPr lang="en-US" dirty="0"/>
              <a:t> Online, </a:t>
            </a:r>
            <a:r>
              <a:rPr lang="en-US" dirty="0" err="1"/>
              <a:t>tra</a:t>
            </a:r>
            <a:r>
              <a:rPr lang="en-US" dirty="0"/>
              <a:t> </a:t>
            </a:r>
            <a:r>
              <a:rPr lang="en-US" dirty="0" err="1"/>
              <a:t>cứu</a:t>
            </a:r>
            <a:r>
              <a:rPr lang="en-US" dirty="0"/>
              <a:t> </a:t>
            </a:r>
            <a:r>
              <a:rPr lang="en-US" dirty="0" err="1"/>
              <a:t>thông</a:t>
            </a:r>
            <a:r>
              <a:rPr lang="en-US" dirty="0"/>
              <a:t> tin </a:t>
            </a:r>
            <a:r>
              <a:rPr lang="en-US" dirty="0" err="1"/>
              <a:t>bổ</a:t>
            </a:r>
            <a:r>
              <a:rPr lang="en-US" dirty="0"/>
              <a:t> </a:t>
            </a:r>
            <a:r>
              <a:rPr lang="en-US" dirty="0" err="1"/>
              <a:t>ích</a:t>
            </a:r>
            <a:r>
              <a:rPr lang="en-US" dirty="0"/>
              <a:t> </a:t>
            </a:r>
            <a:r>
              <a:rPr lang="en-US" dirty="0" err="1"/>
              <a:t>trên</a:t>
            </a:r>
            <a:r>
              <a:rPr lang="en-US" dirty="0"/>
              <a:t> Wikipedia, </a:t>
            </a:r>
            <a:r>
              <a:rPr lang="en-US" dirty="0" err="1"/>
              <a:t>đến</a:t>
            </a:r>
            <a:r>
              <a:rPr lang="en-US" dirty="0"/>
              <a:t> </a:t>
            </a:r>
            <a:r>
              <a:rPr lang="en-US" dirty="0" err="1"/>
              <a:t>xem</a:t>
            </a:r>
            <a:r>
              <a:rPr lang="en-US" dirty="0"/>
              <a:t> </a:t>
            </a:r>
            <a:r>
              <a:rPr lang="en-US" dirty="0" err="1"/>
              <a:t>lịch</a:t>
            </a:r>
            <a:r>
              <a:rPr lang="en-US" dirty="0"/>
              <a:t> </a:t>
            </a:r>
            <a:r>
              <a:rPr lang="en-US" dirty="0" err="1"/>
              <a:t>chiếu</a:t>
            </a:r>
            <a:r>
              <a:rPr lang="en-US" dirty="0"/>
              <a:t> </a:t>
            </a:r>
            <a:r>
              <a:rPr lang="en-US" dirty="0" err="1"/>
              <a:t>phim</a:t>
            </a:r>
            <a:r>
              <a:rPr lang="en-US" dirty="0"/>
              <a:t> hay </a:t>
            </a:r>
            <a:r>
              <a:rPr lang="en-US" dirty="0" err="1"/>
              <a:t>thậm</a:t>
            </a:r>
            <a:r>
              <a:rPr lang="en-US" dirty="0"/>
              <a:t> </a:t>
            </a:r>
            <a:r>
              <a:rPr lang="en-US" dirty="0" err="1"/>
              <a:t>chí</a:t>
            </a:r>
            <a:r>
              <a:rPr lang="en-US" dirty="0"/>
              <a:t> </a:t>
            </a:r>
            <a:r>
              <a:rPr lang="en-US" dirty="0" err="1"/>
              <a:t>theo</a:t>
            </a:r>
            <a:r>
              <a:rPr lang="en-US" dirty="0"/>
              <a:t> </a:t>
            </a:r>
            <a:r>
              <a:rPr lang="en-US" dirty="0" err="1"/>
              <a:t>dõi</a:t>
            </a:r>
            <a:r>
              <a:rPr lang="en-US" dirty="0"/>
              <a:t> </a:t>
            </a:r>
            <a:r>
              <a:rPr lang="en-US" dirty="0" err="1"/>
              <a:t>thời</a:t>
            </a:r>
            <a:r>
              <a:rPr lang="en-US" dirty="0"/>
              <a:t> </a:t>
            </a:r>
            <a:r>
              <a:rPr lang="en-US" dirty="0" err="1"/>
              <a:t>tiết</a:t>
            </a:r>
            <a:r>
              <a:rPr lang="en-US" dirty="0"/>
              <a:t> </a:t>
            </a:r>
            <a:r>
              <a:rPr lang="en-US" dirty="0" err="1"/>
              <a:t>các</a:t>
            </a:r>
            <a:r>
              <a:rPr lang="en-US" dirty="0"/>
              <a:t> </a:t>
            </a:r>
            <a:r>
              <a:rPr lang="en-US" dirty="0" err="1"/>
              <a:t>nước</a:t>
            </a:r>
            <a:r>
              <a:rPr lang="en-US" dirty="0"/>
              <a:t> </a:t>
            </a:r>
            <a:r>
              <a:rPr lang="en-US" dirty="0" err="1"/>
              <a:t>trên</a:t>
            </a:r>
            <a:r>
              <a:rPr lang="en-US" dirty="0"/>
              <a:t> </a:t>
            </a:r>
            <a:r>
              <a:rPr lang="en-US" dirty="0" err="1"/>
              <a:t>toàn</a:t>
            </a:r>
            <a:r>
              <a:rPr lang="en-US" dirty="0"/>
              <a:t> </a:t>
            </a:r>
            <a:r>
              <a:rPr lang="en-US" dirty="0" err="1"/>
              <a:t>cầu</a:t>
            </a:r>
            <a:r>
              <a:rPr lang="en-US" dirty="0"/>
              <a:t> - </a:t>
            </a:r>
            <a:r>
              <a:rPr lang="en-US" dirty="0" err="1"/>
              <a:t>tất</a:t>
            </a:r>
            <a:r>
              <a:rPr lang="en-US" dirty="0"/>
              <a:t> </a:t>
            </a:r>
            <a:r>
              <a:rPr lang="en-US" dirty="0" err="1"/>
              <a:t>cả</a:t>
            </a:r>
            <a:r>
              <a:rPr lang="en-US" dirty="0"/>
              <a:t> </a:t>
            </a:r>
            <a:r>
              <a:rPr lang="en-US" dirty="0" err="1"/>
              <a:t>đều</a:t>
            </a:r>
            <a:r>
              <a:rPr lang="en-US" dirty="0"/>
              <a:t> </a:t>
            </a:r>
            <a:r>
              <a:rPr lang="en-US" dirty="0" err="1"/>
              <a:t>nhờ</a:t>
            </a:r>
            <a:r>
              <a:rPr lang="en-US" dirty="0"/>
              <a:t> WWW.</a:t>
            </a:r>
          </a:p>
          <a:p>
            <a:endParaRPr lang="en-US" dirty="0"/>
          </a:p>
          <a:p>
            <a:r>
              <a:rPr lang="en-US" dirty="0" err="1"/>
              <a:t>Đến</a:t>
            </a:r>
            <a:r>
              <a:rPr lang="en-US" dirty="0"/>
              <a:t> </a:t>
            </a:r>
            <a:r>
              <a:rPr lang="en-US" dirty="0" err="1"/>
              <a:t>với</a:t>
            </a:r>
            <a:r>
              <a:rPr lang="en-US" dirty="0"/>
              <a:t> </a:t>
            </a:r>
            <a:r>
              <a:rPr lang="en-US" dirty="0" err="1"/>
              <a:t>Mạng</a:t>
            </a:r>
            <a:r>
              <a:rPr lang="en-US" dirty="0"/>
              <a:t> </a:t>
            </a:r>
            <a:r>
              <a:rPr lang="en-US" dirty="0" err="1"/>
              <a:t>xã</a:t>
            </a:r>
            <a:r>
              <a:rPr lang="en-US" dirty="0"/>
              <a:t> </a:t>
            </a:r>
            <a:r>
              <a:rPr lang="en-US" dirty="0" err="1"/>
              <a:t>hội</a:t>
            </a:r>
            <a:r>
              <a:rPr lang="en-US" dirty="0"/>
              <a:t>, </a:t>
            </a:r>
            <a:r>
              <a:rPr lang="en-US" dirty="0" err="1"/>
              <a:t>có</a:t>
            </a:r>
            <a:r>
              <a:rPr lang="en-US" dirty="0"/>
              <a:t> </a:t>
            </a:r>
            <a:r>
              <a:rPr lang="en-US" dirty="0" err="1"/>
              <a:t>lẽ</a:t>
            </a:r>
            <a:r>
              <a:rPr lang="en-US" dirty="0"/>
              <a:t> </a:t>
            </a:r>
            <a:r>
              <a:rPr lang="en-US" dirty="0" err="1"/>
              <a:t>không</a:t>
            </a:r>
            <a:r>
              <a:rPr lang="en-US" dirty="0"/>
              <a:t> </a:t>
            </a:r>
            <a:r>
              <a:rPr lang="en-US" dirty="0" err="1"/>
              <a:t>ai</a:t>
            </a:r>
            <a:r>
              <a:rPr lang="en-US" dirty="0"/>
              <a:t> </a:t>
            </a:r>
            <a:r>
              <a:rPr lang="en-US" dirty="0" err="1"/>
              <a:t>trong</a:t>
            </a:r>
            <a:r>
              <a:rPr lang="en-US" dirty="0"/>
              <a:t> </a:t>
            </a:r>
            <a:r>
              <a:rPr lang="en-US" dirty="0" err="1"/>
              <a:t>chúng</a:t>
            </a:r>
            <a:r>
              <a:rPr lang="en-US" dirty="0"/>
              <a:t> ta </a:t>
            </a:r>
            <a:r>
              <a:rPr lang="en-US" dirty="0" err="1"/>
              <a:t>xa</a:t>
            </a:r>
            <a:r>
              <a:rPr lang="en-US" dirty="0"/>
              <a:t> </a:t>
            </a:r>
            <a:r>
              <a:rPr lang="en-US" dirty="0" err="1"/>
              <a:t>lạ</a:t>
            </a:r>
            <a:r>
              <a:rPr lang="en-US" dirty="0"/>
              <a:t> </a:t>
            </a:r>
            <a:r>
              <a:rPr lang="en-US" dirty="0" err="1"/>
              <a:t>với</a:t>
            </a:r>
            <a:r>
              <a:rPr lang="en-US" dirty="0"/>
              <a:t> Facebook, </a:t>
            </a:r>
            <a:r>
              <a:rPr lang="en-US" dirty="0" err="1"/>
              <a:t>Zalo</a:t>
            </a:r>
            <a:r>
              <a:rPr lang="en-US" dirty="0"/>
              <a:t> hay </a:t>
            </a:r>
            <a:r>
              <a:rPr lang="en-US" dirty="0" err="1"/>
              <a:t>TikTok</a:t>
            </a:r>
            <a:r>
              <a:rPr lang="en-US" dirty="0"/>
              <a:t>. </a:t>
            </a:r>
            <a:r>
              <a:rPr lang="en-US" dirty="0" err="1"/>
              <a:t>Những</a:t>
            </a:r>
            <a:r>
              <a:rPr lang="en-US" dirty="0"/>
              <a:t> </a:t>
            </a:r>
            <a:r>
              <a:rPr lang="en-US" dirty="0" err="1"/>
              <a:t>nền</a:t>
            </a:r>
            <a:r>
              <a:rPr lang="en-US" dirty="0"/>
              <a:t> </a:t>
            </a:r>
            <a:r>
              <a:rPr lang="en-US" dirty="0" err="1"/>
              <a:t>tảng</a:t>
            </a:r>
            <a:r>
              <a:rPr lang="en-US" dirty="0"/>
              <a:t> </a:t>
            </a:r>
            <a:r>
              <a:rPr lang="en-US" dirty="0" err="1"/>
              <a:t>này</a:t>
            </a:r>
            <a:r>
              <a:rPr lang="en-US" dirty="0"/>
              <a:t> </a:t>
            </a:r>
            <a:r>
              <a:rPr lang="en-US" dirty="0" err="1"/>
              <a:t>không</a:t>
            </a:r>
            <a:r>
              <a:rPr lang="en-US" dirty="0"/>
              <a:t> </a:t>
            </a:r>
            <a:r>
              <a:rPr lang="en-US" dirty="0" err="1"/>
              <a:t>đơn</a:t>
            </a:r>
            <a:r>
              <a:rPr lang="en-US" dirty="0"/>
              <a:t> </a:t>
            </a:r>
            <a:r>
              <a:rPr lang="en-US" dirty="0" err="1"/>
              <a:t>thuần</a:t>
            </a:r>
            <a:r>
              <a:rPr lang="en-US" dirty="0"/>
              <a:t> </a:t>
            </a:r>
            <a:r>
              <a:rPr lang="en-US" dirty="0" err="1"/>
              <a:t>là</a:t>
            </a:r>
            <a:r>
              <a:rPr lang="en-US" dirty="0"/>
              <a:t> </a:t>
            </a:r>
            <a:r>
              <a:rPr lang="en-US" dirty="0" err="1"/>
              <a:t>nơi</a:t>
            </a:r>
            <a:r>
              <a:rPr lang="en-US" dirty="0"/>
              <a:t> </a:t>
            </a:r>
            <a:r>
              <a:rPr lang="en-US" dirty="0" err="1"/>
              <a:t>giải</a:t>
            </a:r>
            <a:r>
              <a:rPr lang="en-US" dirty="0"/>
              <a:t> </a:t>
            </a:r>
            <a:r>
              <a:rPr lang="en-US" dirty="0" err="1"/>
              <a:t>trí</a:t>
            </a:r>
            <a:r>
              <a:rPr lang="en-US" dirty="0"/>
              <a:t>, </a:t>
            </a:r>
            <a:r>
              <a:rPr lang="en-US" dirty="0" err="1"/>
              <a:t>mà</a:t>
            </a:r>
            <a:r>
              <a:rPr lang="en-US" dirty="0"/>
              <a:t> </a:t>
            </a:r>
            <a:r>
              <a:rPr lang="en-US" dirty="0" err="1"/>
              <a:t>đã</a:t>
            </a:r>
            <a:r>
              <a:rPr lang="en-US" dirty="0"/>
              <a:t> </a:t>
            </a:r>
            <a:r>
              <a:rPr lang="en-US" dirty="0" err="1"/>
              <a:t>trở</a:t>
            </a:r>
            <a:r>
              <a:rPr lang="en-US" dirty="0"/>
              <a:t> </a:t>
            </a:r>
            <a:r>
              <a:rPr lang="en-US" dirty="0" err="1"/>
              <a:t>thành</a:t>
            </a:r>
            <a:r>
              <a:rPr lang="en-US" dirty="0"/>
              <a:t> </a:t>
            </a:r>
            <a:r>
              <a:rPr lang="en-US" dirty="0" err="1"/>
              <a:t>công</a:t>
            </a:r>
            <a:r>
              <a:rPr lang="en-US" dirty="0"/>
              <a:t> </a:t>
            </a:r>
            <a:r>
              <a:rPr lang="en-US" dirty="0" err="1"/>
              <a:t>cụ</a:t>
            </a:r>
            <a:r>
              <a:rPr lang="en-US" dirty="0"/>
              <a:t> </a:t>
            </a:r>
            <a:r>
              <a:rPr lang="en-US" dirty="0" err="1"/>
              <a:t>kết</a:t>
            </a:r>
            <a:r>
              <a:rPr lang="en-US" dirty="0"/>
              <a:t> </a:t>
            </a:r>
            <a:r>
              <a:rPr lang="en-US" dirty="0" err="1"/>
              <a:t>nối</a:t>
            </a:r>
            <a:r>
              <a:rPr lang="en-US" dirty="0"/>
              <a:t> </a:t>
            </a:r>
            <a:r>
              <a:rPr lang="en-US" dirty="0" err="1"/>
              <a:t>xã</a:t>
            </a:r>
            <a:r>
              <a:rPr lang="en-US" dirty="0"/>
              <a:t> </a:t>
            </a:r>
            <a:r>
              <a:rPr lang="en-US" dirty="0" err="1"/>
              <a:t>hội</a:t>
            </a:r>
            <a:r>
              <a:rPr lang="en-US" dirty="0"/>
              <a:t> </a:t>
            </a:r>
            <a:r>
              <a:rPr lang="en-US" dirty="0" err="1"/>
              <a:t>mạnh</a:t>
            </a:r>
            <a:r>
              <a:rPr lang="en-US" dirty="0"/>
              <a:t> </a:t>
            </a:r>
            <a:r>
              <a:rPr lang="en-US" dirty="0" err="1"/>
              <a:t>mẽ</a:t>
            </a:r>
            <a:r>
              <a:rPr lang="en-US" dirty="0"/>
              <a:t>. </a:t>
            </a:r>
            <a:r>
              <a:rPr lang="en-US" dirty="0" err="1"/>
              <a:t>Một</a:t>
            </a:r>
            <a:r>
              <a:rPr lang="en-US" dirty="0"/>
              <a:t> </a:t>
            </a:r>
            <a:r>
              <a:rPr lang="en-US" dirty="0" err="1"/>
              <a:t>bài</a:t>
            </a:r>
            <a:r>
              <a:rPr lang="en-US" dirty="0"/>
              <a:t> </a:t>
            </a:r>
            <a:r>
              <a:rPr lang="en-US" dirty="0" err="1"/>
              <a:t>đăng</a:t>
            </a:r>
            <a:r>
              <a:rPr lang="en-US" dirty="0"/>
              <a:t> </a:t>
            </a:r>
            <a:r>
              <a:rPr lang="en-US" dirty="0" err="1"/>
              <a:t>trên</a:t>
            </a:r>
            <a:r>
              <a:rPr lang="en-US" dirty="0"/>
              <a:t> Facebook </a:t>
            </a:r>
            <a:r>
              <a:rPr lang="en-US" dirty="0" err="1"/>
              <a:t>có</a:t>
            </a:r>
            <a:r>
              <a:rPr lang="en-US" dirty="0"/>
              <a:t> </a:t>
            </a:r>
            <a:r>
              <a:rPr lang="en-US" dirty="0" err="1"/>
              <a:t>thể</a:t>
            </a:r>
            <a:r>
              <a:rPr lang="en-US" dirty="0"/>
              <a:t> </a:t>
            </a:r>
            <a:r>
              <a:rPr lang="en-US" dirty="0" err="1"/>
              <a:t>lan</a:t>
            </a:r>
            <a:r>
              <a:rPr lang="en-US" dirty="0"/>
              <a:t> </a:t>
            </a:r>
            <a:r>
              <a:rPr lang="en-US" dirty="0" err="1"/>
              <a:t>tỏa</a:t>
            </a:r>
            <a:r>
              <a:rPr lang="en-US" dirty="0"/>
              <a:t> </a:t>
            </a:r>
            <a:r>
              <a:rPr lang="en-US" dirty="0" err="1"/>
              <a:t>đến</a:t>
            </a:r>
            <a:r>
              <a:rPr lang="en-US" dirty="0"/>
              <a:t> </a:t>
            </a:r>
            <a:r>
              <a:rPr lang="en-US" dirty="0" err="1"/>
              <a:t>hàng</a:t>
            </a:r>
            <a:r>
              <a:rPr lang="en-US" dirty="0"/>
              <a:t> </a:t>
            </a:r>
            <a:r>
              <a:rPr lang="en-US" dirty="0" err="1"/>
              <a:t>triệu</a:t>
            </a:r>
            <a:r>
              <a:rPr lang="en-US" dirty="0"/>
              <a:t> </a:t>
            </a:r>
            <a:r>
              <a:rPr lang="en-US" dirty="0" err="1"/>
              <a:t>người</a:t>
            </a:r>
            <a:r>
              <a:rPr lang="en-US" dirty="0"/>
              <a:t> </a:t>
            </a:r>
            <a:r>
              <a:rPr lang="en-US" dirty="0" err="1"/>
              <a:t>chỉ</a:t>
            </a:r>
            <a:r>
              <a:rPr lang="en-US" dirty="0"/>
              <a:t> </a:t>
            </a:r>
            <a:r>
              <a:rPr lang="en-US" dirty="0" err="1"/>
              <a:t>sau</a:t>
            </a:r>
            <a:r>
              <a:rPr lang="en-US" dirty="0"/>
              <a:t> </a:t>
            </a:r>
            <a:r>
              <a:rPr lang="en-US" dirty="0" err="1"/>
              <a:t>vài</a:t>
            </a:r>
            <a:r>
              <a:rPr lang="en-US" dirty="0"/>
              <a:t> </a:t>
            </a:r>
            <a:r>
              <a:rPr lang="en-US" dirty="0" err="1"/>
              <a:t>giờ</a:t>
            </a:r>
            <a:r>
              <a:rPr lang="en-US" dirty="0"/>
              <a:t>, </a:t>
            </a:r>
            <a:r>
              <a:rPr lang="en-US" dirty="0" err="1"/>
              <a:t>một</a:t>
            </a:r>
            <a:r>
              <a:rPr lang="en-US" dirty="0"/>
              <a:t> video </a:t>
            </a:r>
            <a:r>
              <a:rPr lang="en-US" dirty="0" err="1"/>
              <a:t>TikTok</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nên</a:t>
            </a:r>
            <a:r>
              <a:rPr lang="en-US" dirty="0"/>
              <a:t> </a:t>
            </a:r>
            <a:r>
              <a:rPr lang="en-US" dirty="0" err="1"/>
              <a:t>trào</a:t>
            </a:r>
            <a:r>
              <a:rPr lang="en-US" dirty="0"/>
              <a:t> </a:t>
            </a:r>
            <a:r>
              <a:rPr lang="en-US" dirty="0" err="1"/>
              <a:t>lưu</a:t>
            </a:r>
            <a:r>
              <a:rPr lang="en-US" dirty="0"/>
              <a:t> </a:t>
            </a:r>
            <a:r>
              <a:rPr lang="en-US" dirty="0" err="1"/>
              <a:t>toàn</a:t>
            </a:r>
            <a:r>
              <a:rPr lang="en-US" dirty="0"/>
              <a:t> </a:t>
            </a:r>
            <a:r>
              <a:rPr lang="en-US" dirty="0" err="1"/>
              <a:t>cầu</a:t>
            </a:r>
            <a:r>
              <a:rPr lang="en-US" dirty="0"/>
              <a:t>. </a:t>
            </a:r>
            <a:r>
              <a:rPr lang="en-US" dirty="0" err="1"/>
              <a:t>Đặc</a:t>
            </a:r>
            <a:r>
              <a:rPr lang="en-US" dirty="0"/>
              <a:t> </a:t>
            </a:r>
            <a:r>
              <a:rPr lang="en-US" dirty="0" err="1"/>
              <a:t>biệt</a:t>
            </a:r>
            <a:r>
              <a:rPr lang="en-US" dirty="0"/>
              <a:t>, </a:t>
            </a:r>
            <a:r>
              <a:rPr lang="en-US" dirty="0" err="1"/>
              <a:t>mạng</a:t>
            </a:r>
            <a:r>
              <a:rPr lang="en-US" dirty="0"/>
              <a:t> </a:t>
            </a:r>
            <a:r>
              <a:rPr lang="en-US" dirty="0" err="1"/>
              <a:t>xã</a:t>
            </a:r>
            <a:r>
              <a:rPr lang="en-US" dirty="0"/>
              <a:t> </a:t>
            </a:r>
            <a:r>
              <a:rPr lang="en-US" dirty="0" err="1"/>
              <a:t>hội</a:t>
            </a:r>
            <a:r>
              <a:rPr lang="en-US" dirty="0"/>
              <a:t> </a:t>
            </a:r>
            <a:r>
              <a:rPr lang="en-US" dirty="0" err="1"/>
              <a:t>còn</a:t>
            </a:r>
            <a:r>
              <a:rPr lang="en-US" dirty="0"/>
              <a:t> </a:t>
            </a:r>
            <a:r>
              <a:rPr lang="en-US" dirty="0" err="1"/>
              <a:t>là</a:t>
            </a:r>
            <a:r>
              <a:rPr lang="en-US" dirty="0"/>
              <a:t> </a:t>
            </a:r>
            <a:r>
              <a:rPr lang="en-US" dirty="0" err="1"/>
              <a:t>kênh</a:t>
            </a:r>
            <a:r>
              <a:rPr lang="en-US" dirty="0"/>
              <a:t> marketing </a:t>
            </a:r>
            <a:r>
              <a:rPr lang="en-US" dirty="0" err="1"/>
              <a:t>cực</a:t>
            </a:r>
            <a:r>
              <a:rPr lang="en-US" dirty="0"/>
              <a:t> </a:t>
            </a:r>
            <a:r>
              <a:rPr lang="en-US" dirty="0" err="1"/>
              <a:t>kỳ</a:t>
            </a:r>
            <a:r>
              <a:rPr lang="en-US" dirty="0"/>
              <a:t> </a:t>
            </a:r>
            <a:r>
              <a:rPr lang="en-US" dirty="0" err="1"/>
              <a:t>hiệu</a:t>
            </a:r>
            <a:r>
              <a:rPr lang="en-US" dirty="0"/>
              <a:t> </a:t>
            </a:r>
            <a:r>
              <a:rPr lang="en-US" dirty="0" err="1"/>
              <a:t>quả</a:t>
            </a:r>
            <a:r>
              <a:rPr lang="en-US" dirty="0"/>
              <a:t>, </a:t>
            </a:r>
            <a:r>
              <a:rPr lang="en-US" dirty="0" err="1"/>
              <a:t>giúp</a:t>
            </a:r>
            <a:r>
              <a:rPr lang="en-US" dirty="0"/>
              <a:t> </a:t>
            </a:r>
            <a:r>
              <a:rPr lang="en-US" dirty="0" err="1"/>
              <a:t>các</a:t>
            </a:r>
            <a:r>
              <a:rPr lang="en-US" dirty="0"/>
              <a:t> </a:t>
            </a:r>
            <a:r>
              <a:rPr lang="en-US" dirty="0" err="1"/>
              <a:t>doanh</a:t>
            </a:r>
            <a:r>
              <a:rPr lang="en-US" dirty="0"/>
              <a:t> </a:t>
            </a:r>
            <a:r>
              <a:rPr lang="en-US" dirty="0" err="1"/>
              <a:t>nghiệp</a:t>
            </a:r>
            <a:r>
              <a:rPr lang="en-US" dirty="0"/>
              <a:t> </a:t>
            </a:r>
            <a:r>
              <a:rPr lang="en-US" dirty="0" err="1"/>
              <a:t>nhỏ</a:t>
            </a:r>
            <a:r>
              <a:rPr lang="en-US" dirty="0"/>
              <a:t> </a:t>
            </a:r>
            <a:r>
              <a:rPr lang="en-US" dirty="0" err="1"/>
              <a:t>có</a:t>
            </a:r>
            <a:r>
              <a:rPr lang="en-US" dirty="0"/>
              <a:t> </a:t>
            </a:r>
            <a:r>
              <a:rPr lang="en-US" dirty="0" err="1"/>
              <a:t>thể</a:t>
            </a:r>
            <a:r>
              <a:rPr lang="en-US" dirty="0"/>
              <a:t> </a:t>
            </a:r>
            <a:r>
              <a:rPr lang="en-US" dirty="0" err="1"/>
              <a:t>tiếp</a:t>
            </a:r>
            <a:r>
              <a:rPr lang="en-US" dirty="0"/>
              <a:t> </a:t>
            </a:r>
            <a:r>
              <a:rPr lang="en-US" dirty="0" err="1"/>
              <a:t>cận</a:t>
            </a:r>
            <a:r>
              <a:rPr lang="en-US" dirty="0"/>
              <a:t> </a:t>
            </a:r>
            <a:r>
              <a:rPr lang="en-US" dirty="0" err="1"/>
              <a:t>khách</a:t>
            </a:r>
            <a:r>
              <a:rPr lang="en-US" dirty="0"/>
              <a:t> </a:t>
            </a:r>
            <a:r>
              <a:rPr lang="en-US" dirty="0" err="1"/>
              <a:t>hàng</a:t>
            </a:r>
            <a:r>
              <a:rPr lang="en-US" dirty="0"/>
              <a:t> </a:t>
            </a:r>
            <a:r>
              <a:rPr lang="en-US" dirty="0" err="1"/>
              <a:t>mục</a:t>
            </a:r>
            <a:r>
              <a:rPr lang="en-US" dirty="0"/>
              <a:t> </a:t>
            </a:r>
            <a:r>
              <a:rPr lang="en-US" dirty="0" err="1"/>
              <a:t>tiêu</a:t>
            </a:r>
            <a:r>
              <a:rPr lang="en-US" dirty="0"/>
              <a:t> </a:t>
            </a:r>
            <a:r>
              <a:rPr lang="en-US" dirty="0" err="1"/>
              <a:t>với</a:t>
            </a:r>
            <a:r>
              <a:rPr lang="en-US" dirty="0"/>
              <a:t> chi </a:t>
            </a:r>
            <a:r>
              <a:rPr lang="en-US" dirty="0" err="1"/>
              <a:t>phí</a:t>
            </a:r>
            <a:r>
              <a:rPr lang="en-US" dirty="0"/>
              <a:t> </a:t>
            </a:r>
            <a:r>
              <a:rPr lang="en-US" dirty="0" err="1"/>
              <a:t>tối</a:t>
            </a:r>
            <a:r>
              <a:rPr lang="en-US" dirty="0"/>
              <a:t> </a:t>
            </a:r>
            <a:r>
              <a:rPr lang="en-US" dirty="0" err="1"/>
              <a:t>thiểu</a:t>
            </a:r>
            <a:r>
              <a:rPr lang="en-US" dirty="0"/>
              <a:t>.</a:t>
            </a:r>
          </a:p>
          <a:p>
            <a:endParaRPr lang="en-US" dirty="0"/>
          </a:p>
          <a:p>
            <a:r>
              <a:rPr lang="en-US" dirty="0" err="1"/>
              <a:t>Dịch</a:t>
            </a:r>
            <a:r>
              <a:rPr lang="en-US" dirty="0"/>
              <a:t> </a:t>
            </a:r>
            <a:r>
              <a:rPr lang="en-US" dirty="0" err="1"/>
              <a:t>vụ</a:t>
            </a:r>
            <a:r>
              <a:rPr lang="en-US" dirty="0"/>
              <a:t> </a:t>
            </a:r>
            <a:r>
              <a:rPr lang="en-US" dirty="0" err="1"/>
              <a:t>Tìm</a:t>
            </a:r>
            <a:r>
              <a:rPr lang="en-US" dirty="0"/>
              <a:t> </a:t>
            </a:r>
            <a:r>
              <a:rPr lang="en-US" dirty="0" err="1"/>
              <a:t>kiếm</a:t>
            </a:r>
            <a:r>
              <a:rPr lang="en-US" dirty="0"/>
              <a:t> </a:t>
            </a:r>
            <a:r>
              <a:rPr lang="en-US" dirty="0" err="1"/>
              <a:t>thông</a:t>
            </a:r>
            <a:r>
              <a:rPr lang="en-US" dirty="0"/>
              <a:t> tin </a:t>
            </a:r>
            <a:r>
              <a:rPr lang="en-US" dirty="0" err="1"/>
              <a:t>với</a:t>
            </a:r>
            <a:r>
              <a:rPr lang="en-US" dirty="0"/>
              <a:t> </a:t>
            </a:r>
            <a:r>
              <a:rPr lang="en-US" dirty="0" err="1"/>
              <a:t>các</a:t>
            </a:r>
            <a:r>
              <a:rPr lang="en-US" dirty="0"/>
              <a:t> "</a:t>
            </a:r>
            <a:r>
              <a:rPr lang="en-US" dirty="0" err="1"/>
              <a:t>ông</a:t>
            </a:r>
            <a:r>
              <a:rPr lang="en-US" dirty="0"/>
              <a:t> </a:t>
            </a:r>
            <a:r>
              <a:rPr lang="en-US" dirty="0" err="1"/>
              <a:t>lớn</a:t>
            </a:r>
            <a:r>
              <a:rPr lang="en-US" dirty="0"/>
              <a:t>" </a:t>
            </a:r>
            <a:r>
              <a:rPr lang="en-US" dirty="0" err="1"/>
              <a:t>như</a:t>
            </a:r>
            <a:r>
              <a:rPr lang="en-US" dirty="0"/>
              <a:t> Google, Bing hay </a:t>
            </a:r>
            <a:r>
              <a:rPr lang="en-US" dirty="0" err="1"/>
              <a:t>Cốc</a:t>
            </a:r>
            <a:r>
              <a:rPr lang="en-US" dirty="0"/>
              <a:t> </a:t>
            </a:r>
            <a:r>
              <a:rPr lang="en-US" dirty="0" err="1"/>
              <a:t>Cốc</a:t>
            </a:r>
            <a:r>
              <a:rPr lang="en-US" dirty="0"/>
              <a:t> </a:t>
            </a:r>
            <a:r>
              <a:rPr lang="en-US" dirty="0" err="1"/>
              <a:t>đã</a:t>
            </a:r>
            <a:r>
              <a:rPr lang="en-US" dirty="0"/>
              <a:t> </a:t>
            </a:r>
            <a:r>
              <a:rPr lang="en-US" dirty="0" err="1"/>
              <a:t>thay</a:t>
            </a:r>
            <a:r>
              <a:rPr lang="en-US" dirty="0"/>
              <a:t> </a:t>
            </a:r>
            <a:r>
              <a:rPr lang="en-US" dirty="0" err="1"/>
              <a:t>đổi</a:t>
            </a:r>
            <a:r>
              <a:rPr lang="en-US" dirty="0"/>
              <a:t> </a:t>
            </a:r>
            <a:r>
              <a:rPr lang="en-US" dirty="0" err="1"/>
              <a:t>hoàn</a:t>
            </a:r>
            <a:r>
              <a:rPr lang="en-US" dirty="0"/>
              <a:t> </a:t>
            </a:r>
            <a:r>
              <a:rPr lang="en-US" dirty="0" err="1"/>
              <a:t>toàn</a:t>
            </a:r>
            <a:r>
              <a:rPr lang="en-US" dirty="0"/>
              <a:t> </a:t>
            </a:r>
            <a:r>
              <a:rPr lang="en-US" dirty="0" err="1"/>
              <a:t>cách</a:t>
            </a:r>
            <a:r>
              <a:rPr lang="en-US" dirty="0"/>
              <a:t> </a:t>
            </a:r>
            <a:r>
              <a:rPr lang="en-US" dirty="0" err="1"/>
              <a:t>chúng</a:t>
            </a:r>
            <a:r>
              <a:rPr lang="en-US" dirty="0"/>
              <a:t> ta </a:t>
            </a:r>
            <a:r>
              <a:rPr lang="en-US" dirty="0" err="1"/>
              <a:t>tiếp</a:t>
            </a:r>
            <a:r>
              <a:rPr lang="en-US" dirty="0"/>
              <a:t> </a:t>
            </a:r>
            <a:r>
              <a:rPr lang="en-US" dirty="0" err="1"/>
              <a:t>cận</a:t>
            </a:r>
            <a:r>
              <a:rPr lang="en-US" dirty="0"/>
              <a:t> tri </a:t>
            </a:r>
            <a:r>
              <a:rPr lang="en-US" dirty="0" err="1"/>
              <a:t>thức</a:t>
            </a:r>
            <a:r>
              <a:rPr lang="en-US" dirty="0"/>
              <a:t>. </a:t>
            </a:r>
            <a:r>
              <a:rPr lang="en-US" dirty="0" err="1"/>
              <a:t>Chỉ</a:t>
            </a:r>
            <a:r>
              <a:rPr lang="en-US" dirty="0"/>
              <a:t> </a:t>
            </a:r>
            <a:r>
              <a:rPr lang="en-US" dirty="0" err="1"/>
              <a:t>chưa</a:t>
            </a:r>
            <a:r>
              <a:rPr lang="en-US" dirty="0"/>
              <a:t> </a:t>
            </a:r>
            <a:r>
              <a:rPr lang="en-US" dirty="0" err="1"/>
              <a:t>tới</a:t>
            </a:r>
            <a:r>
              <a:rPr lang="en-US" dirty="0"/>
              <a:t> </a:t>
            </a:r>
            <a:r>
              <a:rPr lang="en-US" dirty="0" err="1"/>
              <a:t>vài</a:t>
            </a:r>
            <a:r>
              <a:rPr lang="en-US" dirty="0"/>
              <a:t> </a:t>
            </a:r>
            <a:r>
              <a:rPr lang="en-US" dirty="0" err="1"/>
              <a:t>giây</a:t>
            </a:r>
            <a:r>
              <a:rPr lang="en-US" dirty="0"/>
              <a:t>, Google </a:t>
            </a:r>
            <a:r>
              <a:rPr lang="en-US" dirty="0" err="1"/>
              <a:t>có</a:t>
            </a:r>
            <a:r>
              <a:rPr lang="en-US" dirty="0"/>
              <a:t> </a:t>
            </a:r>
            <a:r>
              <a:rPr lang="en-US" dirty="0" err="1"/>
              <a:t>thể</a:t>
            </a:r>
            <a:r>
              <a:rPr lang="en-US" dirty="0"/>
              <a:t> </a:t>
            </a:r>
            <a:r>
              <a:rPr lang="en-US" dirty="0" err="1"/>
              <a:t>trả</a:t>
            </a:r>
            <a:r>
              <a:rPr lang="en-US" dirty="0"/>
              <a:t> </a:t>
            </a:r>
            <a:r>
              <a:rPr lang="en-US" dirty="0" err="1"/>
              <a:t>về</a:t>
            </a:r>
            <a:r>
              <a:rPr lang="en-US" dirty="0"/>
              <a:t> </a:t>
            </a:r>
            <a:r>
              <a:rPr lang="en-US" dirty="0" err="1"/>
              <a:t>hàng</a:t>
            </a:r>
            <a:r>
              <a:rPr lang="en-US" dirty="0"/>
              <a:t> </a:t>
            </a:r>
            <a:r>
              <a:rPr lang="en-US" dirty="0" err="1"/>
              <a:t>triệu</a:t>
            </a:r>
            <a:r>
              <a:rPr lang="en-US" dirty="0"/>
              <a:t> </a:t>
            </a:r>
            <a:r>
              <a:rPr lang="en-US" dirty="0" err="1"/>
              <a:t>kết</a:t>
            </a:r>
            <a:r>
              <a:rPr lang="en-US" dirty="0"/>
              <a:t> </a:t>
            </a:r>
            <a:r>
              <a:rPr lang="en-US" dirty="0" err="1"/>
              <a:t>quả</a:t>
            </a:r>
            <a:r>
              <a:rPr lang="en-US" dirty="0"/>
              <a:t> </a:t>
            </a:r>
            <a:r>
              <a:rPr lang="en-US" dirty="0" err="1"/>
              <a:t>cho</a:t>
            </a:r>
            <a:r>
              <a:rPr lang="en-US" dirty="0"/>
              <a:t> </a:t>
            </a:r>
            <a:r>
              <a:rPr lang="en-US" dirty="0" err="1"/>
              <a:t>câu</a:t>
            </a:r>
            <a:r>
              <a:rPr lang="en-US" dirty="0"/>
              <a:t> </a:t>
            </a:r>
            <a:r>
              <a:rPr lang="en-US" dirty="0" err="1"/>
              <a:t>hỏi</a:t>
            </a:r>
            <a:r>
              <a:rPr lang="en-US" dirty="0"/>
              <a:t> </a:t>
            </a:r>
            <a:r>
              <a:rPr lang="en-US" dirty="0" err="1"/>
              <a:t>của</a:t>
            </a:r>
            <a:r>
              <a:rPr lang="en-US" dirty="0"/>
              <a:t> </a:t>
            </a:r>
            <a:r>
              <a:rPr lang="en-US" dirty="0" err="1"/>
              <a:t>bạn</a:t>
            </a:r>
            <a:r>
              <a:rPr lang="en-US" dirty="0"/>
              <a:t>. </a:t>
            </a:r>
            <a:r>
              <a:rPr lang="en-US" dirty="0" err="1"/>
              <a:t>Hệ</a:t>
            </a:r>
            <a:r>
              <a:rPr lang="en-US" dirty="0"/>
              <a:t> </a:t>
            </a:r>
            <a:r>
              <a:rPr lang="en-US" dirty="0" err="1"/>
              <a:t>thống</a:t>
            </a:r>
            <a:r>
              <a:rPr lang="en-US" dirty="0"/>
              <a:t> </a:t>
            </a:r>
            <a:r>
              <a:rPr lang="en-US" dirty="0" err="1"/>
              <a:t>thuật</a:t>
            </a:r>
            <a:r>
              <a:rPr lang="en-US" dirty="0"/>
              <a:t> </a:t>
            </a:r>
            <a:r>
              <a:rPr lang="en-US" dirty="0" err="1"/>
              <a:t>toán</a:t>
            </a:r>
            <a:r>
              <a:rPr lang="en-US" dirty="0"/>
              <a:t> </a:t>
            </a:r>
            <a:r>
              <a:rPr lang="en-US" dirty="0" err="1"/>
              <a:t>thông</a:t>
            </a:r>
            <a:r>
              <a:rPr lang="en-US" dirty="0"/>
              <a:t> </a:t>
            </a:r>
            <a:r>
              <a:rPr lang="en-US" dirty="0" err="1"/>
              <a:t>minh</a:t>
            </a:r>
            <a:r>
              <a:rPr lang="en-US" dirty="0"/>
              <a:t> </a:t>
            </a:r>
            <a:r>
              <a:rPr lang="en-US" dirty="0" err="1"/>
              <a:t>không</a:t>
            </a:r>
            <a:r>
              <a:rPr lang="en-US" dirty="0"/>
              <a:t> </a:t>
            </a:r>
            <a:r>
              <a:rPr lang="en-US" dirty="0" err="1"/>
              <a:t>chỉ</a:t>
            </a:r>
            <a:r>
              <a:rPr lang="en-US" dirty="0"/>
              <a:t> </a:t>
            </a:r>
            <a:r>
              <a:rPr lang="en-US" dirty="0" err="1"/>
              <a:t>hiểu</a:t>
            </a:r>
            <a:r>
              <a:rPr lang="en-US" dirty="0"/>
              <a:t> </a:t>
            </a:r>
            <a:r>
              <a:rPr lang="en-US" dirty="0" err="1"/>
              <a:t>được</a:t>
            </a:r>
            <a:r>
              <a:rPr lang="en-US" dirty="0"/>
              <a:t> </a:t>
            </a:r>
            <a:r>
              <a:rPr lang="en-US" dirty="0" err="1"/>
              <a:t>ngữ</a:t>
            </a:r>
            <a:r>
              <a:rPr lang="en-US" dirty="0"/>
              <a:t> </a:t>
            </a:r>
            <a:r>
              <a:rPr lang="en-US" dirty="0" err="1"/>
              <a:t>nghĩa</a:t>
            </a:r>
            <a:r>
              <a:rPr lang="en-US" dirty="0"/>
              <a:t> </a:t>
            </a:r>
            <a:r>
              <a:rPr lang="en-US" dirty="0" err="1"/>
              <a:t>câu</a:t>
            </a:r>
            <a:r>
              <a:rPr lang="en-US" dirty="0"/>
              <a:t> </a:t>
            </a:r>
            <a:r>
              <a:rPr lang="en-US" dirty="0" err="1"/>
              <a:t>hỏi</a:t>
            </a:r>
            <a:r>
              <a:rPr lang="en-US" dirty="0"/>
              <a:t>, </a:t>
            </a:r>
            <a:r>
              <a:rPr lang="en-US" dirty="0" err="1"/>
              <a:t>mà</a:t>
            </a:r>
            <a:r>
              <a:rPr lang="en-US" dirty="0"/>
              <a:t> </a:t>
            </a:r>
            <a:r>
              <a:rPr lang="en-US" dirty="0" err="1"/>
              <a:t>còn</a:t>
            </a:r>
            <a:r>
              <a:rPr lang="en-US" dirty="0"/>
              <a:t> </a:t>
            </a:r>
            <a:r>
              <a:rPr lang="en-US" dirty="0" err="1"/>
              <a:t>đưa</a:t>
            </a:r>
            <a:r>
              <a:rPr lang="en-US" dirty="0"/>
              <a:t> </a:t>
            </a:r>
            <a:r>
              <a:rPr lang="en-US" dirty="0" err="1"/>
              <a:t>ra</a:t>
            </a:r>
            <a:r>
              <a:rPr lang="en-US" dirty="0"/>
              <a:t> </a:t>
            </a:r>
            <a:r>
              <a:rPr lang="en-US" dirty="0" err="1"/>
              <a:t>gợi</a:t>
            </a:r>
            <a:r>
              <a:rPr lang="en-US" dirty="0"/>
              <a:t> </a:t>
            </a:r>
            <a:r>
              <a:rPr lang="en-US" dirty="0" err="1"/>
              <a:t>ý</a:t>
            </a:r>
            <a:r>
              <a:rPr lang="en-US" dirty="0"/>
              <a:t> </a:t>
            </a:r>
            <a:r>
              <a:rPr lang="en-US" dirty="0" err="1"/>
              <a:t>phù</a:t>
            </a:r>
            <a:r>
              <a:rPr lang="en-US" dirty="0"/>
              <a:t> </a:t>
            </a:r>
            <a:r>
              <a:rPr lang="en-US" dirty="0" err="1"/>
              <a:t>hợp</a:t>
            </a:r>
            <a:r>
              <a:rPr lang="en-US" dirty="0"/>
              <a:t> </a:t>
            </a:r>
            <a:r>
              <a:rPr lang="en-US" dirty="0" err="1"/>
              <a:t>với</a:t>
            </a:r>
            <a:r>
              <a:rPr lang="en-US" dirty="0"/>
              <a:t> </a:t>
            </a:r>
            <a:r>
              <a:rPr lang="en-US" dirty="0" err="1"/>
              <a:t>từng</a:t>
            </a:r>
            <a:r>
              <a:rPr lang="en-US" dirty="0"/>
              <a:t> </a:t>
            </a:r>
            <a:r>
              <a:rPr lang="en-US" dirty="0" err="1"/>
              <a:t>người</a:t>
            </a:r>
            <a:r>
              <a:rPr lang="en-US" dirty="0"/>
              <a:t> </a:t>
            </a:r>
            <a:r>
              <a:rPr lang="en-US" dirty="0" err="1"/>
              <a:t>dùng</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Về</a:t>
            </a:r>
            <a:r>
              <a:rPr lang="en-US" dirty="0"/>
              <a:t> </a:t>
            </a:r>
            <a:r>
              <a:rPr lang="en-US" dirty="0" err="1"/>
              <a:t>lĩnh</a:t>
            </a:r>
            <a:r>
              <a:rPr lang="en-US" dirty="0"/>
              <a:t> </a:t>
            </a:r>
            <a:r>
              <a:rPr lang="en-US" dirty="0" err="1"/>
              <a:t>vực</a:t>
            </a:r>
            <a:r>
              <a:rPr lang="en-US" dirty="0"/>
              <a:t> </a:t>
            </a:r>
            <a:r>
              <a:rPr lang="en-US" dirty="0" err="1"/>
              <a:t>truyền</a:t>
            </a:r>
            <a:r>
              <a:rPr lang="en-US" dirty="0"/>
              <a:t> </a:t>
            </a:r>
            <a:r>
              <a:rPr lang="en-US" dirty="0" err="1"/>
              <a:t>thông</a:t>
            </a:r>
            <a:r>
              <a:rPr lang="en-US" dirty="0"/>
              <a:t> </a:t>
            </a:r>
            <a:r>
              <a:rPr lang="en-US" dirty="0" err="1"/>
              <a:t>đa</a:t>
            </a:r>
            <a:r>
              <a:rPr lang="en-US" dirty="0"/>
              <a:t> </a:t>
            </a:r>
            <a:r>
              <a:rPr lang="en-US" dirty="0" err="1"/>
              <a:t>phương</a:t>
            </a:r>
            <a:r>
              <a:rPr lang="en-US" dirty="0"/>
              <a:t> </a:t>
            </a:r>
            <a:r>
              <a:rPr lang="en-US" dirty="0" err="1"/>
              <a:t>tiện</a:t>
            </a:r>
            <a:r>
              <a:rPr lang="en-US" dirty="0"/>
              <a:t>, Internet </a:t>
            </a:r>
            <a:r>
              <a:rPr lang="en-US" dirty="0" err="1"/>
              <a:t>đã</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cuộc</a:t>
            </a:r>
            <a:r>
              <a:rPr lang="en-US" dirty="0"/>
              <a:t> </a:t>
            </a:r>
            <a:r>
              <a:rPr lang="en-US" dirty="0" err="1"/>
              <a:t>cách</a:t>
            </a:r>
            <a:r>
              <a:rPr lang="en-US" dirty="0"/>
              <a:t> </a:t>
            </a:r>
            <a:r>
              <a:rPr lang="en-US" dirty="0" err="1"/>
              <a:t>mạng</a:t>
            </a:r>
            <a:r>
              <a:rPr lang="en-US" dirty="0"/>
              <a:t> </a:t>
            </a:r>
            <a:r>
              <a:rPr lang="en-US" dirty="0" err="1"/>
              <a:t>thực</a:t>
            </a:r>
            <a:r>
              <a:rPr lang="en-US" dirty="0"/>
              <a:t> </a:t>
            </a:r>
            <a:r>
              <a:rPr lang="en-US" dirty="0" err="1"/>
              <a:t>sự</a:t>
            </a:r>
            <a:r>
              <a:rPr lang="en-US" dirty="0"/>
              <a:t> </a:t>
            </a:r>
            <a:r>
              <a:rPr lang="en-US" dirty="0" err="1"/>
              <a:t>trong</a:t>
            </a:r>
            <a:r>
              <a:rPr lang="en-US" dirty="0"/>
              <a:t> </a:t>
            </a:r>
            <a:r>
              <a:rPr lang="en-US" dirty="0" err="1"/>
              <a:t>cách</a:t>
            </a:r>
            <a:r>
              <a:rPr lang="en-US" dirty="0"/>
              <a:t> </a:t>
            </a:r>
            <a:r>
              <a:rPr lang="en-US" dirty="0" err="1"/>
              <a:t>chúng</a:t>
            </a:r>
            <a:r>
              <a:rPr lang="en-US" dirty="0"/>
              <a:t> ta </a:t>
            </a:r>
            <a:r>
              <a:rPr lang="en-US" dirty="0" err="1"/>
              <a:t>tiêu</a:t>
            </a:r>
            <a:r>
              <a:rPr lang="en-US" dirty="0"/>
              <a:t> </a:t>
            </a:r>
            <a:r>
              <a:rPr lang="en-US" dirty="0" err="1"/>
              <a:t>thụ</a:t>
            </a:r>
            <a:r>
              <a:rPr lang="en-US" dirty="0"/>
              <a:t> </a:t>
            </a:r>
            <a:r>
              <a:rPr lang="en-US" dirty="0" err="1"/>
              <a:t>nội</a:t>
            </a:r>
            <a:r>
              <a:rPr lang="en-US" dirty="0"/>
              <a:t> dung. </a:t>
            </a:r>
            <a:r>
              <a:rPr lang="en-US" dirty="0" err="1"/>
              <a:t>Trong</a:t>
            </a:r>
            <a:r>
              <a:rPr lang="en-US" dirty="0"/>
              <a:t> </a:t>
            </a:r>
            <a:r>
              <a:rPr lang="en-US" dirty="0" err="1"/>
              <a:t>đó</a:t>
            </a:r>
            <a:r>
              <a:rPr lang="en-US" dirty="0"/>
              <a:t> </a:t>
            </a:r>
            <a:r>
              <a:rPr lang="en-US" dirty="0" err="1"/>
              <a:t>có</a:t>
            </a:r>
            <a:r>
              <a:rPr lang="en-US" dirty="0"/>
              <a:t> </a:t>
            </a:r>
            <a:r>
              <a:rPr lang="en-US" dirty="0" err="1"/>
              <a:t>thể</a:t>
            </a:r>
            <a:r>
              <a:rPr lang="en-US" dirty="0"/>
              <a:t> </a:t>
            </a:r>
            <a:r>
              <a:rPr lang="en-US" dirty="0" err="1"/>
              <a:t>kể</a:t>
            </a:r>
            <a:r>
              <a:rPr lang="en-US" dirty="0"/>
              <a:t> </a:t>
            </a:r>
            <a:r>
              <a:rPr lang="en-US" dirty="0" err="1"/>
              <a:t>đến</a:t>
            </a:r>
            <a:r>
              <a:rPr lang="en-US" dirty="0"/>
              <a:t> YouTube </a:t>
            </a:r>
            <a:r>
              <a:rPr lang="en-US" dirty="0" err="1"/>
              <a:t>và</a:t>
            </a:r>
            <a:r>
              <a:rPr lang="en-US" dirty="0"/>
              <a:t> </a:t>
            </a:r>
            <a:r>
              <a:rPr lang="en-US" dirty="0" err="1"/>
              <a:t>là</a:t>
            </a:r>
            <a:r>
              <a:rPr lang="en-US" dirty="0"/>
              <a:t> </a:t>
            </a:r>
            <a:r>
              <a:rPr lang="en-US" dirty="0" err="1"/>
              <a:t>nơi</a:t>
            </a:r>
            <a:r>
              <a:rPr lang="en-US" dirty="0"/>
              <a:t> </a:t>
            </a:r>
            <a:r>
              <a:rPr lang="en-US" dirty="0" err="1"/>
              <a:t>người</a:t>
            </a:r>
            <a:r>
              <a:rPr lang="en-US" dirty="0"/>
              <a:t> </a:t>
            </a:r>
            <a:r>
              <a:rPr lang="en-US" dirty="0" err="1"/>
              <a:t>dùng</a:t>
            </a:r>
            <a:r>
              <a:rPr lang="en-US" dirty="0"/>
              <a:t> </a:t>
            </a:r>
            <a:r>
              <a:rPr lang="en-US" dirty="0" err="1"/>
              <a:t>có</a:t>
            </a:r>
            <a:r>
              <a:rPr lang="en-US" dirty="0"/>
              <a:t> </a:t>
            </a:r>
            <a:r>
              <a:rPr lang="en-US" dirty="0" err="1"/>
              <a:t>thể</a:t>
            </a:r>
            <a:r>
              <a:rPr lang="en-US" dirty="0"/>
              <a:t> </a:t>
            </a:r>
            <a:r>
              <a:rPr lang="en-US" dirty="0" err="1"/>
              <a:t>tải</a:t>
            </a:r>
            <a:r>
              <a:rPr lang="en-US" dirty="0"/>
              <a:t> </a:t>
            </a:r>
            <a:r>
              <a:rPr lang="en-US" dirty="0" err="1"/>
              <a:t>lên</a:t>
            </a:r>
            <a:r>
              <a:rPr lang="en-US" dirty="0"/>
              <a:t>, </a:t>
            </a:r>
            <a:r>
              <a:rPr lang="en-US" dirty="0" err="1"/>
              <a:t>xem</a:t>
            </a:r>
            <a:r>
              <a:rPr lang="en-US" dirty="0"/>
              <a:t> </a:t>
            </a:r>
            <a:r>
              <a:rPr lang="en-US" dirty="0" err="1"/>
              <a:t>và</a:t>
            </a:r>
            <a:r>
              <a:rPr lang="en-US" dirty="0"/>
              <a:t> chia </a:t>
            </a:r>
            <a:r>
              <a:rPr lang="en-US" dirty="0" err="1"/>
              <a:t>sẻ</a:t>
            </a:r>
            <a:r>
              <a:rPr lang="en-US" dirty="0"/>
              <a:t> </a:t>
            </a:r>
            <a:r>
              <a:rPr lang="en-US" dirty="0" err="1"/>
              <a:t>các</a:t>
            </a:r>
            <a:r>
              <a:rPr lang="en-US" dirty="0"/>
              <a:t> video </a:t>
            </a:r>
            <a:r>
              <a:rPr lang="en-US" dirty="0" err="1"/>
              <a:t>ngắn</a:t>
            </a:r>
            <a:r>
              <a:rPr lang="en-US" dirty="0"/>
              <a:t> </a:t>
            </a:r>
            <a:r>
              <a:rPr lang="en-US" dirty="0" err="1"/>
              <a:t>và</a:t>
            </a:r>
            <a:r>
              <a:rPr lang="en-US" dirty="0"/>
              <a:t> </a:t>
            </a:r>
            <a:r>
              <a:rPr lang="en-US" dirty="0" err="1"/>
              <a:t>dài</a:t>
            </a:r>
            <a:r>
              <a:rPr lang="en-US" dirty="0"/>
              <a:t> </a:t>
            </a:r>
            <a:r>
              <a:rPr lang="en-US" dirty="0" err="1"/>
              <a:t>trên</a:t>
            </a:r>
            <a:r>
              <a:rPr lang="en-US" dirty="0"/>
              <a:t> </a:t>
            </a:r>
            <a:r>
              <a:rPr lang="en-US" dirty="0" err="1"/>
              <a:t>nhiều</a:t>
            </a:r>
            <a:r>
              <a:rPr lang="en-US" dirty="0"/>
              <a:t> </a:t>
            </a:r>
            <a:r>
              <a:rPr lang="en-US" dirty="0" err="1"/>
              <a:t>chủ</a:t>
            </a:r>
            <a:r>
              <a:rPr lang="en-US" dirty="0"/>
              <a:t> </a:t>
            </a:r>
            <a:r>
              <a:rPr lang="en-US" dirty="0" err="1"/>
              <a:t>đề</a:t>
            </a:r>
            <a:r>
              <a:rPr lang="en-US" dirty="0"/>
              <a:t> </a:t>
            </a:r>
            <a:r>
              <a:rPr lang="en-US" dirty="0" err="1"/>
              <a:t>khác</a:t>
            </a:r>
            <a:r>
              <a:rPr lang="en-US" dirty="0"/>
              <a:t> </a:t>
            </a:r>
            <a:r>
              <a:rPr lang="en-US" dirty="0" err="1"/>
              <a:t>nhau</a:t>
            </a:r>
            <a:r>
              <a:rPr lang="en-US" dirty="0"/>
              <a:t> </a:t>
            </a:r>
            <a:r>
              <a:rPr lang="en-US" dirty="0" err="1"/>
              <a:t>như</a:t>
            </a:r>
            <a:r>
              <a:rPr lang="en-US" dirty="0"/>
              <a:t> </a:t>
            </a:r>
            <a:r>
              <a:rPr lang="en-US" dirty="0" err="1"/>
              <a:t>âm</a:t>
            </a:r>
            <a:r>
              <a:rPr lang="en-US" dirty="0"/>
              <a:t> </a:t>
            </a:r>
            <a:r>
              <a:rPr lang="en-US" dirty="0" err="1"/>
              <a:t>nhạc</a:t>
            </a:r>
            <a:r>
              <a:rPr lang="en-US" dirty="0"/>
              <a:t>, </a:t>
            </a:r>
            <a:r>
              <a:rPr lang="en-US" dirty="0" err="1"/>
              <a:t>giải</a:t>
            </a:r>
            <a:r>
              <a:rPr lang="en-US" dirty="0"/>
              <a:t> </a:t>
            </a:r>
            <a:r>
              <a:rPr lang="en-US" dirty="0" err="1"/>
              <a:t>trí</a:t>
            </a:r>
            <a:r>
              <a:rPr lang="en-US" dirty="0"/>
              <a:t>, </a:t>
            </a:r>
            <a:r>
              <a:rPr lang="en-US" dirty="0" err="1"/>
              <a:t>giáo</a:t>
            </a:r>
            <a:r>
              <a:rPr lang="en-US" dirty="0"/>
              <a:t> </a:t>
            </a:r>
            <a:r>
              <a:rPr lang="en-US" dirty="0" err="1"/>
              <a:t>dục</a:t>
            </a:r>
            <a:r>
              <a:rPr lang="en-US" dirty="0"/>
              <a:t>, </a:t>
            </a:r>
            <a:r>
              <a:rPr lang="en-US" dirty="0" err="1"/>
              <a:t>thể</a:t>
            </a:r>
            <a:r>
              <a:rPr lang="en-US" dirty="0"/>
              <a:t> </a:t>
            </a:r>
            <a:r>
              <a:rPr lang="en-US" dirty="0" err="1"/>
              <a:t>thao</a:t>
            </a:r>
            <a:r>
              <a:rPr lang="en-US" dirty="0"/>
              <a:t>, tin </a:t>
            </a:r>
            <a:r>
              <a:rPr lang="en-US" dirty="0" err="1"/>
              <a:t>tức</a:t>
            </a:r>
            <a:r>
              <a:rPr lang="en-US" dirty="0"/>
              <a:t>, </a:t>
            </a:r>
            <a:r>
              <a:rPr lang="en-US" dirty="0" err="1"/>
              <a:t>khoa</a:t>
            </a:r>
            <a:r>
              <a:rPr lang="en-US" dirty="0"/>
              <a:t> </a:t>
            </a:r>
            <a:r>
              <a:rPr lang="en-US" dirty="0" err="1"/>
              <a:t>học</a:t>
            </a:r>
            <a:r>
              <a:rPr lang="en-US" dirty="0"/>
              <a:t> </a:t>
            </a:r>
            <a:r>
              <a:rPr lang="en-US" dirty="0" err="1"/>
              <a:t>và</a:t>
            </a:r>
            <a:r>
              <a:rPr lang="en-US" dirty="0"/>
              <a:t> </a:t>
            </a:r>
            <a:r>
              <a:rPr lang="en-US" dirty="0" err="1"/>
              <a:t>công</a:t>
            </a:r>
            <a:r>
              <a:rPr lang="en-US" dirty="0"/>
              <a:t> </a:t>
            </a:r>
            <a:r>
              <a:rPr lang="en-US" dirty="0" err="1"/>
              <a:t>nghệ</a:t>
            </a:r>
            <a:r>
              <a:rPr lang="en-US" dirty="0"/>
              <a:t>. </a:t>
            </a:r>
            <a:r>
              <a:rPr lang="en-US" dirty="0" err="1"/>
              <a:t>Các</a:t>
            </a:r>
            <a:r>
              <a:rPr lang="en-US" dirty="0"/>
              <a:t> </a:t>
            </a:r>
            <a:r>
              <a:rPr lang="en-US" dirty="0" err="1"/>
              <a:t>dịch</a:t>
            </a:r>
            <a:r>
              <a:rPr lang="en-US" dirty="0"/>
              <a:t> </a:t>
            </a:r>
            <a:r>
              <a:rPr lang="en-US" dirty="0" err="1"/>
              <a:t>vụ</a:t>
            </a:r>
            <a:r>
              <a:rPr lang="en-US" dirty="0"/>
              <a:t> </a:t>
            </a:r>
            <a:r>
              <a:rPr lang="en-US" dirty="0" err="1"/>
              <a:t>phát</a:t>
            </a:r>
            <a:r>
              <a:rPr lang="en-US" dirty="0"/>
              <a:t> </a:t>
            </a:r>
            <a:r>
              <a:rPr lang="en-US" dirty="0" err="1"/>
              <a:t>nhạc</a:t>
            </a:r>
            <a:r>
              <a:rPr lang="en-US" dirty="0"/>
              <a:t> </a:t>
            </a:r>
            <a:r>
              <a:rPr lang="en-US" dirty="0" err="1"/>
              <a:t>trực</a:t>
            </a:r>
            <a:r>
              <a:rPr lang="en-US" dirty="0"/>
              <a:t> </a:t>
            </a:r>
            <a:r>
              <a:rPr lang="en-US" dirty="0" err="1"/>
              <a:t>tuyến</a:t>
            </a:r>
            <a:r>
              <a:rPr lang="en-US" dirty="0"/>
              <a:t> </a:t>
            </a:r>
            <a:r>
              <a:rPr lang="en-US" dirty="0" err="1"/>
              <a:t>như</a:t>
            </a:r>
            <a:r>
              <a:rPr lang="en-US" dirty="0"/>
              <a:t> Spotify hay Apple Music </a:t>
            </a:r>
            <a:r>
              <a:rPr lang="en-US" dirty="0" err="1"/>
              <a:t>đã</a:t>
            </a:r>
            <a:r>
              <a:rPr lang="en-US" dirty="0"/>
              <a:t> </a:t>
            </a:r>
            <a:r>
              <a:rPr lang="en-US" dirty="0" err="1"/>
              <a:t>thay</a:t>
            </a:r>
            <a:r>
              <a:rPr lang="en-US" dirty="0"/>
              <a:t> </a:t>
            </a:r>
            <a:r>
              <a:rPr lang="en-US" dirty="0" err="1"/>
              <a:t>đổi</a:t>
            </a:r>
            <a:r>
              <a:rPr lang="en-US" dirty="0"/>
              <a:t> </a:t>
            </a:r>
            <a:r>
              <a:rPr lang="en-US" dirty="0" err="1"/>
              <a:t>hoàn</a:t>
            </a:r>
            <a:r>
              <a:rPr lang="en-US" dirty="0"/>
              <a:t> </a:t>
            </a:r>
            <a:r>
              <a:rPr lang="en-US" dirty="0" err="1"/>
              <a:t>toàn</a:t>
            </a:r>
            <a:r>
              <a:rPr lang="en-US" dirty="0"/>
              <a:t> </a:t>
            </a:r>
            <a:r>
              <a:rPr lang="en-US" dirty="0" err="1"/>
              <a:t>ngành</a:t>
            </a:r>
            <a:r>
              <a:rPr lang="en-US" dirty="0"/>
              <a:t> </a:t>
            </a:r>
            <a:r>
              <a:rPr lang="en-US" dirty="0" err="1"/>
              <a:t>công</a:t>
            </a:r>
            <a:r>
              <a:rPr lang="en-US" dirty="0"/>
              <a:t> </a:t>
            </a:r>
            <a:r>
              <a:rPr lang="en-US" dirty="0" err="1"/>
              <a:t>nghiệp</a:t>
            </a:r>
            <a:r>
              <a:rPr lang="en-US" dirty="0"/>
              <a:t> </a:t>
            </a:r>
            <a:r>
              <a:rPr lang="en-US" dirty="0" err="1"/>
              <a:t>âm</a:t>
            </a:r>
            <a:r>
              <a:rPr lang="en-US" dirty="0"/>
              <a:t> </a:t>
            </a:r>
            <a:r>
              <a:rPr lang="en-US" dirty="0" err="1"/>
              <a:t>nhạc</a:t>
            </a:r>
            <a:r>
              <a:rPr lang="en-US" dirty="0"/>
              <a:t>.</a:t>
            </a:r>
          </a:p>
          <a:p>
            <a:endParaRPr lang="en-US" dirty="0"/>
          </a:p>
          <a:p>
            <a:r>
              <a:rPr lang="en-US" dirty="0" err="1"/>
              <a:t>Không</a:t>
            </a:r>
            <a:r>
              <a:rPr lang="en-US" dirty="0"/>
              <a:t> </a:t>
            </a:r>
            <a:r>
              <a:rPr lang="en-US" dirty="0" err="1"/>
              <a:t>dừng</a:t>
            </a:r>
            <a:r>
              <a:rPr lang="en-US" dirty="0"/>
              <a:t> </a:t>
            </a:r>
            <a:r>
              <a:rPr lang="en-US" dirty="0" err="1"/>
              <a:t>lại</a:t>
            </a:r>
            <a:r>
              <a:rPr lang="en-US" dirty="0"/>
              <a:t> </a:t>
            </a:r>
            <a:r>
              <a:rPr lang="en-US" dirty="0" err="1"/>
              <a:t>ở</a:t>
            </a:r>
            <a:r>
              <a:rPr lang="en-US" dirty="0"/>
              <a:t> </a:t>
            </a:r>
            <a:r>
              <a:rPr lang="en-US" dirty="0" err="1"/>
              <a:t>đó</a:t>
            </a:r>
            <a:r>
              <a:rPr lang="en-US" dirty="0"/>
              <a:t>, podcast </a:t>
            </a:r>
            <a:r>
              <a:rPr lang="en-US" dirty="0" err="1"/>
              <a:t>đã</a:t>
            </a:r>
            <a:r>
              <a:rPr lang="en-US" dirty="0"/>
              <a:t> </a:t>
            </a:r>
            <a:r>
              <a:rPr lang="en-US" dirty="0" err="1"/>
              <a:t>trở</a:t>
            </a:r>
            <a:r>
              <a:rPr lang="en-US" dirty="0"/>
              <a:t> </a:t>
            </a:r>
            <a:r>
              <a:rPr lang="en-US" dirty="0" err="1"/>
              <a:t>thành</a:t>
            </a:r>
            <a:r>
              <a:rPr lang="en-US" dirty="0"/>
              <a:t> </a:t>
            </a:r>
            <a:r>
              <a:rPr lang="en-US" dirty="0" err="1"/>
              <a:t>hình</a:t>
            </a:r>
            <a:r>
              <a:rPr lang="en-US" dirty="0"/>
              <a:t> </a:t>
            </a:r>
            <a:r>
              <a:rPr lang="en-US" dirty="0" err="1"/>
              <a:t>thức</a:t>
            </a:r>
            <a:r>
              <a:rPr lang="en-US" dirty="0"/>
              <a:t> </a:t>
            </a:r>
            <a:r>
              <a:rPr lang="en-US" dirty="0" err="1"/>
              <a:t>giải</a:t>
            </a:r>
            <a:r>
              <a:rPr lang="en-US" dirty="0"/>
              <a:t> </a:t>
            </a:r>
            <a:r>
              <a:rPr lang="en-US" dirty="0" err="1"/>
              <a:t>trí</a:t>
            </a:r>
            <a:r>
              <a:rPr lang="en-US" dirty="0"/>
              <a:t> </a:t>
            </a:r>
            <a:r>
              <a:rPr lang="en-US" dirty="0" err="1"/>
              <a:t>và</a:t>
            </a:r>
            <a:r>
              <a:rPr lang="en-US" dirty="0"/>
              <a:t> </a:t>
            </a:r>
            <a:r>
              <a:rPr lang="en-US" dirty="0" err="1"/>
              <a:t>học</a:t>
            </a:r>
            <a:r>
              <a:rPr lang="en-US" dirty="0"/>
              <a:t> </a:t>
            </a:r>
            <a:r>
              <a:rPr lang="en-US" dirty="0" err="1"/>
              <a:t>tập</a:t>
            </a:r>
            <a:r>
              <a:rPr lang="en-US" dirty="0"/>
              <a:t> </a:t>
            </a:r>
            <a:r>
              <a:rPr lang="en-US" dirty="0" err="1"/>
              <a:t>mới</a:t>
            </a:r>
            <a:r>
              <a:rPr lang="en-US" dirty="0"/>
              <a:t>. </a:t>
            </a:r>
            <a:r>
              <a:rPr lang="en-US" dirty="0" err="1"/>
              <a:t>Các</a:t>
            </a:r>
            <a:r>
              <a:rPr lang="en-US" dirty="0"/>
              <a:t> </a:t>
            </a:r>
            <a:r>
              <a:rPr lang="en-US" dirty="0" err="1"/>
              <a:t>nền</a:t>
            </a:r>
            <a:r>
              <a:rPr lang="en-US" dirty="0"/>
              <a:t> </a:t>
            </a:r>
            <a:r>
              <a:rPr lang="en-US" dirty="0" err="1"/>
              <a:t>tảng</a:t>
            </a:r>
            <a:r>
              <a:rPr lang="en-US" dirty="0"/>
              <a:t> </a:t>
            </a:r>
            <a:r>
              <a:rPr lang="en-US" dirty="0" err="1"/>
              <a:t>như</a:t>
            </a:r>
            <a:r>
              <a:rPr lang="en-US" dirty="0"/>
              <a:t> Netflix, Disney+ </a:t>
            </a:r>
            <a:r>
              <a:rPr lang="en-US" dirty="0" err="1"/>
              <a:t>đã</a:t>
            </a:r>
            <a:r>
              <a:rPr lang="en-US" dirty="0"/>
              <a:t> </a:t>
            </a:r>
            <a:r>
              <a:rPr lang="en-US" dirty="0" err="1"/>
              <a:t>biến</a:t>
            </a:r>
            <a:r>
              <a:rPr lang="en-US" dirty="0"/>
              <a:t> </a:t>
            </a:r>
            <a:r>
              <a:rPr lang="en-US" dirty="0" err="1"/>
              <a:t>việc</a:t>
            </a:r>
            <a:r>
              <a:rPr lang="en-US" dirty="0"/>
              <a:t> </a:t>
            </a:r>
            <a:r>
              <a:rPr lang="en-US" dirty="0" err="1"/>
              <a:t>xem</a:t>
            </a:r>
            <a:r>
              <a:rPr lang="en-US" dirty="0"/>
              <a:t> </a:t>
            </a:r>
            <a:r>
              <a:rPr lang="en-US" dirty="0" err="1"/>
              <a:t>phim</a:t>
            </a:r>
            <a:r>
              <a:rPr lang="en-US" dirty="0"/>
              <a:t> </a:t>
            </a:r>
            <a:r>
              <a:rPr lang="en-US" dirty="0" err="1"/>
              <a:t>tại</a:t>
            </a:r>
            <a:r>
              <a:rPr lang="en-US" dirty="0"/>
              <a:t> </a:t>
            </a:r>
            <a:r>
              <a:rPr lang="en-US" dirty="0" err="1"/>
              <a:t>nhà</a:t>
            </a:r>
            <a:r>
              <a:rPr lang="en-US" dirty="0"/>
              <a:t> </a:t>
            </a:r>
            <a:r>
              <a:rPr lang="en-US" dirty="0" err="1"/>
              <a:t>trở</a:t>
            </a:r>
            <a:r>
              <a:rPr lang="en-US" dirty="0"/>
              <a:t> </a:t>
            </a:r>
            <a:r>
              <a:rPr lang="en-US" dirty="0" err="1"/>
              <a:t>thành</a:t>
            </a:r>
            <a:r>
              <a:rPr lang="en-US" dirty="0"/>
              <a:t> </a:t>
            </a:r>
            <a:r>
              <a:rPr lang="en-US" dirty="0" err="1"/>
              <a:t>trải</a:t>
            </a:r>
            <a:r>
              <a:rPr lang="en-US" dirty="0"/>
              <a:t> </a:t>
            </a:r>
            <a:r>
              <a:rPr lang="en-US" dirty="0" err="1"/>
              <a:t>nghiệm</a:t>
            </a:r>
            <a:r>
              <a:rPr lang="en-US" dirty="0"/>
              <a:t> </a:t>
            </a:r>
            <a:r>
              <a:rPr lang="en-US" dirty="0" err="1"/>
              <a:t>cá</a:t>
            </a:r>
            <a:r>
              <a:rPr lang="en-US" dirty="0"/>
              <a:t> </a:t>
            </a:r>
            <a:r>
              <a:rPr lang="en-US" dirty="0" err="1"/>
              <a:t>nhân</a:t>
            </a:r>
            <a:r>
              <a:rPr lang="en-US" dirty="0"/>
              <a:t> </a:t>
            </a:r>
            <a:r>
              <a:rPr lang="en-US" dirty="0" err="1"/>
              <a:t>hóa</a:t>
            </a:r>
            <a:r>
              <a:rPr lang="en-US" dirty="0"/>
              <a:t>, </a:t>
            </a:r>
            <a:r>
              <a:rPr lang="en-US" dirty="0" err="1"/>
              <a:t>với</a:t>
            </a:r>
            <a:r>
              <a:rPr lang="en-US" dirty="0"/>
              <a:t> </a:t>
            </a:r>
            <a:r>
              <a:rPr lang="en-US" dirty="0" err="1"/>
              <a:t>thuật</a:t>
            </a:r>
            <a:r>
              <a:rPr lang="en-US" dirty="0"/>
              <a:t> </a:t>
            </a:r>
            <a:r>
              <a:rPr lang="en-US" dirty="0" err="1"/>
              <a:t>toán</a:t>
            </a:r>
            <a:r>
              <a:rPr lang="en-US" dirty="0"/>
              <a:t> </a:t>
            </a:r>
            <a:r>
              <a:rPr lang="en-US" dirty="0" err="1"/>
              <a:t>đề</a:t>
            </a:r>
            <a:r>
              <a:rPr lang="en-US" dirty="0"/>
              <a:t> </a:t>
            </a:r>
            <a:r>
              <a:rPr lang="en-US" dirty="0" err="1"/>
              <a:t>xuất</a:t>
            </a:r>
            <a:r>
              <a:rPr lang="en-US" dirty="0"/>
              <a:t> </a:t>
            </a:r>
            <a:r>
              <a:rPr lang="en-US" dirty="0" err="1"/>
              <a:t>nội</a:t>
            </a:r>
            <a:r>
              <a:rPr lang="en-US" dirty="0"/>
              <a:t> dung </a:t>
            </a:r>
            <a:r>
              <a:rPr lang="en-US" dirty="0" err="1"/>
              <a:t>thông</a:t>
            </a:r>
            <a:r>
              <a:rPr lang="en-US" dirty="0"/>
              <a:t> </a:t>
            </a:r>
            <a:r>
              <a:rPr lang="en-US" dirty="0" err="1"/>
              <a:t>minh</a:t>
            </a:r>
            <a:r>
              <a:rPr lang="en-US" dirty="0"/>
              <a:t> </a:t>
            </a:r>
            <a:r>
              <a:rPr lang="en-US" dirty="0" err="1"/>
              <a:t>dựa</a:t>
            </a:r>
            <a:r>
              <a:rPr lang="en-US" dirty="0"/>
              <a:t> </a:t>
            </a:r>
            <a:r>
              <a:rPr lang="en-US" dirty="0" err="1"/>
              <a:t>trên</a:t>
            </a:r>
            <a:r>
              <a:rPr lang="en-US" dirty="0"/>
              <a:t> </a:t>
            </a:r>
            <a:r>
              <a:rPr lang="en-US" dirty="0" err="1"/>
              <a:t>lịch</a:t>
            </a:r>
            <a:r>
              <a:rPr lang="en-US" dirty="0"/>
              <a:t> </a:t>
            </a:r>
            <a:r>
              <a:rPr lang="en-US" dirty="0" err="1"/>
              <a:t>sử</a:t>
            </a:r>
            <a:r>
              <a:rPr lang="en-US" dirty="0"/>
              <a:t> </a:t>
            </a:r>
            <a:r>
              <a:rPr lang="en-US" dirty="0" err="1"/>
              <a:t>xem</a:t>
            </a:r>
            <a:r>
              <a:rPr lang="en-US" dirty="0"/>
              <a:t> </a:t>
            </a:r>
            <a:r>
              <a:rPr lang="en-US" dirty="0" err="1"/>
              <a:t>của</a:t>
            </a:r>
            <a:r>
              <a:rPr lang="en-US" dirty="0"/>
              <a:t> </a:t>
            </a:r>
            <a:r>
              <a:rPr lang="en-US" dirty="0" err="1"/>
              <a:t>từng</a:t>
            </a:r>
            <a:r>
              <a:rPr lang="en-US" dirty="0"/>
              <a:t> </a:t>
            </a:r>
            <a:r>
              <a:rPr lang="en-US" dirty="0" err="1"/>
              <a:t>người</a:t>
            </a:r>
            <a:r>
              <a:rPr lang="en-US" dirty="0"/>
              <a:t> </a:t>
            </a:r>
            <a:r>
              <a:rPr lang="en-US" dirty="0" err="1"/>
              <a:t>dùng</a:t>
            </a:r>
            <a:r>
              <a:rPr lang="en-US" dirty="0"/>
              <a:t>.</a:t>
            </a:r>
          </a:p>
          <a:p>
            <a:endParaRPr lang="en-US" dirty="0"/>
          </a:p>
          <a:p>
            <a:r>
              <a:rPr lang="en-US" dirty="0" err="1"/>
              <a:t>Chuyển</a:t>
            </a:r>
            <a:r>
              <a:rPr lang="en-US" dirty="0"/>
              <a:t> sang </a:t>
            </a:r>
            <a:r>
              <a:rPr lang="en-US" dirty="0" err="1"/>
              <a:t>lĩnh</a:t>
            </a:r>
            <a:r>
              <a:rPr lang="en-US" dirty="0"/>
              <a:t> </a:t>
            </a:r>
            <a:r>
              <a:rPr lang="en-US" dirty="0" err="1"/>
              <a:t>vực</a:t>
            </a:r>
            <a:r>
              <a:rPr lang="en-US" dirty="0"/>
              <a:t> </a:t>
            </a:r>
            <a:r>
              <a:rPr lang="en-US" dirty="0" err="1"/>
              <a:t>thương</a:t>
            </a:r>
            <a:r>
              <a:rPr lang="en-US" dirty="0"/>
              <a:t> </a:t>
            </a:r>
            <a:r>
              <a:rPr lang="en-US" dirty="0" err="1"/>
              <a:t>mại</a:t>
            </a:r>
            <a:r>
              <a:rPr lang="en-US" dirty="0"/>
              <a:t> </a:t>
            </a:r>
            <a:r>
              <a:rPr lang="en-US" dirty="0" err="1"/>
              <a:t>điện</a:t>
            </a:r>
            <a:r>
              <a:rPr lang="en-US" dirty="0"/>
              <a:t> </a:t>
            </a:r>
            <a:r>
              <a:rPr lang="en-US" dirty="0" err="1"/>
              <a:t>tử</a:t>
            </a:r>
            <a:r>
              <a:rPr lang="en-US" dirty="0"/>
              <a:t>, Internet </a:t>
            </a:r>
            <a:r>
              <a:rPr lang="en-US" dirty="0" err="1"/>
              <a:t>đã</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sân</a:t>
            </a:r>
            <a:r>
              <a:rPr lang="en-US" dirty="0"/>
              <a:t> </a:t>
            </a:r>
            <a:r>
              <a:rPr lang="en-US" dirty="0" err="1"/>
              <a:t>chơi</a:t>
            </a:r>
            <a:r>
              <a:rPr lang="en-US" dirty="0"/>
              <a:t> </a:t>
            </a:r>
            <a:r>
              <a:rPr lang="en-US" dirty="0" err="1"/>
              <a:t>hoàn</a:t>
            </a:r>
            <a:r>
              <a:rPr lang="en-US" dirty="0"/>
              <a:t> </a:t>
            </a:r>
            <a:r>
              <a:rPr lang="en-US" dirty="0" err="1"/>
              <a:t>toàn</a:t>
            </a:r>
            <a:r>
              <a:rPr lang="en-US" dirty="0"/>
              <a:t> </a:t>
            </a:r>
            <a:r>
              <a:rPr lang="en-US" dirty="0" err="1"/>
              <a:t>mới</a:t>
            </a:r>
            <a:r>
              <a:rPr lang="en-US" dirty="0"/>
              <a:t> </a:t>
            </a:r>
            <a:r>
              <a:rPr lang="en-US" dirty="0" err="1"/>
              <a:t>cho</a:t>
            </a:r>
            <a:r>
              <a:rPr lang="en-US" dirty="0"/>
              <a:t> </a:t>
            </a:r>
            <a:r>
              <a:rPr lang="en-US" dirty="0" err="1"/>
              <a:t>hoạt</a:t>
            </a:r>
            <a:r>
              <a:rPr lang="en-US" dirty="0"/>
              <a:t> </a:t>
            </a:r>
            <a:r>
              <a:rPr lang="en-US" dirty="0" err="1"/>
              <a:t>động</a:t>
            </a:r>
            <a:r>
              <a:rPr lang="en-US" dirty="0"/>
              <a:t> </a:t>
            </a:r>
            <a:r>
              <a:rPr lang="en-US" dirty="0" err="1"/>
              <a:t>mua</a:t>
            </a:r>
            <a:r>
              <a:rPr lang="en-US" dirty="0"/>
              <a:t> </a:t>
            </a:r>
            <a:r>
              <a:rPr lang="en-US" dirty="0" err="1"/>
              <a:t>bán</a:t>
            </a:r>
            <a:r>
              <a:rPr lang="en-US" dirty="0"/>
              <a:t>. </a:t>
            </a:r>
            <a:r>
              <a:rPr lang="en-US" dirty="0" err="1"/>
              <a:t>Các</a:t>
            </a:r>
            <a:r>
              <a:rPr lang="en-US" dirty="0"/>
              <a:t> </a:t>
            </a:r>
            <a:r>
              <a:rPr lang="en-US" dirty="0" err="1"/>
              <a:t>sàn</a:t>
            </a:r>
            <a:r>
              <a:rPr lang="en-US" dirty="0"/>
              <a:t> </a:t>
            </a:r>
            <a:r>
              <a:rPr lang="en-US" dirty="0" err="1"/>
              <a:t>thương</a:t>
            </a:r>
            <a:r>
              <a:rPr lang="en-US" dirty="0"/>
              <a:t> </a:t>
            </a:r>
            <a:r>
              <a:rPr lang="en-US" dirty="0" err="1"/>
              <a:t>mại</a:t>
            </a:r>
            <a:r>
              <a:rPr lang="en-US" dirty="0"/>
              <a:t> </a:t>
            </a:r>
            <a:r>
              <a:rPr lang="en-US" dirty="0" err="1"/>
              <a:t>điện</a:t>
            </a:r>
            <a:r>
              <a:rPr lang="en-US" dirty="0"/>
              <a:t> </a:t>
            </a:r>
            <a:r>
              <a:rPr lang="en-US" dirty="0" err="1"/>
              <a:t>tử</a:t>
            </a:r>
            <a:r>
              <a:rPr lang="en-US" dirty="0"/>
              <a:t> </a:t>
            </a:r>
            <a:r>
              <a:rPr lang="en-US" dirty="0" err="1"/>
              <a:t>như</a:t>
            </a:r>
            <a:r>
              <a:rPr lang="en-US" dirty="0"/>
              <a:t> </a:t>
            </a:r>
            <a:r>
              <a:rPr lang="en-US" dirty="0" err="1"/>
              <a:t>Shopee</a:t>
            </a:r>
            <a:r>
              <a:rPr lang="en-US" dirty="0"/>
              <a:t>, </a:t>
            </a:r>
            <a:r>
              <a:rPr lang="en-US" dirty="0" err="1"/>
              <a:t>Tiki</a:t>
            </a:r>
            <a:r>
              <a:rPr lang="en-US" dirty="0"/>
              <a:t>, Lazada </a:t>
            </a:r>
            <a:r>
              <a:rPr lang="en-US" dirty="0" err="1"/>
              <a:t>ở</a:t>
            </a:r>
            <a:r>
              <a:rPr lang="en-US" dirty="0"/>
              <a:t> </a:t>
            </a:r>
            <a:r>
              <a:rPr lang="en-US" dirty="0" err="1"/>
              <a:t>Việt</a:t>
            </a:r>
            <a:r>
              <a:rPr lang="en-US" dirty="0"/>
              <a:t> Nam hay Amazon, Alibaba </a:t>
            </a:r>
            <a:r>
              <a:rPr lang="en-US" dirty="0" err="1"/>
              <a:t>trên</a:t>
            </a:r>
            <a:r>
              <a:rPr lang="en-US" dirty="0"/>
              <a:t> </a:t>
            </a:r>
            <a:r>
              <a:rPr lang="en-US" dirty="0" err="1"/>
              <a:t>thế</a:t>
            </a:r>
            <a:r>
              <a:rPr lang="en-US" dirty="0"/>
              <a:t> </a:t>
            </a:r>
            <a:r>
              <a:rPr lang="en-US" dirty="0" err="1"/>
              <a:t>giới</a:t>
            </a:r>
            <a:r>
              <a:rPr lang="en-US" dirty="0"/>
              <a:t> </a:t>
            </a:r>
            <a:r>
              <a:rPr lang="en-US" dirty="0" err="1"/>
              <a:t>đã</a:t>
            </a:r>
            <a:r>
              <a:rPr lang="en-US" dirty="0"/>
              <a:t> </a:t>
            </a:r>
            <a:r>
              <a:rPr lang="en-US" dirty="0" err="1"/>
              <a:t>trở</a:t>
            </a:r>
            <a:r>
              <a:rPr lang="en-US" dirty="0"/>
              <a:t> </a:t>
            </a:r>
            <a:r>
              <a:rPr lang="en-US" dirty="0" err="1"/>
              <a:t>thành</a:t>
            </a:r>
            <a:r>
              <a:rPr lang="en-US" dirty="0"/>
              <a:t> '</a:t>
            </a:r>
            <a:r>
              <a:rPr lang="en-US" dirty="0" err="1"/>
              <a:t>trung</a:t>
            </a:r>
            <a:r>
              <a:rPr lang="en-US" dirty="0"/>
              <a:t> </a:t>
            </a:r>
            <a:r>
              <a:rPr lang="en-US" dirty="0" err="1"/>
              <a:t>tâm</a:t>
            </a:r>
            <a:r>
              <a:rPr lang="en-US" dirty="0"/>
              <a:t> </a:t>
            </a:r>
            <a:r>
              <a:rPr lang="en-US" dirty="0" err="1"/>
              <a:t>thương</a:t>
            </a:r>
            <a:r>
              <a:rPr lang="en-US" dirty="0"/>
              <a:t> </a:t>
            </a:r>
            <a:r>
              <a:rPr lang="en-US" dirty="0" err="1"/>
              <a:t>mại</a:t>
            </a:r>
            <a:r>
              <a:rPr lang="en-US" dirty="0"/>
              <a:t> </a:t>
            </a:r>
            <a:r>
              <a:rPr lang="en-US" dirty="0" err="1"/>
              <a:t>ảo</a:t>
            </a:r>
            <a:r>
              <a:rPr lang="en-US" dirty="0"/>
              <a:t>' </a:t>
            </a:r>
            <a:r>
              <a:rPr lang="en-US" dirty="0" err="1"/>
              <a:t>mở</a:t>
            </a:r>
            <a:r>
              <a:rPr lang="en-US" dirty="0"/>
              <a:t> </a:t>
            </a:r>
            <a:r>
              <a:rPr lang="en-US" dirty="0" err="1"/>
              <a:t>cửa</a:t>
            </a:r>
            <a:r>
              <a:rPr lang="en-US" dirty="0"/>
              <a:t> 24/7.</a:t>
            </a:r>
          </a:p>
          <a:p>
            <a:endParaRPr lang="en-US" dirty="0"/>
          </a:p>
          <a:p>
            <a:r>
              <a:rPr lang="en-US" dirty="0" err="1"/>
              <a:t>Học</a:t>
            </a:r>
            <a:r>
              <a:rPr lang="en-US" dirty="0"/>
              <a:t> </a:t>
            </a:r>
            <a:r>
              <a:rPr lang="en-US" dirty="0" err="1"/>
              <a:t>trực</a:t>
            </a:r>
            <a:r>
              <a:rPr lang="en-US" dirty="0"/>
              <a:t> </a:t>
            </a:r>
            <a:r>
              <a:rPr lang="en-US" dirty="0" err="1"/>
              <a:t>tuyến</a:t>
            </a:r>
            <a:r>
              <a:rPr lang="en-US" dirty="0"/>
              <a:t> (E-learning). </a:t>
            </a:r>
            <a:r>
              <a:rPr lang="en-US" dirty="0" err="1"/>
              <a:t>Các</a:t>
            </a:r>
            <a:r>
              <a:rPr lang="en-US" dirty="0"/>
              <a:t> </a:t>
            </a:r>
            <a:r>
              <a:rPr lang="en-US" dirty="0" err="1"/>
              <a:t>nền</a:t>
            </a:r>
            <a:r>
              <a:rPr lang="en-US" dirty="0"/>
              <a:t> </a:t>
            </a:r>
            <a:r>
              <a:rPr lang="en-US" dirty="0" err="1"/>
              <a:t>tảng</a:t>
            </a:r>
            <a:r>
              <a:rPr lang="en-US" dirty="0"/>
              <a:t> </a:t>
            </a:r>
            <a:r>
              <a:rPr lang="en-US" dirty="0" err="1"/>
              <a:t>như</a:t>
            </a:r>
            <a:r>
              <a:rPr lang="en-US" dirty="0"/>
              <a:t> Coursera hay Google Classroom </a:t>
            </a:r>
            <a:r>
              <a:rPr lang="en-US" dirty="0" err="1"/>
              <a:t>đã</a:t>
            </a:r>
            <a:r>
              <a:rPr lang="en-US" dirty="0"/>
              <a:t> </a:t>
            </a:r>
            <a:r>
              <a:rPr lang="en-US" dirty="0" err="1"/>
              <a:t>phá</a:t>
            </a:r>
            <a:r>
              <a:rPr lang="en-US" dirty="0"/>
              <a:t> </a:t>
            </a:r>
            <a:r>
              <a:rPr lang="en-US" dirty="0" err="1"/>
              <a:t>vỡ</a:t>
            </a:r>
            <a:r>
              <a:rPr lang="en-US" dirty="0"/>
              <a:t> </a:t>
            </a:r>
            <a:r>
              <a:rPr lang="en-US" dirty="0" err="1"/>
              <a:t>rào</a:t>
            </a:r>
            <a:r>
              <a:rPr lang="en-US" dirty="0"/>
              <a:t> </a:t>
            </a:r>
            <a:r>
              <a:rPr lang="en-US" dirty="0" err="1"/>
              <a:t>cản</a:t>
            </a:r>
            <a:r>
              <a:rPr lang="en-US" dirty="0"/>
              <a:t> </a:t>
            </a:r>
            <a:r>
              <a:rPr lang="en-US" dirty="0" err="1"/>
              <a:t>địa</a:t>
            </a:r>
            <a:r>
              <a:rPr lang="en-US" dirty="0"/>
              <a:t> </a:t>
            </a:r>
            <a:r>
              <a:rPr lang="en-US" dirty="0" err="1"/>
              <a:t>lý</a:t>
            </a:r>
            <a:r>
              <a:rPr lang="en-US" dirty="0"/>
              <a:t> </a:t>
            </a:r>
            <a:r>
              <a:rPr lang="en-US" dirty="0" err="1"/>
              <a:t>trong</a:t>
            </a:r>
            <a:r>
              <a:rPr lang="en-US" dirty="0"/>
              <a:t> </a:t>
            </a:r>
            <a:r>
              <a:rPr lang="en-US" dirty="0" err="1"/>
              <a:t>giáo</a:t>
            </a:r>
            <a:r>
              <a:rPr lang="en-US" dirty="0"/>
              <a:t> </a:t>
            </a:r>
            <a:r>
              <a:rPr lang="en-US" dirty="0" err="1"/>
              <a:t>dục</a:t>
            </a:r>
            <a:r>
              <a:rPr lang="en-US" dirty="0"/>
              <a:t>. E-learning </a:t>
            </a:r>
            <a:r>
              <a:rPr lang="en-US" dirty="0" err="1"/>
              <a:t>dễ</a:t>
            </a:r>
            <a:r>
              <a:rPr lang="en-US" dirty="0"/>
              <a:t> </a:t>
            </a:r>
            <a:r>
              <a:rPr lang="en-US" dirty="0" err="1"/>
              <a:t>dàng</a:t>
            </a:r>
            <a:r>
              <a:rPr lang="en-US" dirty="0"/>
              <a:t> </a:t>
            </a:r>
            <a:r>
              <a:rPr lang="en-US" dirty="0" err="1"/>
              <a:t>tạo</a:t>
            </a:r>
            <a:r>
              <a:rPr lang="en-US" dirty="0"/>
              <a:t> </a:t>
            </a:r>
            <a:r>
              <a:rPr lang="en-US" dirty="0" err="1"/>
              <a:t>và</a:t>
            </a:r>
            <a:r>
              <a:rPr lang="en-US" dirty="0"/>
              <a:t> </a:t>
            </a:r>
            <a:r>
              <a:rPr lang="en-US" dirty="0" err="1"/>
              <a:t>cho</a:t>
            </a:r>
            <a:r>
              <a:rPr lang="en-US" dirty="0"/>
              <a:t> </a:t>
            </a:r>
            <a:r>
              <a:rPr lang="en-US" dirty="0" err="1"/>
              <a:t>phép</a:t>
            </a:r>
            <a:r>
              <a:rPr lang="en-US" dirty="0"/>
              <a:t> </a:t>
            </a:r>
            <a:r>
              <a:rPr lang="en-US" dirty="0" err="1"/>
              <a:t>học</a:t>
            </a:r>
            <a:r>
              <a:rPr lang="en-US" dirty="0"/>
              <a:t> </a:t>
            </a:r>
            <a:r>
              <a:rPr lang="en-US" dirty="0" err="1"/>
              <a:t>viên</a:t>
            </a:r>
            <a:r>
              <a:rPr lang="en-US" dirty="0"/>
              <a:t> </a:t>
            </a:r>
            <a:r>
              <a:rPr lang="en-US" dirty="0" err="1"/>
              <a:t>tham</a:t>
            </a:r>
            <a:r>
              <a:rPr lang="en-US" dirty="0"/>
              <a:t> </a:t>
            </a:r>
            <a:r>
              <a:rPr lang="en-US" dirty="0" err="1"/>
              <a:t>gia</a:t>
            </a:r>
            <a:r>
              <a:rPr lang="en-US" dirty="0"/>
              <a:t> </a:t>
            </a:r>
            <a:r>
              <a:rPr lang="en-US" dirty="0" err="1"/>
              <a:t>học</a:t>
            </a:r>
            <a:r>
              <a:rPr lang="en-US" dirty="0"/>
              <a:t>, </a:t>
            </a:r>
            <a:r>
              <a:rPr lang="en-US" dirty="0" err="1"/>
              <a:t>dễ</a:t>
            </a:r>
            <a:r>
              <a:rPr lang="en-US" dirty="0"/>
              <a:t> </a:t>
            </a:r>
            <a:r>
              <a:rPr lang="en-US" dirty="0" err="1"/>
              <a:t>dàng</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 </a:t>
            </a:r>
            <a:r>
              <a:rPr lang="en-US" dirty="0" err="1"/>
              <a:t>học</a:t>
            </a:r>
            <a:r>
              <a:rPr lang="en-US" dirty="0"/>
              <a:t> </a:t>
            </a:r>
            <a:r>
              <a:rPr lang="en-US" dirty="0" err="1"/>
              <a:t>tập</a:t>
            </a:r>
            <a:r>
              <a:rPr lang="en-US" dirty="0"/>
              <a:t>, </a:t>
            </a:r>
            <a:r>
              <a:rPr lang="en-US" dirty="0" err="1"/>
              <a:t>và</a:t>
            </a:r>
            <a:r>
              <a:rPr lang="en-US" dirty="0"/>
              <a:t> </a:t>
            </a:r>
            <a:r>
              <a:rPr lang="en-US" dirty="0" err="1"/>
              <a:t>kết</a:t>
            </a:r>
            <a:r>
              <a:rPr lang="en-US" dirty="0"/>
              <a:t> </a:t>
            </a:r>
            <a:r>
              <a:rPr lang="en-US" dirty="0" err="1"/>
              <a:t>quả</a:t>
            </a:r>
            <a:r>
              <a:rPr lang="en-US" dirty="0"/>
              <a:t> </a:t>
            </a:r>
            <a:r>
              <a:rPr lang="en-US" dirty="0" err="1"/>
              <a:t>học</a:t>
            </a:r>
            <a:r>
              <a:rPr lang="en-US" dirty="0"/>
              <a:t> </a:t>
            </a:r>
            <a:r>
              <a:rPr lang="en-US" dirty="0" err="1"/>
              <a:t>tập</a:t>
            </a:r>
            <a:r>
              <a:rPr lang="en-US" dirty="0"/>
              <a:t> </a:t>
            </a:r>
            <a:r>
              <a:rPr lang="en-US" dirty="0" err="1"/>
              <a:t>của</a:t>
            </a:r>
            <a:r>
              <a:rPr lang="en-US" dirty="0"/>
              <a:t> </a:t>
            </a:r>
            <a:r>
              <a:rPr lang="en-US" dirty="0" err="1"/>
              <a:t>học</a:t>
            </a:r>
            <a:r>
              <a:rPr lang="en-US" dirty="0"/>
              <a:t> </a:t>
            </a:r>
            <a:r>
              <a:rPr lang="en-US" dirty="0" err="1"/>
              <a:t>viên</a:t>
            </a:r>
            <a:r>
              <a:rPr lang="en-US" dirty="0"/>
              <a:t>. </a:t>
            </a:r>
            <a:r>
              <a:rPr lang="en-US" dirty="0" err="1"/>
              <a:t>Với</a:t>
            </a:r>
            <a:r>
              <a:rPr lang="en-US" dirty="0"/>
              <a:t> </a:t>
            </a:r>
            <a:r>
              <a:rPr lang="en-US" dirty="0" err="1"/>
              <a:t>khả</a:t>
            </a:r>
            <a:r>
              <a:rPr lang="en-US" dirty="0"/>
              <a:t> </a:t>
            </a:r>
            <a:r>
              <a:rPr lang="en-US" dirty="0" err="1"/>
              <a:t>năng</a:t>
            </a:r>
            <a:r>
              <a:rPr lang="en-US" dirty="0"/>
              <a:t> </a:t>
            </a:r>
            <a:r>
              <a:rPr lang="en-US" dirty="0" err="1"/>
              <a:t>tạo</a:t>
            </a:r>
            <a:r>
              <a:rPr lang="en-US" dirty="0"/>
              <a:t> </a:t>
            </a:r>
            <a:r>
              <a:rPr lang="en-US" dirty="0" err="1"/>
              <a:t>những</a:t>
            </a:r>
            <a:r>
              <a:rPr lang="en-US" dirty="0"/>
              <a:t> </a:t>
            </a:r>
            <a:r>
              <a:rPr lang="en-US" dirty="0" err="1"/>
              <a:t>bài</a:t>
            </a:r>
            <a:r>
              <a:rPr lang="en-US" dirty="0"/>
              <a:t> </a:t>
            </a:r>
            <a:r>
              <a:rPr lang="en-US" dirty="0" err="1"/>
              <a:t>đánh</a:t>
            </a:r>
            <a:r>
              <a:rPr lang="en-US" dirty="0"/>
              <a:t> </a:t>
            </a:r>
            <a:r>
              <a:rPr lang="en-US" dirty="0" err="1"/>
              <a:t>giá</a:t>
            </a:r>
            <a:r>
              <a:rPr lang="en-US" dirty="0"/>
              <a:t>, </a:t>
            </a:r>
            <a:r>
              <a:rPr lang="en-US" dirty="0" err="1"/>
              <a:t>người</a:t>
            </a:r>
            <a:r>
              <a:rPr lang="en-US" dirty="0"/>
              <a:t> </a:t>
            </a:r>
            <a:r>
              <a:rPr lang="en-US" dirty="0" err="1"/>
              <a:t>quản</a:t>
            </a:r>
            <a:r>
              <a:rPr lang="en-US" dirty="0"/>
              <a:t> </a:t>
            </a:r>
            <a:r>
              <a:rPr lang="en-US" dirty="0" err="1"/>
              <a:t>lý</a:t>
            </a:r>
            <a:r>
              <a:rPr lang="en-US" dirty="0"/>
              <a:t> </a:t>
            </a:r>
            <a:r>
              <a:rPr lang="en-US" dirty="0" err="1"/>
              <a:t>dễ</a:t>
            </a:r>
            <a:r>
              <a:rPr lang="en-US" dirty="0"/>
              <a:t> </a:t>
            </a:r>
            <a:r>
              <a:rPr lang="en-US" dirty="0" err="1"/>
              <a:t>dàng</a:t>
            </a:r>
            <a:r>
              <a:rPr lang="en-US" dirty="0"/>
              <a:t> </a:t>
            </a:r>
            <a:r>
              <a:rPr lang="en-US" dirty="0" err="1"/>
              <a:t>biết</a:t>
            </a:r>
            <a:r>
              <a:rPr lang="en-US" dirty="0"/>
              <a:t> </a:t>
            </a:r>
            <a:r>
              <a:rPr lang="en-US" dirty="0" err="1"/>
              <a:t>được</a:t>
            </a:r>
            <a:r>
              <a:rPr lang="en-US" dirty="0"/>
              <a:t> </a:t>
            </a:r>
            <a:r>
              <a:rPr lang="en-US" dirty="0" err="1"/>
              <a:t>học</a:t>
            </a:r>
            <a:r>
              <a:rPr lang="en-US" dirty="0"/>
              <a:t> </a:t>
            </a:r>
            <a:r>
              <a:rPr lang="en-US" dirty="0" err="1"/>
              <a:t>viên</a:t>
            </a:r>
            <a:r>
              <a:rPr lang="en-US" dirty="0"/>
              <a:t> </a:t>
            </a:r>
            <a:r>
              <a:rPr lang="en-US" dirty="0" err="1"/>
              <a:t>nào</a:t>
            </a:r>
            <a:r>
              <a:rPr lang="en-US" dirty="0"/>
              <a:t> </a:t>
            </a:r>
            <a:r>
              <a:rPr lang="en-US" dirty="0" err="1"/>
              <a:t>đã</a:t>
            </a:r>
            <a:r>
              <a:rPr lang="en-US" dirty="0"/>
              <a:t> </a:t>
            </a:r>
            <a:r>
              <a:rPr lang="en-US" dirty="0" err="1"/>
              <a:t>tham</a:t>
            </a:r>
            <a:r>
              <a:rPr lang="en-US" dirty="0"/>
              <a:t> </a:t>
            </a:r>
            <a:r>
              <a:rPr lang="en-US" dirty="0" err="1"/>
              <a:t>gia</a:t>
            </a:r>
            <a:r>
              <a:rPr lang="en-US" dirty="0"/>
              <a:t> </a:t>
            </a:r>
            <a:r>
              <a:rPr lang="en-US" dirty="0" err="1"/>
              <a:t>học</a:t>
            </a:r>
            <a:r>
              <a:rPr lang="en-US" dirty="0"/>
              <a:t>, </a:t>
            </a:r>
            <a:r>
              <a:rPr lang="en-US" dirty="0" err="1"/>
              <a:t>khi</a:t>
            </a:r>
            <a:r>
              <a:rPr lang="en-US" dirty="0"/>
              <a:t> </a:t>
            </a:r>
            <a:r>
              <a:rPr lang="en-US" dirty="0" err="1"/>
              <a:t>nào</a:t>
            </a:r>
            <a:r>
              <a:rPr lang="en-US" dirty="0"/>
              <a:t> </a:t>
            </a:r>
            <a:r>
              <a:rPr lang="en-US" dirty="0" err="1"/>
              <a:t>họ</a:t>
            </a:r>
            <a:r>
              <a:rPr lang="en-US" dirty="0"/>
              <a:t> </a:t>
            </a:r>
            <a:r>
              <a:rPr lang="en-US" dirty="0" err="1"/>
              <a:t>hoàn</a:t>
            </a:r>
            <a:r>
              <a:rPr lang="en-US" dirty="0"/>
              <a:t> </a:t>
            </a:r>
            <a:r>
              <a:rPr lang="en-US" dirty="0" err="1"/>
              <a:t>tất</a:t>
            </a:r>
            <a:r>
              <a:rPr lang="en-US" dirty="0"/>
              <a:t> </a:t>
            </a:r>
            <a:r>
              <a:rPr lang="en-US" dirty="0" err="1"/>
              <a:t>khoá</a:t>
            </a:r>
            <a:r>
              <a:rPr lang="en-US" dirty="0"/>
              <a:t> </a:t>
            </a:r>
            <a:r>
              <a:rPr lang="en-US" dirty="0" err="1"/>
              <a:t>học</a:t>
            </a:r>
            <a:r>
              <a:rPr lang="en-US" dirty="0"/>
              <a:t>, </a:t>
            </a:r>
            <a:r>
              <a:rPr lang="en-US" dirty="0" err="1"/>
              <a:t>làm</a:t>
            </a:r>
            <a:r>
              <a:rPr lang="en-US" dirty="0"/>
              <a:t> </a:t>
            </a:r>
            <a:r>
              <a:rPr lang="en-US" dirty="0" err="1"/>
              <a:t>thế</a:t>
            </a:r>
            <a:r>
              <a:rPr lang="en-US" dirty="0"/>
              <a:t> </a:t>
            </a:r>
            <a:r>
              <a:rPr lang="en-US" dirty="0" err="1"/>
              <a:t>nào</a:t>
            </a:r>
            <a:r>
              <a:rPr lang="en-US" dirty="0"/>
              <a:t> </a:t>
            </a:r>
            <a:r>
              <a:rPr lang="en-US" dirty="0" err="1"/>
              <a:t>họ</a:t>
            </a:r>
            <a:r>
              <a:rPr lang="en-US" dirty="0"/>
              <a:t> </a:t>
            </a:r>
            <a:r>
              <a:rPr lang="en-US" dirty="0" err="1"/>
              <a:t>thực</a:t>
            </a:r>
            <a:r>
              <a:rPr lang="en-US" dirty="0"/>
              <a:t> </a:t>
            </a:r>
            <a:r>
              <a:rPr lang="en-US" dirty="0" err="1"/>
              <a:t>hiện</a:t>
            </a:r>
            <a:r>
              <a:rPr lang="en-US" dirty="0"/>
              <a:t> </a:t>
            </a:r>
            <a:r>
              <a:rPr lang="en-US" dirty="0" err="1"/>
              <a:t>và</a:t>
            </a:r>
            <a:r>
              <a:rPr lang="en-US" dirty="0"/>
              <a:t> </a:t>
            </a:r>
            <a:r>
              <a:rPr lang="en-US" dirty="0" err="1"/>
              <a:t>mức</a:t>
            </a:r>
            <a:r>
              <a:rPr lang="en-US" dirty="0"/>
              <a:t> </a:t>
            </a:r>
            <a:r>
              <a:rPr lang="en-US" dirty="0" err="1"/>
              <a:t>độ</a:t>
            </a:r>
            <a:r>
              <a:rPr lang="en-US" dirty="0"/>
              <a:t> </a:t>
            </a:r>
            <a:r>
              <a:rPr lang="en-US" dirty="0" err="1"/>
              <a:t>phát</a:t>
            </a:r>
            <a:r>
              <a:rPr lang="en-US" dirty="0"/>
              <a:t> </a:t>
            </a:r>
            <a:r>
              <a:rPr lang="en-US" dirty="0" err="1"/>
              <a:t>triển</a:t>
            </a:r>
            <a:r>
              <a:rPr lang="en-US" dirty="0"/>
              <a:t> </a:t>
            </a:r>
            <a:r>
              <a:rPr lang="en-US" dirty="0" err="1"/>
              <a:t>của</a:t>
            </a:r>
            <a:r>
              <a:rPr lang="en-US" dirty="0"/>
              <a:t> </a:t>
            </a:r>
            <a:r>
              <a:rPr lang="en-US" dirty="0" err="1"/>
              <a:t>họ</a:t>
            </a:r>
            <a:r>
              <a:rPr lang="en-US" dirty="0"/>
              <a:t>. </a:t>
            </a:r>
            <a:r>
              <a:rPr lang="en-US" dirty="0" err="1"/>
              <a:t>Trong</a:t>
            </a:r>
            <a:r>
              <a:rPr lang="en-US" dirty="0"/>
              <a:t> </a:t>
            </a:r>
            <a:r>
              <a:rPr lang="en-US" dirty="0" err="1"/>
              <a:t>đại</a:t>
            </a:r>
            <a:r>
              <a:rPr lang="en-US" dirty="0"/>
              <a:t> </a:t>
            </a:r>
            <a:r>
              <a:rPr lang="en-US" dirty="0" err="1"/>
              <a:t>dịch</a:t>
            </a:r>
            <a:r>
              <a:rPr lang="en-US" dirty="0"/>
              <a:t> COVID-19, Zoom, Google Meets hay Microsoft Teams </a:t>
            </a:r>
            <a:r>
              <a:rPr lang="en-US" dirty="0" err="1"/>
              <a:t>đã</a:t>
            </a:r>
            <a:r>
              <a:rPr lang="en-US" dirty="0"/>
              <a:t> </a:t>
            </a:r>
            <a:r>
              <a:rPr lang="en-US" dirty="0" err="1"/>
              <a:t>trở</a:t>
            </a:r>
            <a:r>
              <a:rPr lang="en-US" dirty="0"/>
              <a:t> </a:t>
            </a:r>
            <a:r>
              <a:rPr lang="en-US" dirty="0" err="1"/>
              <a:t>thành</a:t>
            </a:r>
            <a:r>
              <a:rPr lang="en-US" dirty="0"/>
              <a:t> "</a:t>
            </a:r>
            <a:r>
              <a:rPr lang="en-US" dirty="0" err="1"/>
              <a:t>lớp</a:t>
            </a:r>
            <a:r>
              <a:rPr lang="en-US" dirty="0"/>
              <a:t> </a:t>
            </a:r>
            <a:r>
              <a:rPr lang="en-US" dirty="0" err="1"/>
              <a:t>học</a:t>
            </a:r>
            <a:r>
              <a:rPr lang="en-US" dirty="0"/>
              <a:t> </a:t>
            </a:r>
            <a:r>
              <a:rPr lang="en-US" dirty="0" err="1"/>
              <a:t>ảo</a:t>
            </a:r>
            <a:r>
              <a:rPr lang="en-US" dirty="0"/>
              <a:t>" </a:t>
            </a:r>
            <a:r>
              <a:rPr lang="en-US" dirty="0" err="1"/>
              <a:t>không</a:t>
            </a:r>
            <a:r>
              <a:rPr lang="en-US" dirty="0"/>
              <a:t> </a:t>
            </a:r>
            <a:r>
              <a:rPr lang="en-US" dirty="0" err="1"/>
              <a:t>thể</a:t>
            </a:r>
            <a:r>
              <a:rPr lang="en-US" dirty="0"/>
              <a:t> </a:t>
            </a:r>
            <a:r>
              <a:rPr lang="en-US" dirty="0" err="1"/>
              <a:t>thiếu</a:t>
            </a:r>
            <a:r>
              <a:rPr lang="en-US" dirty="0"/>
              <a:t>, </a:t>
            </a:r>
            <a:r>
              <a:rPr lang="en-US" dirty="0" err="1"/>
              <a:t>giúp</a:t>
            </a:r>
            <a:r>
              <a:rPr lang="en-US" dirty="0"/>
              <a:t> </a:t>
            </a:r>
            <a:r>
              <a:rPr lang="en-US" dirty="0" err="1"/>
              <a:t>hàng</a:t>
            </a:r>
            <a:r>
              <a:rPr lang="en-US" dirty="0"/>
              <a:t> </a:t>
            </a:r>
            <a:r>
              <a:rPr lang="en-US" dirty="0" err="1"/>
              <a:t>tỷ</a:t>
            </a:r>
            <a:r>
              <a:rPr lang="en-US" dirty="0"/>
              <a:t> </a:t>
            </a:r>
            <a:r>
              <a:rPr lang="en-US" dirty="0" err="1"/>
              <a:t>học</a:t>
            </a:r>
            <a:r>
              <a:rPr lang="en-US" dirty="0"/>
              <a:t> </a:t>
            </a:r>
            <a:r>
              <a:rPr lang="en-US" dirty="0" err="1"/>
              <a:t>sinh</a:t>
            </a:r>
            <a:r>
              <a:rPr lang="en-US" dirty="0"/>
              <a:t> </a:t>
            </a:r>
            <a:r>
              <a:rPr lang="en-US" dirty="0" err="1"/>
              <a:t>duy</a:t>
            </a:r>
            <a:r>
              <a:rPr lang="en-US" dirty="0"/>
              <a:t> </a:t>
            </a:r>
            <a:r>
              <a:rPr lang="en-US" dirty="0" err="1"/>
              <a:t>trì</a:t>
            </a:r>
            <a:r>
              <a:rPr lang="en-US" dirty="0"/>
              <a:t> </a:t>
            </a:r>
            <a:r>
              <a:rPr lang="en-US" dirty="0" err="1"/>
              <a:t>việc</a:t>
            </a:r>
            <a:r>
              <a:rPr lang="en-US" dirty="0"/>
              <a:t> </a:t>
            </a:r>
            <a:r>
              <a:rPr lang="en-US" dirty="0" err="1"/>
              <a:t>học</a:t>
            </a:r>
            <a:r>
              <a:rPr lang="en-US" dirty="0"/>
              <a:t> </a:t>
            </a:r>
            <a:r>
              <a:rPr lang="en-US" dirty="0" err="1"/>
              <a:t>trong</a:t>
            </a:r>
            <a:r>
              <a:rPr lang="en-US" dirty="0"/>
              <a:t> </a:t>
            </a:r>
            <a:r>
              <a:rPr lang="en-US" dirty="0" err="1"/>
              <a:t>giai</a:t>
            </a:r>
            <a:r>
              <a:rPr lang="en-US" dirty="0"/>
              <a:t> </a:t>
            </a:r>
            <a:r>
              <a:rPr lang="en-US" dirty="0" err="1"/>
              <a:t>đoạn</a:t>
            </a:r>
            <a:r>
              <a:rPr lang="en-US" dirty="0"/>
              <a:t> </a:t>
            </a:r>
            <a:r>
              <a:rPr lang="en-US" dirty="0" err="1"/>
              <a:t>giãn</a:t>
            </a:r>
            <a:r>
              <a:rPr lang="en-US" dirty="0"/>
              <a:t> </a:t>
            </a:r>
            <a:r>
              <a:rPr lang="en-US" dirty="0" err="1"/>
              <a:t>cách</a:t>
            </a:r>
            <a:r>
              <a:rPr lang="en-US" dirty="0"/>
              <a:t>.</a:t>
            </a:r>
          </a:p>
          <a:p>
            <a:endParaRPr lang="en-US" dirty="0"/>
          </a:p>
          <a:p>
            <a:r>
              <a:rPr lang="en-US" dirty="0" err="1"/>
              <a:t>Cuối</a:t>
            </a:r>
            <a:r>
              <a:rPr lang="en-US" dirty="0"/>
              <a:t> </a:t>
            </a:r>
            <a:r>
              <a:rPr lang="en-US" dirty="0" err="1"/>
              <a:t>cùng</a:t>
            </a:r>
            <a:r>
              <a:rPr lang="en-US" dirty="0"/>
              <a:t> </a:t>
            </a:r>
            <a:r>
              <a:rPr lang="en-US" dirty="0" err="1"/>
              <a:t>nhưng</a:t>
            </a:r>
            <a:r>
              <a:rPr lang="en-US" dirty="0"/>
              <a:t> </a:t>
            </a:r>
            <a:r>
              <a:rPr lang="en-US" dirty="0" err="1"/>
              <a:t>không</a:t>
            </a:r>
            <a:r>
              <a:rPr lang="en-US" dirty="0"/>
              <a:t> </a:t>
            </a:r>
            <a:r>
              <a:rPr lang="en-US" dirty="0" err="1"/>
              <a:t>kém</a:t>
            </a:r>
            <a:r>
              <a:rPr lang="en-US" dirty="0"/>
              <a:t> </a:t>
            </a:r>
            <a:r>
              <a:rPr lang="en-US" dirty="0" err="1"/>
              <a:t>phần</a:t>
            </a:r>
            <a:r>
              <a:rPr lang="en-US" dirty="0"/>
              <a:t> </a:t>
            </a:r>
            <a:r>
              <a:rPr lang="en-US" dirty="0" err="1"/>
              <a:t>quan</a:t>
            </a:r>
            <a:r>
              <a:rPr lang="en-US" dirty="0"/>
              <a:t> </a:t>
            </a:r>
            <a:r>
              <a:rPr lang="en-US" dirty="0" err="1"/>
              <a:t>trọng</a:t>
            </a:r>
            <a:r>
              <a:rPr lang="en-US" dirty="0"/>
              <a:t> </a:t>
            </a:r>
            <a:r>
              <a:rPr lang="en-US" dirty="0" err="1"/>
              <a:t>là</a:t>
            </a:r>
            <a:r>
              <a:rPr lang="en-US" dirty="0"/>
              <a:t> </a:t>
            </a:r>
            <a:r>
              <a:rPr lang="en-US" dirty="0" err="1"/>
              <a:t>Dịch</a:t>
            </a:r>
            <a:r>
              <a:rPr lang="en-US" dirty="0"/>
              <a:t> </a:t>
            </a:r>
            <a:r>
              <a:rPr lang="en-US" dirty="0" err="1"/>
              <a:t>vụ</a:t>
            </a:r>
            <a:r>
              <a:rPr lang="en-US" dirty="0"/>
              <a:t> </a:t>
            </a:r>
            <a:r>
              <a:rPr lang="en-US" dirty="0" err="1"/>
              <a:t>đám</a:t>
            </a:r>
            <a:r>
              <a:rPr lang="en-US" dirty="0"/>
              <a:t> </a:t>
            </a:r>
            <a:r>
              <a:rPr lang="en-US" dirty="0" err="1"/>
              <a:t>mây</a:t>
            </a:r>
            <a:r>
              <a:rPr lang="en-US" dirty="0"/>
              <a:t> </a:t>
            </a:r>
            <a:r>
              <a:rPr lang="en-US" dirty="0" err="1"/>
              <a:t>như</a:t>
            </a:r>
            <a:r>
              <a:rPr lang="en-US" dirty="0"/>
              <a:t> Google Drive, OneDrive hay Dropbox </a:t>
            </a:r>
            <a:r>
              <a:rPr lang="en-US" dirty="0" err="1"/>
              <a:t>đã</a:t>
            </a:r>
            <a:r>
              <a:rPr lang="en-US" dirty="0"/>
              <a:t> </a:t>
            </a:r>
            <a:r>
              <a:rPr lang="en-US" dirty="0" err="1"/>
              <a:t>giải</a:t>
            </a:r>
            <a:r>
              <a:rPr lang="en-US" dirty="0"/>
              <a:t> </a:t>
            </a:r>
            <a:r>
              <a:rPr lang="en-US" dirty="0" err="1"/>
              <a:t>quyết</a:t>
            </a:r>
            <a:r>
              <a:rPr lang="en-US" dirty="0"/>
              <a:t> </a:t>
            </a:r>
            <a:r>
              <a:rPr lang="en-US" dirty="0" err="1"/>
              <a:t>bài</a:t>
            </a:r>
            <a:r>
              <a:rPr lang="en-US" dirty="0"/>
              <a:t> </a:t>
            </a:r>
            <a:r>
              <a:rPr lang="en-US" dirty="0" err="1"/>
              <a:t>toán</a:t>
            </a:r>
            <a:r>
              <a:rPr lang="en-US" dirty="0"/>
              <a:t> </a:t>
            </a:r>
            <a:r>
              <a:rPr lang="en-US" dirty="0" err="1"/>
              <a:t>lưu</a:t>
            </a:r>
            <a:r>
              <a:rPr lang="en-US" dirty="0"/>
              <a:t> </a:t>
            </a:r>
            <a:r>
              <a:rPr lang="en-US" dirty="0" err="1"/>
              <a:t>trữ</a:t>
            </a:r>
            <a:r>
              <a:rPr lang="en-US" dirty="0"/>
              <a:t> </a:t>
            </a:r>
            <a:r>
              <a:rPr lang="en-US" dirty="0" err="1"/>
              <a:t>dữ</a:t>
            </a:r>
            <a:r>
              <a:rPr lang="en-US" dirty="0"/>
              <a:t> </a:t>
            </a:r>
            <a:r>
              <a:rPr lang="en-US" dirty="0" err="1"/>
              <a:t>liệu</a:t>
            </a:r>
            <a:r>
              <a:rPr lang="en-US" dirty="0"/>
              <a:t> </a:t>
            </a:r>
            <a:r>
              <a:rPr lang="en-US" dirty="0" err="1"/>
              <a:t>một</a:t>
            </a:r>
            <a:r>
              <a:rPr lang="en-US" dirty="0"/>
              <a:t> </a:t>
            </a:r>
            <a:r>
              <a:rPr lang="en-US" dirty="0" err="1"/>
              <a:t>cách</a:t>
            </a:r>
            <a:r>
              <a:rPr lang="en-US" dirty="0"/>
              <a:t> </a:t>
            </a:r>
            <a:r>
              <a:rPr lang="en-US" dirty="0" err="1"/>
              <a:t>ưu</a:t>
            </a:r>
            <a:r>
              <a:rPr lang="en-US" dirty="0"/>
              <a:t> </a:t>
            </a:r>
            <a:r>
              <a:rPr lang="en-US" dirty="0" err="1"/>
              <a:t>việt</a:t>
            </a:r>
            <a:r>
              <a:rPr lang="en-US" dirty="0"/>
              <a:t>. </a:t>
            </a:r>
            <a:r>
              <a:rPr lang="en-US" dirty="0" err="1"/>
              <a:t>Thay</a:t>
            </a:r>
            <a:r>
              <a:rPr lang="en-US" dirty="0"/>
              <a:t> </a:t>
            </a:r>
            <a:r>
              <a:rPr lang="en-US" dirty="0" err="1"/>
              <a:t>vì</a:t>
            </a:r>
            <a:r>
              <a:rPr lang="en-US" dirty="0"/>
              <a:t> </a:t>
            </a:r>
            <a:r>
              <a:rPr lang="en-US" dirty="0" err="1"/>
              <a:t>phải</a:t>
            </a:r>
            <a:r>
              <a:rPr lang="en-US" dirty="0"/>
              <a:t> </a:t>
            </a:r>
            <a:r>
              <a:rPr lang="en-US" dirty="0" err="1"/>
              <a:t>mang</a:t>
            </a:r>
            <a:r>
              <a:rPr lang="en-US" dirty="0"/>
              <a:t> </a:t>
            </a:r>
            <a:r>
              <a:rPr lang="en-US" dirty="0" err="1"/>
              <a:t>theo</a:t>
            </a:r>
            <a:r>
              <a:rPr lang="en-US" dirty="0"/>
              <a:t> USB </a:t>
            </a:r>
            <a:r>
              <a:rPr lang="en-US" dirty="0" err="1"/>
              <a:t>cồng</a:t>
            </a:r>
            <a:r>
              <a:rPr lang="en-US" dirty="0"/>
              <a:t> </a:t>
            </a:r>
            <a:r>
              <a:rPr lang="en-US" dirty="0" err="1"/>
              <a:t>kềnh</a:t>
            </a:r>
            <a:r>
              <a:rPr lang="en-US" dirty="0"/>
              <a:t> hay lo </a:t>
            </a:r>
            <a:r>
              <a:rPr lang="en-US" dirty="0" err="1"/>
              <a:t>lắng</a:t>
            </a:r>
            <a:r>
              <a:rPr lang="en-US" dirty="0"/>
              <a:t> </a:t>
            </a:r>
            <a:r>
              <a:rPr lang="en-US" dirty="0" err="1"/>
              <a:t>về</a:t>
            </a:r>
            <a:r>
              <a:rPr lang="en-US" dirty="0"/>
              <a:t> </a:t>
            </a:r>
            <a:r>
              <a:rPr lang="en-US" dirty="0" err="1"/>
              <a:t>việc</a:t>
            </a:r>
            <a:r>
              <a:rPr lang="en-US" dirty="0"/>
              <a:t> </a:t>
            </a:r>
            <a:r>
              <a:rPr lang="en-US" dirty="0" err="1"/>
              <a:t>mất</a:t>
            </a:r>
            <a:r>
              <a:rPr lang="en-US" dirty="0"/>
              <a:t> </a:t>
            </a:r>
            <a:r>
              <a:rPr lang="en-US" dirty="0" err="1"/>
              <a:t>dữ</a:t>
            </a:r>
            <a:r>
              <a:rPr lang="en-US" dirty="0"/>
              <a:t> </a:t>
            </a:r>
            <a:r>
              <a:rPr lang="en-US" dirty="0" err="1"/>
              <a:t>liệu</a:t>
            </a:r>
            <a:r>
              <a:rPr lang="en-US" dirty="0"/>
              <a:t> </a:t>
            </a:r>
            <a:r>
              <a:rPr lang="en-US" dirty="0" err="1"/>
              <a:t>khi</a:t>
            </a:r>
            <a:r>
              <a:rPr lang="en-US" dirty="0"/>
              <a:t> </a:t>
            </a:r>
            <a:r>
              <a:rPr lang="en-US" dirty="0" err="1"/>
              <a:t>hỏng</a:t>
            </a:r>
            <a:r>
              <a:rPr lang="en-US" dirty="0"/>
              <a:t> </a:t>
            </a:r>
            <a:r>
              <a:rPr lang="en-US" dirty="0" err="1"/>
              <a:t>ổ</a:t>
            </a:r>
            <a:r>
              <a:rPr lang="en-US" dirty="0"/>
              <a:t> </a:t>
            </a:r>
            <a:r>
              <a:rPr lang="en-US" dirty="0" err="1"/>
              <a:t>cứng</a:t>
            </a:r>
            <a:r>
              <a:rPr lang="en-US" dirty="0"/>
              <a:t>, </a:t>
            </a:r>
            <a:r>
              <a:rPr lang="en-US" dirty="0" err="1"/>
              <a:t>giờ</a:t>
            </a:r>
            <a:r>
              <a:rPr lang="en-US" dirty="0"/>
              <a:t> </a:t>
            </a:r>
            <a:r>
              <a:rPr lang="en-US" dirty="0" err="1"/>
              <a:t>đây</a:t>
            </a:r>
            <a:r>
              <a:rPr lang="en-US" dirty="0"/>
              <a:t> </a:t>
            </a:r>
            <a:r>
              <a:rPr lang="en-US" dirty="0" err="1"/>
              <a:t>chúng</a:t>
            </a:r>
            <a:r>
              <a:rPr lang="en-US" dirty="0"/>
              <a:t> ta </a:t>
            </a:r>
            <a:r>
              <a:rPr lang="en-US" dirty="0" err="1"/>
              <a:t>có</a:t>
            </a:r>
            <a:r>
              <a:rPr lang="en-US" dirty="0"/>
              <a:t> </a:t>
            </a:r>
            <a:r>
              <a:rPr lang="en-US" dirty="0" err="1"/>
              <a:t>thể</a:t>
            </a:r>
            <a:r>
              <a:rPr lang="en-US" dirty="0"/>
              <a:t> </a:t>
            </a:r>
            <a:r>
              <a:rPr lang="en-US" dirty="0" err="1"/>
              <a:t>lưu</a:t>
            </a:r>
            <a:r>
              <a:rPr lang="en-US" dirty="0"/>
              <a:t> </a:t>
            </a:r>
            <a:r>
              <a:rPr lang="en-US" dirty="0" err="1"/>
              <a:t>trữ</a:t>
            </a:r>
            <a:r>
              <a:rPr lang="en-US" dirty="0"/>
              <a:t> </a:t>
            </a:r>
            <a:r>
              <a:rPr lang="en-US" dirty="0" err="1"/>
              <a:t>hàng</a:t>
            </a:r>
            <a:r>
              <a:rPr lang="en-US" dirty="0"/>
              <a:t> TB </a:t>
            </a:r>
            <a:r>
              <a:rPr lang="en-US" dirty="0" err="1"/>
              <a:t>dữ</a:t>
            </a:r>
            <a:r>
              <a:rPr lang="en-US" dirty="0"/>
              <a:t> </a:t>
            </a:r>
            <a:r>
              <a:rPr lang="en-US" dirty="0" err="1"/>
              <a:t>liệu</a:t>
            </a:r>
            <a:r>
              <a:rPr lang="en-US" dirty="0"/>
              <a:t> </a:t>
            </a:r>
            <a:r>
              <a:rPr lang="en-US" dirty="0" err="1"/>
              <a:t>trên</a:t>
            </a:r>
            <a:r>
              <a:rPr lang="en-US" dirty="0"/>
              <a:t> </a:t>
            </a:r>
            <a:r>
              <a:rPr lang="en-US" dirty="0" err="1"/>
              <a:t>mây</a:t>
            </a:r>
            <a:r>
              <a:rPr lang="en-US" dirty="0"/>
              <a:t>, </a:t>
            </a:r>
            <a:r>
              <a:rPr lang="en-US" dirty="0" err="1"/>
              <a:t>truy</a:t>
            </a:r>
            <a:r>
              <a:rPr lang="en-US" dirty="0"/>
              <a:t> </a:t>
            </a:r>
            <a:r>
              <a:rPr lang="en-US" dirty="0" err="1"/>
              <a:t>cập</a:t>
            </a:r>
            <a:r>
              <a:rPr lang="en-US" dirty="0"/>
              <a:t> </a:t>
            </a:r>
            <a:r>
              <a:rPr lang="en-US" dirty="0" err="1"/>
              <a:t>từ</a:t>
            </a:r>
            <a:r>
              <a:rPr lang="en-US" dirty="0"/>
              <a:t> </a:t>
            </a:r>
            <a:r>
              <a:rPr lang="en-US" dirty="0" err="1"/>
              <a:t>bất</a:t>
            </a:r>
            <a:r>
              <a:rPr lang="en-US" dirty="0"/>
              <a:t> </a:t>
            </a:r>
            <a:r>
              <a:rPr lang="en-US" dirty="0" err="1"/>
              <a:t>kỳ</a:t>
            </a:r>
            <a:r>
              <a:rPr lang="en-US" dirty="0"/>
              <a:t> </a:t>
            </a:r>
            <a:r>
              <a:rPr lang="en-US" dirty="0" err="1"/>
              <a:t>đâu</a:t>
            </a:r>
            <a:r>
              <a:rPr lang="en-US" dirty="0"/>
              <a:t> </a:t>
            </a:r>
            <a:r>
              <a:rPr lang="en-US" dirty="0" err="1"/>
              <a:t>chỉ</a:t>
            </a:r>
            <a:r>
              <a:rPr lang="en-US" dirty="0"/>
              <a:t> </a:t>
            </a:r>
            <a:r>
              <a:rPr lang="en-US" dirty="0" err="1"/>
              <a:t>cần</a:t>
            </a:r>
            <a:r>
              <a:rPr lang="en-US" dirty="0"/>
              <a:t> </a:t>
            </a:r>
            <a:r>
              <a:rPr lang="en-US" dirty="0" err="1"/>
              <a:t>có</a:t>
            </a:r>
            <a:r>
              <a:rPr lang="en-US" dirty="0"/>
              <a:t> Internet. </a:t>
            </a:r>
            <a:r>
              <a:rPr lang="en-US" dirty="0" err="1"/>
              <a:t>Đặc</a:t>
            </a:r>
            <a:r>
              <a:rPr lang="en-US" dirty="0"/>
              <a:t> </a:t>
            </a:r>
            <a:r>
              <a:rPr lang="en-US" dirty="0" err="1"/>
              <a:t>biệt</a:t>
            </a:r>
            <a:r>
              <a:rPr lang="en-US" dirty="0"/>
              <a:t>, </a:t>
            </a:r>
            <a:r>
              <a:rPr lang="en-US" dirty="0" err="1"/>
              <a:t>tính</a:t>
            </a:r>
            <a:r>
              <a:rPr lang="en-US" dirty="0"/>
              <a:t> </a:t>
            </a:r>
            <a:r>
              <a:rPr lang="en-US" dirty="0" err="1"/>
              <a:t>năng</a:t>
            </a:r>
            <a:r>
              <a:rPr lang="en-US" dirty="0"/>
              <a:t> chia </a:t>
            </a:r>
            <a:r>
              <a:rPr lang="en-US" dirty="0" err="1"/>
              <a:t>sẻ</a:t>
            </a:r>
            <a:r>
              <a:rPr lang="en-US" dirty="0"/>
              <a:t> file </a:t>
            </a:r>
            <a:r>
              <a:rPr lang="en-US" dirty="0" err="1"/>
              <a:t>và</a:t>
            </a:r>
            <a:r>
              <a:rPr lang="en-US" dirty="0"/>
              <a:t> </a:t>
            </a:r>
            <a:r>
              <a:rPr lang="en-US" dirty="0" err="1"/>
              <a:t>làm</a:t>
            </a:r>
            <a:r>
              <a:rPr lang="en-US" dirty="0"/>
              <a:t> </a:t>
            </a:r>
            <a:r>
              <a:rPr lang="en-US" dirty="0" err="1"/>
              <a:t>việc</a:t>
            </a:r>
            <a:r>
              <a:rPr lang="en-US" dirty="0"/>
              <a:t> </a:t>
            </a:r>
            <a:r>
              <a:rPr lang="en-US" dirty="0" err="1"/>
              <a:t>nhóm</a:t>
            </a:r>
            <a:r>
              <a:rPr lang="en-US" dirty="0"/>
              <a:t> </a:t>
            </a:r>
            <a:r>
              <a:rPr lang="en-US" dirty="0" err="1"/>
              <a:t>trực</a:t>
            </a:r>
            <a:r>
              <a:rPr lang="en-US" dirty="0"/>
              <a:t> </a:t>
            </a:r>
            <a:r>
              <a:rPr lang="en-US" dirty="0" err="1"/>
              <a:t>tuyến</a:t>
            </a:r>
            <a:r>
              <a:rPr lang="en-US" dirty="0"/>
              <a:t> </a:t>
            </a:r>
            <a:r>
              <a:rPr lang="en-US" dirty="0" err="1"/>
              <a:t>đã</a:t>
            </a:r>
            <a:r>
              <a:rPr lang="en-US" dirty="0"/>
              <a:t> </a:t>
            </a:r>
            <a:r>
              <a:rPr lang="en-US" dirty="0" err="1"/>
              <a:t>trở</a:t>
            </a:r>
            <a:r>
              <a:rPr lang="en-US" dirty="0"/>
              <a:t> </a:t>
            </a:r>
            <a:r>
              <a:rPr lang="en-US" dirty="0" err="1"/>
              <a:t>thành</a:t>
            </a:r>
            <a:r>
              <a:rPr lang="en-US" dirty="0"/>
              <a:t> </a:t>
            </a:r>
            <a:r>
              <a:rPr lang="en-US" dirty="0" err="1"/>
              <a:t>cứu</a:t>
            </a:r>
            <a:r>
              <a:rPr lang="en-US" dirty="0"/>
              <a:t> </a:t>
            </a:r>
            <a:r>
              <a:rPr lang="en-US" dirty="0" err="1"/>
              <a:t>cánh</a:t>
            </a:r>
            <a:r>
              <a:rPr lang="en-US" dirty="0"/>
              <a:t> </a:t>
            </a:r>
            <a:r>
              <a:rPr lang="en-US" dirty="0" err="1"/>
              <a:t>trong</a:t>
            </a:r>
            <a:r>
              <a:rPr lang="en-US" dirty="0"/>
              <a:t> </a:t>
            </a:r>
            <a:r>
              <a:rPr lang="en-US" dirty="0" err="1"/>
              <a:t>thời</a:t>
            </a:r>
            <a:r>
              <a:rPr lang="en-US" dirty="0"/>
              <a:t> </a:t>
            </a:r>
            <a:r>
              <a:rPr lang="en-US" dirty="0" err="1"/>
              <a:t>đại</a:t>
            </a:r>
            <a:r>
              <a:rPr lang="en-US" dirty="0"/>
              <a:t> </a:t>
            </a:r>
            <a:r>
              <a:rPr lang="en-US" dirty="0" err="1"/>
              <a:t>làm</a:t>
            </a:r>
            <a:r>
              <a:rPr lang="en-US" dirty="0"/>
              <a:t> </a:t>
            </a:r>
            <a:r>
              <a:rPr lang="en-US" dirty="0" err="1"/>
              <a:t>việc</a:t>
            </a:r>
            <a:r>
              <a:rPr lang="en-US" dirty="0"/>
              <a:t> </a:t>
            </a:r>
            <a:r>
              <a:rPr lang="en-US" dirty="0" err="1"/>
              <a:t>từ</a:t>
            </a:r>
            <a:r>
              <a:rPr lang="en-US" dirty="0"/>
              <a:t> </a:t>
            </a:r>
            <a:r>
              <a:rPr lang="en-US" dirty="0" err="1"/>
              <a:t>xa</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Từ đó mình rút ra kết luận, Internet đã trở thành một phần không thể thiếu trong đời sống hiện đại. Với khả năng kết nối và truyền tải dữ liệu nhanh chóng, Internet mang lại vô vàn lợi ích cho học tập, làm việc, giải trí và giao tiếp. Tuy nhiên, người dùng cũng cần ý thức và cẩn trọng trong việc sử dụng để tránh những rủi ro và mặt tiêu cực.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Bài thuyết trình của mình đến đây là hết. Rất cảm ơn cô và các bạn đã lắng nghe buổi thuyết trình của mình.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6"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png"/><Relationship Id="rId7" Type="http://schemas.openxmlformats.org/officeDocument/2006/relationships/image" Target="../media/image23.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3.sv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0.png"/><Relationship Id="rId5" Type="http://schemas.openxmlformats.org/officeDocument/2006/relationships/image" Target="../media/image25.jpe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8.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1.jpe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4182573" cy="10287000"/>
            <a:chOff x="0" y="0"/>
            <a:chExt cx="1101583" cy="2709333"/>
          </a:xfrm>
        </p:grpSpPr>
        <p:sp>
          <p:nvSpPr>
            <p:cNvPr id="3" name="Freeform 3"/>
            <p:cNvSpPr/>
            <p:nvPr/>
          </p:nvSpPr>
          <p:spPr>
            <a:xfrm>
              <a:off x="0" y="0"/>
              <a:ext cx="1101583" cy="2709333"/>
            </a:xfrm>
            <a:custGeom>
              <a:avLst/>
              <a:gdLst/>
              <a:ahLst/>
              <a:cxnLst/>
              <a:rect l="l" t="t" r="r" b="b"/>
              <a:pathLst>
                <a:path w="1101583" h="2709333">
                  <a:moveTo>
                    <a:pt x="0" y="0"/>
                  </a:moveTo>
                  <a:lnTo>
                    <a:pt x="1101583" y="0"/>
                  </a:lnTo>
                  <a:lnTo>
                    <a:pt x="1101583" y="2709333"/>
                  </a:lnTo>
                  <a:lnTo>
                    <a:pt x="0" y="2709333"/>
                  </a:lnTo>
                  <a:close/>
                </a:path>
              </a:pathLst>
            </a:custGeom>
            <a:gradFill rotWithShape="1">
              <a:gsLst>
                <a:gs pos="0">
                  <a:srgbClr val="2CEEFF">
                    <a:alpha val="100000"/>
                  </a:srgbClr>
                </a:gs>
                <a:gs pos="100000">
                  <a:srgbClr val="0039A6">
                    <a:alpha val="100000"/>
                  </a:srgbClr>
                </a:gs>
              </a:gsLst>
              <a:lin ang="2700000"/>
            </a:gradFill>
          </p:spPr>
        </p:sp>
        <p:sp>
          <p:nvSpPr>
            <p:cNvPr id="4" name="TextBox 4"/>
            <p:cNvSpPr txBox="1"/>
            <p:nvPr/>
          </p:nvSpPr>
          <p:spPr>
            <a:xfrm>
              <a:off x="0" y="-38100"/>
              <a:ext cx="1101583"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90247" y="1860559"/>
            <a:ext cx="9145640" cy="6984983"/>
          </a:xfrm>
          <a:custGeom>
            <a:avLst/>
            <a:gdLst/>
            <a:ahLst/>
            <a:cxnLst/>
            <a:rect l="l" t="t" r="r" b="b"/>
            <a:pathLst>
              <a:path w="9145640" h="6984983">
                <a:moveTo>
                  <a:pt x="0" y="0"/>
                </a:moveTo>
                <a:lnTo>
                  <a:pt x="9145640" y="0"/>
                </a:lnTo>
                <a:lnTo>
                  <a:pt x="9145640" y="6984982"/>
                </a:lnTo>
                <a:lnTo>
                  <a:pt x="0" y="6984982"/>
                </a:lnTo>
                <a:lnTo>
                  <a:pt x="0" y="0"/>
                </a:lnTo>
                <a:close/>
              </a:path>
            </a:pathLst>
          </a:custGeom>
          <a:blipFill>
            <a:blip r:embed="rId3"/>
            <a:stretch>
              <a:fillRect/>
            </a:stretch>
          </a:blipFill>
        </p:spPr>
      </p:sp>
      <p:grpSp>
        <p:nvGrpSpPr>
          <p:cNvPr id="6" name="Group 6"/>
          <p:cNvGrpSpPr/>
          <p:nvPr/>
        </p:nvGrpSpPr>
        <p:grpSpPr>
          <a:xfrm>
            <a:off x="-3595" y="2087784"/>
            <a:ext cx="8513902" cy="4707405"/>
            <a:chOff x="0" y="0"/>
            <a:chExt cx="11351870" cy="6276540"/>
          </a:xfrm>
        </p:grpSpPr>
        <p:pic>
          <p:nvPicPr>
            <p:cNvPr id="7" name="Picture 7"/>
            <p:cNvPicPr>
              <a:picLocks noChangeAspect="1"/>
            </p:cNvPicPr>
            <p:nvPr/>
          </p:nvPicPr>
          <p:blipFill>
            <a:blip r:embed="rId4"/>
            <a:srcRect l="36" r="36"/>
            <a:stretch>
              <a:fillRect/>
            </a:stretch>
          </p:blipFill>
          <p:spPr>
            <a:xfrm>
              <a:off x="0" y="0"/>
              <a:ext cx="11351870" cy="6276540"/>
            </a:xfrm>
            <a:prstGeom prst="rect">
              <a:avLst/>
            </a:prstGeom>
          </p:spPr>
        </p:pic>
      </p:grpSp>
      <p:sp>
        <p:nvSpPr>
          <p:cNvPr id="8" name="Freeform 8"/>
          <p:cNvSpPr/>
          <p:nvPr/>
        </p:nvSpPr>
        <p:spPr>
          <a:xfrm>
            <a:off x="10470741"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5">
              <a:alphaModFix amt="17000"/>
            </a:blip>
            <a:stretch>
              <a:fillRect/>
            </a:stretch>
          </a:blipFill>
        </p:spPr>
      </p:sp>
      <p:grpSp>
        <p:nvGrpSpPr>
          <p:cNvPr id="9" name="Group 9"/>
          <p:cNvGrpSpPr/>
          <p:nvPr/>
        </p:nvGrpSpPr>
        <p:grpSpPr>
          <a:xfrm>
            <a:off x="17742214" y="7517955"/>
            <a:ext cx="47625" cy="1740345"/>
            <a:chOff x="0" y="0"/>
            <a:chExt cx="12543" cy="458362"/>
          </a:xfrm>
        </p:grpSpPr>
        <p:sp>
          <p:nvSpPr>
            <p:cNvPr id="10" name="Freeform 10"/>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1" name="TextBox 11"/>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9431812" y="6960740"/>
            <a:ext cx="4752339" cy="395432"/>
          </a:xfrm>
          <a:prstGeom prst="rect">
            <a:avLst/>
          </a:prstGeom>
        </p:spPr>
        <p:txBody>
          <a:bodyPr lIns="0" tIns="0" rIns="0" bIns="0" rtlCol="0" anchor="t">
            <a:spAutoFit/>
          </a:bodyPr>
          <a:lstStyle/>
          <a:p>
            <a:pPr algn="l">
              <a:lnSpc>
                <a:spcPts val="3263"/>
              </a:lnSpc>
              <a:spcBef>
                <a:spcPct val="0"/>
              </a:spcBef>
            </a:pPr>
            <a:r>
              <a:rPr lang="en-US" sz="2330">
                <a:solidFill>
                  <a:srgbClr val="FFFFFF"/>
                </a:solidFill>
                <a:latin typeface="Open Sans"/>
                <a:ea typeface="Open Sans"/>
                <a:cs typeface="Open Sans"/>
                <a:sym typeface="Open Sans"/>
              </a:rPr>
              <a:t>Nguyễn Lê Bảo Long - CTK47A</a:t>
            </a:r>
          </a:p>
        </p:txBody>
      </p:sp>
      <p:sp>
        <p:nvSpPr>
          <p:cNvPr id="13" name="AutoShape 13"/>
          <p:cNvSpPr/>
          <p:nvPr/>
        </p:nvSpPr>
        <p:spPr>
          <a:xfrm>
            <a:off x="13849234" y="7182124"/>
            <a:ext cx="2110658" cy="0"/>
          </a:xfrm>
          <a:prstGeom prst="line">
            <a:avLst/>
          </a:prstGeom>
          <a:ln w="38100" cap="flat">
            <a:gradFill>
              <a:gsLst>
                <a:gs pos="0">
                  <a:srgbClr val="2CEEFF">
                    <a:alpha val="100000"/>
                  </a:srgbClr>
                </a:gs>
                <a:gs pos="100000">
                  <a:srgbClr val="0039A6">
                    <a:alpha val="100000"/>
                  </a:srgbClr>
                </a:gs>
              </a:gsLst>
              <a:lin ang="2700000"/>
            </a:gradFill>
            <a:prstDash val="solid"/>
            <a:headEnd type="none" w="sm" len="sm"/>
            <a:tailEnd type="none" w="sm" len="sm"/>
          </a:ln>
        </p:spPr>
      </p:sp>
      <p:sp>
        <p:nvSpPr>
          <p:cNvPr id="14" name="TextBox 14"/>
          <p:cNvSpPr txBox="1"/>
          <p:nvPr/>
        </p:nvSpPr>
        <p:spPr>
          <a:xfrm>
            <a:off x="1039108" y="508149"/>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104D87"/>
                </a:solidFill>
                <a:latin typeface="Open Sans"/>
                <a:ea typeface="Open Sans"/>
                <a:cs typeface="Open Sans"/>
                <a:sym typeface="Open Sans"/>
              </a:rPr>
              <a:t>2312678</a:t>
            </a:r>
          </a:p>
        </p:txBody>
      </p:sp>
      <p:sp>
        <p:nvSpPr>
          <p:cNvPr id="15" name="TextBox 15"/>
          <p:cNvSpPr txBox="1"/>
          <p:nvPr/>
        </p:nvSpPr>
        <p:spPr>
          <a:xfrm>
            <a:off x="17492295" y="9568113"/>
            <a:ext cx="547464" cy="240591"/>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01</a:t>
            </a:r>
          </a:p>
        </p:txBody>
      </p:sp>
      <p:sp>
        <p:nvSpPr>
          <p:cNvPr id="16" name="TextBox 16"/>
          <p:cNvSpPr txBox="1"/>
          <p:nvPr/>
        </p:nvSpPr>
        <p:spPr>
          <a:xfrm>
            <a:off x="10062424" y="2330163"/>
            <a:ext cx="6761629" cy="2161287"/>
          </a:xfrm>
          <a:prstGeom prst="rect">
            <a:avLst/>
          </a:prstGeom>
        </p:spPr>
        <p:txBody>
          <a:bodyPr lIns="0" tIns="0" rIns="0" bIns="0" rtlCol="0" anchor="t">
            <a:spAutoFit/>
          </a:bodyPr>
          <a:lstStyle/>
          <a:p>
            <a:pPr algn="l">
              <a:lnSpc>
                <a:spcPts val="17018"/>
              </a:lnSpc>
            </a:pPr>
            <a:r>
              <a:rPr lang="en-US" sz="14300">
                <a:solidFill>
                  <a:srgbClr val="29E2F9"/>
                </a:solidFill>
                <a:latin typeface="Anton"/>
                <a:ea typeface="Anton"/>
                <a:cs typeface="Anton"/>
                <a:sym typeface="Anton"/>
              </a:rPr>
              <a:t>INTERNET</a:t>
            </a:r>
          </a:p>
        </p:txBody>
      </p:sp>
      <p:sp>
        <p:nvSpPr>
          <p:cNvPr id="17" name="Freeform 17" descr="preencoded.png"/>
          <p:cNvSpPr/>
          <p:nvPr/>
        </p:nvSpPr>
        <p:spPr>
          <a:xfrm>
            <a:off x="301786" y="375879"/>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6"/>
            <a:stretch>
              <a:fillRect/>
            </a:stretch>
          </a:blipFill>
        </p:spPr>
      </p:sp>
      <p:sp>
        <p:nvSpPr>
          <p:cNvPr id="18" name="TextBox 18"/>
          <p:cNvSpPr txBox="1"/>
          <p:nvPr/>
        </p:nvSpPr>
        <p:spPr>
          <a:xfrm>
            <a:off x="9647034" y="292481"/>
            <a:ext cx="6761629" cy="1526540"/>
          </a:xfrm>
          <a:prstGeom prst="rect">
            <a:avLst/>
          </a:prstGeom>
        </p:spPr>
        <p:txBody>
          <a:bodyPr lIns="0" tIns="0" rIns="0" bIns="0" rtlCol="0" anchor="t">
            <a:spAutoFit/>
          </a:bodyPr>
          <a:lstStyle/>
          <a:p>
            <a:pPr algn="ctr">
              <a:lnSpc>
                <a:spcPts val="6160"/>
              </a:lnSpc>
            </a:pPr>
            <a:r>
              <a:rPr lang="en-US" sz="4400">
                <a:solidFill>
                  <a:srgbClr val="29E2F9"/>
                </a:solidFill>
                <a:latin typeface="Anton"/>
                <a:ea typeface="Anton"/>
                <a:cs typeface="Anton"/>
                <a:sym typeface="Anton"/>
              </a:rPr>
              <a:t>TRƯỜNG ĐẠI HỌC ĐÀ LẠT</a:t>
            </a:r>
          </a:p>
          <a:p>
            <a:pPr algn="ctr">
              <a:lnSpc>
                <a:spcPts val="6160"/>
              </a:lnSpc>
            </a:pPr>
            <a:r>
              <a:rPr lang="en-US" sz="4400">
                <a:solidFill>
                  <a:srgbClr val="29E2F9"/>
                </a:solidFill>
                <a:latin typeface="Anton"/>
                <a:ea typeface="Anton"/>
                <a:cs typeface="Anton"/>
                <a:sym typeface="Anton"/>
              </a:rPr>
              <a:t>KHOA CÔNG NGHỆ THÔNG TIN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742214" y="7517955"/>
            <a:ext cx="47625" cy="1740345"/>
            <a:chOff x="0" y="0"/>
            <a:chExt cx="12543" cy="458362"/>
          </a:xfrm>
        </p:grpSpPr>
        <p:sp>
          <p:nvSpPr>
            <p:cNvPr id="9" name="Freeform 9"/>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0" name="TextBox 10"/>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5289315" y="1952351"/>
            <a:ext cx="1407911" cy="6382297"/>
            <a:chOff x="0" y="0"/>
            <a:chExt cx="478135" cy="2167467"/>
          </a:xfrm>
        </p:grpSpPr>
        <p:sp>
          <p:nvSpPr>
            <p:cNvPr id="12" name="Freeform 12"/>
            <p:cNvSpPr/>
            <p:nvPr/>
          </p:nvSpPr>
          <p:spPr>
            <a:xfrm>
              <a:off x="0" y="0"/>
              <a:ext cx="478135" cy="2167467"/>
            </a:xfrm>
            <a:custGeom>
              <a:avLst/>
              <a:gdLst/>
              <a:ahLst/>
              <a:cxnLst/>
              <a:rect l="l" t="t" r="r" b="b"/>
              <a:pathLst>
                <a:path w="478135" h="2167467">
                  <a:moveTo>
                    <a:pt x="0" y="0"/>
                  </a:moveTo>
                  <a:lnTo>
                    <a:pt x="478135" y="0"/>
                  </a:lnTo>
                  <a:lnTo>
                    <a:pt x="478135" y="2167467"/>
                  </a:lnTo>
                  <a:lnTo>
                    <a:pt x="0" y="2167467"/>
                  </a:lnTo>
                  <a:close/>
                </a:path>
              </a:pathLst>
            </a:custGeom>
            <a:gradFill rotWithShape="1">
              <a:gsLst>
                <a:gs pos="0">
                  <a:srgbClr val="2CEEFF">
                    <a:alpha val="100000"/>
                  </a:srgbClr>
                </a:gs>
                <a:gs pos="100000">
                  <a:srgbClr val="0039A6">
                    <a:alpha val="100000"/>
                  </a:srgbClr>
                </a:gs>
              </a:gsLst>
              <a:lin ang="2700000"/>
            </a:gradFill>
          </p:spPr>
        </p:sp>
        <p:sp>
          <p:nvSpPr>
            <p:cNvPr id="13" name="TextBox 13"/>
            <p:cNvSpPr txBox="1"/>
            <p:nvPr/>
          </p:nvSpPr>
          <p:spPr>
            <a:xfrm>
              <a:off x="0" y="-28575"/>
              <a:ext cx="478135" cy="2196042"/>
            </a:xfrm>
            <a:prstGeom prst="rect">
              <a:avLst/>
            </a:prstGeom>
          </p:spPr>
          <p:txBody>
            <a:bodyPr lIns="50800" tIns="50800" rIns="50800" bIns="50800" rtlCol="0" anchor="ctr"/>
            <a:lstStyle/>
            <a:p>
              <a:pPr algn="ctr">
                <a:lnSpc>
                  <a:spcPts val="1960"/>
                </a:lnSpc>
              </a:pPr>
              <a:endParaRPr/>
            </a:p>
          </p:txBody>
        </p:sp>
      </p:grpSp>
      <p:sp>
        <p:nvSpPr>
          <p:cNvPr id="14" name="Freeform 14"/>
          <p:cNvSpPr/>
          <p:nvPr/>
        </p:nvSpPr>
        <p:spPr>
          <a:xfrm>
            <a:off x="10406881" y="1952351"/>
            <a:ext cx="4699240" cy="6363040"/>
          </a:xfrm>
          <a:custGeom>
            <a:avLst/>
            <a:gdLst/>
            <a:ahLst/>
            <a:cxnLst/>
            <a:rect l="l" t="t" r="r" b="b"/>
            <a:pathLst>
              <a:path w="4699240" h="6363040">
                <a:moveTo>
                  <a:pt x="0" y="0"/>
                </a:moveTo>
                <a:lnTo>
                  <a:pt x="4699240" y="0"/>
                </a:lnTo>
                <a:lnTo>
                  <a:pt x="4699240" y="6363041"/>
                </a:lnTo>
                <a:lnTo>
                  <a:pt x="0" y="6363041"/>
                </a:lnTo>
                <a:lnTo>
                  <a:pt x="0" y="0"/>
                </a:lnTo>
                <a:close/>
              </a:path>
            </a:pathLst>
          </a:custGeom>
          <a:blipFill>
            <a:blip r:embed="rId3"/>
            <a:stretch>
              <a:fillRect l="-2040" r="-2040"/>
            </a:stretch>
          </a:blipFill>
        </p:spPr>
      </p:sp>
      <p:sp>
        <p:nvSpPr>
          <p:cNvPr id="15" name="TextBox 15"/>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16" name="TextBox 16"/>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7" name="TextBox 17"/>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18" name="TextBox 18"/>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19" name="TextBox 19"/>
          <p:cNvSpPr txBox="1"/>
          <p:nvPr/>
        </p:nvSpPr>
        <p:spPr>
          <a:xfrm>
            <a:off x="17492295" y="9568113"/>
            <a:ext cx="547464" cy="240591"/>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02</a:t>
            </a:r>
          </a:p>
        </p:txBody>
      </p:sp>
      <p:sp>
        <p:nvSpPr>
          <p:cNvPr id="20" name="TextBox 20"/>
          <p:cNvSpPr txBox="1"/>
          <p:nvPr/>
        </p:nvSpPr>
        <p:spPr>
          <a:xfrm>
            <a:off x="1940177" y="2814603"/>
            <a:ext cx="5292718" cy="989330"/>
          </a:xfrm>
          <a:prstGeom prst="rect">
            <a:avLst/>
          </a:prstGeom>
        </p:spPr>
        <p:txBody>
          <a:bodyPr lIns="0" tIns="0" rIns="0" bIns="0" rtlCol="0" anchor="t">
            <a:spAutoFit/>
          </a:bodyPr>
          <a:lstStyle/>
          <a:p>
            <a:pPr algn="l">
              <a:lnSpc>
                <a:spcPts val="7735"/>
              </a:lnSpc>
            </a:pPr>
            <a:r>
              <a:rPr lang="en-US" sz="6500" dirty="0">
                <a:solidFill>
                  <a:srgbClr val="29E2F9"/>
                </a:solidFill>
                <a:latin typeface="Anton"/>
                <a:ea typeface="Anton"/>
                <a:cs typeface="Anton"/>
                <a:sym typeface="Anton"/>
              </a:rPr>
              <a:t>KHÁI NIỆM</a:t>
            </a:r>
          </a:p>
        </p:txBody>
      </p:sp>
      <p:sp>
        <p:nvSpPr>
          <p:cNvPr id="21" name="TextBox 21"/>
          <p:cNvSpPr txBox="1"/>
          <p:nvPr/>
        </p:nvSpPr>
        <p:spPr>
          <a:xfrm>
            <a:off x="1940177" y="4270140"/>
            <a:ext cx="7951458" cy="3156281"/>
          </a:xfrm>
          <a:prstGeom prst="rect">
            <a:avLst/>
          </a:prstGeom>
        </p:spPr>
        <p:txBody>
          <a:bodyPr lIns="0" tIns="0" rIns="0" bIns="0" rtlCol="0" anchor="t">
            <a:spAutoFit/>
          </a:bodyPr>
          <a:lstStyle/>
          <a:p>
            <a:pPr algn="just">
              <a:lnSpc>
                <a:spcPts val="3639"/>
              </a:lnSpc>
            </a:pPr>
            <a:r>
              <a:rPr lang="en-US" sz="2599" dirty="0">
                <a:solidFill>
                  <a:srgbClr val="FFFFFF"/>
                </a:solidFill>
                <a:latin typeface="Open Sans"/>
                <a:ea typeface="Open Sans"/>
                <a:cs typeface="Open Sans"/>
                <a:sym typeface="Open Sans"/>
              </a:rPr>
              <a:t>Internet </a:t>
            </a:r>
            <a:r>
              <a:rPr lang="en-US" sz="2599" dirty="0" err="1">
                <a:solidFill>
                  <a:srgbClr val="FFFFFF"/>
                </a:solidFill>
                <a:latin typeface="Open Sans"/>
                <a:ea typeface="Open Sans"/>
                <a:cs typeface="Open Sans"/>
                <a:sym typeface="Open Sans"/>
              </a:rPr>
              <a:t>là</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một</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hệ</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thống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thông</a:t>
            </a:r>
            <a:r>
              <a:rPr lang="en-US" sz="2599" dirty="0">
                <a:solidFill>
                  <a:srgbClr val="FFFFFF"/>
                </a:solidFill>
                <a:latin typeface="Open Sans"/>
                <a:ea typeface="Open Sans"/>
                <a:cs typeface="Open Sans"/>
                <a:sym typeface="Open Sans"/>
              </a:rPr>
              <a:t> tin </a:t>
            </a:r>
            <a:r>
              <a:rPr lang="en-US" sz="2599" dirty="0" err="1">
                <a:solidFill>
                  <a:srgbClr val="FFFFFF"/>
                </a:solidFill>
                <a:latin typeface="Open Sans"/>
                <a:ea typeface="Open Sans"/>
                <a:cs typeface="Open Sans"/>
                <a:sym typeface="Open Sans"/>
              </a:rPr>
              <a:t>toàn</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cầu</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có</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thể</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được</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truy</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cập</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công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cộng</a:t>
            </a:r>
            <a:r>
              <a:rPr lang="en-US" sz="2599" dirty="0">
                <a:solidFill>
                  <a:srgbClr val="FFFFFF"/>
                </a:solidFill>
                <a:latin typeface="Open Sans"/>
                <a:ea typeface="Open Sans"/>
                <a:cs typeface="Open Sans"/>
                <a:sym typeface="Open Sans"/>
              </a:rPr>
              <a:t> bao </a:t>
            </a:r>
            <a:r>
              <a:rPr lang="en-US" sz="2599" dirty="0" err="1">
                <a:solidFill>
                  <a:srgbClr val="FFFFFF"/>
                </a:solidFill>
                <a:latin typeface="Open Sans"/>
                <a:ea typeface="Open Sans"/>
                <a:cs typeface="Open Sans"/>
                <a:sym typeface="Open Sans"/>
              </a:rPr>
              <a:t>gồm</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các</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mạng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máy</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tính</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được</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liên</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kết</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với</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nhau</a:t>
            </a:r>
            <a:r>
              <a:rPr lang="en-US" sz="2599" dirty="0">
                <a:solidFill>
                  <a:srgbClr val="FFFFFF"/>
                </a:solidFill>
                <a:latin typeface="Open Sans"/>
                <a:ea typeface="Open Sans"/>
                <a:cs typeface="Open Sans"/>
                <a:sym typeface="Open Sans"/>
              </a:rPr>
              <a:t>. Internet </a:t>
            </a:r>
            <a:r>
              <a:rPr lang="en-US" sz="2599" dirty="0" err="1">
                <a:solidFill>
                  <a:srgbClr val="FFFFFF"/>
                </a:solidFill>
                <a:latin typeface="Open Sans"/>
                <a:ea typeface="Open Sans"/>
                <a:cs typeface="Open Sans"/>
                <a:sym typeface="Open Sans"/>
              </a:rPr>
              <a:t>cho</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phép</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người</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dùng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trao</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đổi</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dữ</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liệu</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thông</a:t>
            </a:r>
            <a:r>
              <a:rPr lang="en-US" sz="2599" dirty="0">
                <a:solidFill>
                  <a:srgbClr val="FFFFFF"/>
                </a:solidFill>
                <a:latin typeface="Open Sans"/>
                <a:ea typeface="Open Sans"/>
                <a:cs typeface="Open Sans"/>
                <a:sym typeface="Open Sans"/>
              </a:rPr>
              <a:t> tin, </a:t>
            </a:r>
            <a:r>
              <a:rPr lang="en-US" sz="2599" dirty="0" err="1">
                <a:solidFill>
                  <a:srgbClr val="FFFFFF"/>
                </a:solidFill>
                <a:latin typeface="Open Sans"/>
                <a:ea typeface="Open Sans"/>
                <a:cs typeface="Open Sans"/>
                <a:sym typeface="Open Sans"/>
              </a:rPr>
              <a:t>tương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tác</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và</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cung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cấp</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các</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dịch</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vụ</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số</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như</a:t>
            </a:r>
            <a:r>
              <a:rPr lang="en-US" sz="2599" dirty="0">
                <a:solidFill>
                  <a:srgbClr val="FFFFFF"/>
                </a:solidFill>
                <a:latin typeface="Open Sans"/>
                <a:ea typeface="Open Sans"/>
                <a:cs typeface="Open Sans"/>
                <a:sym typeface="Open Sans"/>
              </a:rPr>
              <a:t> email, website, </a:t>
            </a:r>
            <a:r>
              <a:rPr lang="en-US" sz="2599" dirty="0" err="1">
                <a:solidFill>
                  <a:srgbClr val="FFFFFF"/>
                </a:solidFill>
                <a:latin typeface="Open Sans"/>
                <a:ea typeface="Open Sans"/>
                <a:cs typeface="Open Sans"/>
                <a:sym typeface="Open Sans"/>
              </a:rPr>
              <a:t>mạng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xã</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hội</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thương</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mại</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điện</a:t>
            </a:r>
            <a:r>
              <a:rPr lang="en-US" sz="2599" dirty="0">
                <a:solidFill>
                  <a:srgbClr val="FFFFFF"/>
                </a:solidFill>
                <a:latin typeface="Open Sans"/>
                <a:ea typeface="Open Sans"/>
                <a:cs typeface="Open Sans"/>
                <a:sym typeface="Open Sans"/>
              </a:rPr>
              <a:t> </a:t>
            </a:r>
            <a:r>
              <a:rPr lang="en-US" sz="2599" dirty="0" err="1">
                <a:solidFill>
                  <a:srgbClr val="FFFFFF"/>
                </a:solidFill>
                <a:latin typeface="Open Sans"/>
                <a:ea typeface="Open Sans"/>
                <a:cs typeface="Open Sans"/>
                <a:sym typeface="Open Sans"/>
              </a:rPr>
              <a:t>tử</a:t>
            </a:r>
            <a:r>
              <a:rPr lang="en-US" sz="2599" dirty="0">
                <a:solidFill>
                  <a:srgbClr val="FFFFFF"/>
                </a:solidFill>
                <a:latin typeface="Open Sans"/>
                <a:ea typeface="Open Sans"/>
                <a:cs typeface="Open Sans"/>
                <a:sym typeface="Open Sans"/>
              </a:rPr>
              <a:t>,...</a:t>
            </a:r>
          </a:p>
          <a:p>
            <a:pPr algn="l">
              <a:lnSpc>
                <a:spcPts val="3323"/>
              </a:lnSpc>
              <a:spcBef>
                <a:spcPct val="0"/>
              </a:spcBef>
            </a:pPr>
            <a:endParaRPr lang="en-US" sz="2599" dirty="0">
              <a:solidFill>
                <a:srgbClr val="FFFFFF"/>
              </a:solidFill>
              <a:latin typeface="Open Sans"/>
              <a:ea typeface="Open Sans"/>
              <a:cs typeface="Open Sans"/>
              <a:sym typeface="Open Sans"/>
            </a:endParaRPr>
          </a:p>
        </p:txBody>
      </p:sp>
      <p:sp>
        <p:nvSpPr>
          <p:cNvPr id="22" name="Freeform 22" descr="preencoded.png"/>
          <p:cNvSpPr/>
          <p:nvPr/>
        </p:nvSpPr>
        <p:spPr>
          <a:xfrm>
            <a:off x="320597" y="390377"/>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4"/>
            <a:stretch>
              <a:fillRect/>
            </a:stretch>
          </a:blipFill>
        </p:spPr>
      </p:sp>
      <p:sp>
        <p:nvSpPr>
          <p:cNvPr id="23" name="TextBox 23"/>
          <p:cNvSpPr txBox="1"/>
          <p:nvPr/>
        </p:nvSpPr>
        <p:spPr>
          <a:xfrm>
            <a:off x="1039108" y="508149"/>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p159:morph option="byObject"/>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ppt_x</p:attrName>
                                        </p:attrNameLst>
                                      </p:cBhvr>
                                      <p:tavLst>
                                        <p:tav tm="0">
                                          <p:val>
                                            <p:strVal val="#ppt_x-#ppt_w*1.125000"/>
                                          </p:val>
                                        </p:tav>
                                        <p:tav tm="100000">
                                          <p:val>
                                            <p:strVal val="#ppt_x"/>
                                          </p:val>
                                        </p:tav>
                                      </p:tavLst>
                                    </p:anim>
                                    <p:animEffect transition="in" filter="wipe(right)">
                                      <p:cBhvr>
                                        <p:cTn id="8" dur="500"/>
                                        <p:tgtEl>
                                          <p:spTgt spid="20"/>
                                        </p:tgtEl>
                                      </p:cBhvr>
                                    </p:animEffect>
                                  </p:childTnLst>
                                </p:cTn>
                              </p:par>
                              <p:par>
                                <p:cTn id="9" presetID="12" presetClass="entr" presetSubtype="4" repeatCount="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p:tgtEl>
                                          <p:spTgt spid="21"/>
                                        </p:tgtEl>
                                        <p:attrNameLst>
                                          <p:attrName>ppt_y</p:attrName>
                                        </p:attrNameLst>
                                      </p:cBhvr>
                                      <p:tavLst>
                                        <p:tav tm="0">
                                          <p:val>
                                            <p:strVal val="#ppt_y+#ppt_h*1.125000"/>
                                          </p:val>
                                        </p:tav>
                                        <p:tav tm="100000">
                                          <p:val>
                                            <p:strVal val="#ppt_y"/>
                                          </p:val>
                                        </p:tav>
                                      </p:tavLst>
                                    </p:anim>
                                    <p:animEffect transition="in" filter="wipe(up)">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01565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alphaModFix amt="17000"/>
            </a:blip>
            <a:stretch>
              <a:fillRect/>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10" name="TextBox 10"/>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1" name="TextBox 11"/>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12" name="TextBox 12"/>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13" name="Group 13"/>
          <p:cNvGrpSpPr/>
          <p:nvPr/>
        </p:nvGrpSpPr>
        <p:grpSpPr>
          <a:xfrm>
            <a:off x="17742214" y="7517955"/>
            <a:ext cx="47625" cy="1740345"/>
            <a:chOff x="0" y="0"/>
            <a:chExt cx="12543" cy="458362"/>
          </a:xfrm>
        </p:grpSpPr>
        <p:sp>
          <p:nvSpPr>
            <p:cNvPr id="14" name="Freeform 14"/>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5" name="TextBox 15"/>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7492295" y="9568113"/>
            <a:ext cx="547464" cy="240591"/>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03</a:t>
            </a:r>
          </a:p>
        </p:txBody>
      </p:sp>
      <p:grpSp>
        <p:nvGrpSpPr>
          <p:cNvPr id="17" name="Group 17"/>
          <p:cNvGrpSpPr/>
          <p:nvPr/>
        </p:nvGrpSpPr>
        <p:grpSpPr>
          <a:xfrm>
            <a:off x="1307781" y="5143500"/>
            <a:ext cx="15915841" cy="5143500"/>
            <a:chOff x="0" y="0"/>
            <a:chExt cx="2515096" cy="812800"/>
          </a:xfrm>
        </p:grpSpPr>
        <p:sp>
          <p:nvSpPr>
            <p:cNvPr id="18" name="Freeform 18"/>
            <p:cNvSpPr/>
            <p:nvPr/>
          </p:nvSpPr>
          <p:spPr>
            <a:xfrm>
              <a:off x="0" y="0"/>
              <a:ext cx="2515096" cy="812800"/>
            </a:xfrm>
            <a:custGeom>
              <a:avLst/>
              <a:gdLst/>
              <a:ahLst/>
              <a:cxnLst/>
              <a:rect l="l" t="t" r="r" b="b"/>
              <a:pathLst>
                <a:path w="2515096" h="812800">
                  <a:moveTo>
                    <a:pt x="0" y="0"/>
                  </a:moveTo>
                  <a:lnTo>
                    <a:pt x="2515096" y="0"/>
                  </a:lnTo>
                  <a:lnTo>
                    <a:pt x="2515096" y="812800"/>
                  </a:lnTo>
                  <a:lnTo>
                    <a:pt x="0" y="812800"/>
                  </a:lnTo>
                  <a:close/>
                </a:path>
              </a:pathLst>
            </a:custGeom>
            <a:blipFill>
              <a:blip r:embed="rId4"/>
              <a:stretch>
                <a:fillRect t="-37028" b="-37028"/>
              </a:stretch>
            </a:blipFill>
          </p:spPr>
        </p:sp>
      </p:grpSp>
      <p:grpSp>
        <p:nvGrpSpPr>
          <p:cNvPr id="19" name="Group 19"/>
          <p:cNvGrpSpPr/>
          <p:nvPr/>
        </p:nvGrpSpPr>
        <p:grpSpPr>
          <a:xfrm>
            <a:off x="0" y="5143500"/>
            <a:ext cx="1039108" cy="5143500"/>
            <a:chOff x="0" y="0"/>
            <a:chExt cx="352887" cy="1746764"/>
          </a:xfrm>
        </p:grpSpPr>
        <p:sp>
          <p:nvSpPr>
            <p:cNvPr id="20" name="Freeform 20"/>
            <p:cNvSpPr/>
            <p:nvPr/>
          </p:nvSpPr>
          <p:spPr>
            <a:xfrm>
              <a:off x="0" y="0"/>
              <a:ext cx="352887" cy="1746764"/>
            </a:xfrm>
            <a:custGeom>
              <a:avLst/>
              <a:gdLst/>
              <a:ahLst/>
              <a:cxnLst/>
              <a:rect l="l" t="t" r="r" b="b"/>
              <a:pathLst>
                <a:path w="352887" h="1746764">
                  <a:moveTo>
                    <a:pt x="0" y="0"/>
                  </a:moveTo>
                  <a:lnTo>
                    <a:pt x="352887" y="0"/>
                  </a:lnTo>
                  <a:lnTo>
                    <a:pt x="352887" y="1746764"/>
                  </a:lnTo>
                  <a:lnTo>
                    <a:pt x="0" y="1746764"/>
                  </a:lnTo>
                  <a:close/>
                </a:path>
              </a:pathLst>
            </a:custGeom>
            <a:gradFill rotWithShape="1">
              <a:gsLst>
                <a:gs pos="0">
                  <a:srgbClr val="2CEEFF">
                    <a:alpha val="100000"/>
                  </a:srgbClr>
                </a:gs>
                <a:gs pos="100000">
                  <a:srgbClr val="0039A6">
                    <a:alpha val="100000"/>
                  </a:srgbClr>
                </a:gs>
              </a:gsLst>
              <a:lin ang="2700000"/>
            </a:gradFill>
          </p:spPr>
        </p:sp>
        <p:sp>
          <p:nvSpPr>
            <p:cNvPr id="21" name="TextBox 21"/>
            <p:cNvSpPr txBox="1"/>
            <p:nvPr/>
          </p:nvSpPr>
          <p:spPr>
            <a:xfrm>
              <a:off x="0" y="-28575"/>
              <a:ext cx="352887" cy="1775339"/>
            </a:xfrm>
            <a:prstGeom prst="rect">
              <a:avLst/>
            </a:prstGeom>
          </p:spPr>
          <p:txBody>
            <a:bodyPr lIns="50800" tIns="50800" rIns="50800" bIns="50800" rtlCol="0" anchor="ctr"/>
            <a:lstStyle/>
            <a:p>
              <a:pPr algn="ctr">
                <a:lnSpc>
                  <a:spcPts val="1960"/>
                </a:lnSpc>
              </a:pPr>
              <a:endParaRPr/>
            </a:p>
          </p:txBody>
        </p:sp>
      </p:grpSp>
      <p:sp>
        <p:nvSpPr>
          <p:cNvPr id="22" name="TextBox 22"/>
          <p:cNvSpPr txBox="1"/>
          <p:nvPr/>
        </p:nvSpPr>
        <p:spPr>
          <a:xfrm>
            <a:off x="1129951" y="2355900"/>
            <a:ext cx="5292718" cy="989330"/>
          </a:xfrm>
          <a:prstGeom prst="rect">
            <a:avLst/>
          </a:prstGeom>
        </p:spPr>
        <p:txBody>
          <a:bodyPr lIns="0" tIns="0" rIns="0" bIns="0" rtlCol="0" anchor="t">
            <a:spAutoFit/>
          </a:bodyPr>
          <a:lstStyle/>
          <a:p>
            <a:pPr algn="l">
              <a:lnSpc>
                <a:spcPts val="7735"/>
              </a:lnSpc>
            </a:pPr>
            <a:r>
              <a:rPr lang="en-US" sz="6500" dirty="0">
                <a:solidFill>
                  <a:srgbClr val="29E2F9"/>
                </a:solidFill>
                <a:latin typeface="Anton"/>
                <a:ea typeface="Anton"/>
                <a:cs typeface="Anton"/>
                <a:sym typeface="Anton"/>
              </a:rPr>
              <a:t>ĐẶC ĐIỂM</a:t>
            </a:r>
          </a:p>
        </p:txBody>
      </p:sp>
      <p:sp>
        <p:nvSpPr>
          <p:cNvPr id="23" name="Freeform 23" descr="preencoded.png"/>
          <p:cNvSpPr/>
          <p:nvPr/>
        </p:nvSpPr>
        <p:spPr>
          <a:xfrm>
            <a:off x="320597" y="390377"/>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5"/>
            <a:stretch>
              <a:fillRect/>
            </a:stretch>
          </a:blipFill>
        </p:spPr>
      </p:sp>
      <p:sp>
        <p:nvSpPr>
          <p:cNvPr id="24" name="TextBox 24"/>
          <p:cNvSpPr txBox="1"/>
          <p:nvPr/>
        </p:nvSpPr>
        <p:spPr>
          <a:xfrm>
            <a:off x="1039108" y="508149"/>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grpSp>
        <p:nvGrpSpPr>
          <p:cNvPr id="25" name="Group 25"/>
          <p:cNvGrpSpPr/>
          <p:nvPr/>
        </p:nvGrpSpPr>
        <p:grpSpPr>
          <a:xfrm>
            <a:off x="6050740" y="1276691"/>
            <a:ext cx="1285359" cy="573247"/>
            <a:chOff x="0" y="0"/>
            <a:chExt cx="1319719" cy="588571"/>
          </a:xfrm>
        </p:grpSpPr>
        <p:sp>
          <p:nvSpPr>
            <p:cNvPr id="26" name="Freeform 26"/>
            <p:cNvSpPr/>
            <p:nvPr/>
          </p:nvSpPr>
          <p:spPr>
            <a:xfrm>
              <a:off x="0" y="0"/>
              <a:ext cx="1319719" cy="588571"/>
            </a:xfrm>
            <a:custGeom>
              <a:avLst/>
              <a:gdLst/>
              <a:ahLst/>
              <a:cxnLst/>
              <a:rect l="l" t="t" r="r" b="b"/>
              <a:pathLst>
                <a:path w="1319719" h="588571">
                  <a:moveTo>
                    <a:pt x="0" y="0"/>
                  </a:moveTo>
                  <a:lnTo>
                    <a:pt x="1319719" y="0"/>
                  </a:lnTo>
                  <a:lnTo>
                    <a:pt x="1319719" y="588571"/>
                  </a:lnTo>
                  <a:lnTo>
                    <a:pt x="0" y="588571"/>
                  </a:lnTo>
                  <a:close/>
                </a:path>
              </a:pathLst>
            </a:custGeom>
            <a:gradFill rotWithShape="1">
              <a:gsLst>
                <a:gs pos="0">
                  <a:srgbClr val="2CEEFF">
                    <a:alpha val="100000"/>
                  </a:srgbClr>
                </a:gs>
                <a:gs pos="100000">
                  <a:srgbClr val="0039A6">
                    <a:alpha val="100000"/>
                  </a:srgbClr>
                </a:gs>
              </a:gsLst>
              <a:lin ang="2700000"/>
            </a:gradFill>
          </p:spPr>
        </p:sp>
        <p:sp>
          <p:nvSpPr>
            <p:cNvPr id="27" name="TextBox 27"/>
            <p:cNvSpPr txBox="1"/>
            <p:nvPr/>
          </p:nvSpPr>
          <p:spPr>
            <a:xfrm>
              <a:off x="0" y="-38100"/>
              <a:ext cx="1319719" cy="626671"/>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6327097" y="1375718"/>
            <a:ext cx="732646" cy="275346"/>
          </a:xfrm>
          <a:prstGeom prst="rect">
            <a:avLst/>
          </a:prstGeom>
        </p:spPr>
        <p:txBody>
          <a:bodyPr lIns="0" tIns="0" rIns="0" bIns="0" rtlCol="0" anchor="t">
            <a:spAutoFit/>
          </a:bodyPr>
          <a:lstStyle/>
          <a:p>
            <a:pPr algn="ctr">
              <a:lnSpc>
                <a:spcPts val="2225"/>
              </a:lnSpc>
              <a:spcBef>
                <a:spcPct val="0"/>
              </a:spcBef>
            </a:pPr>
            <a:r>
              <a:rPr lang="en-US" sz="1589" b="1">
                <a:solidFill>
                  <a:srgbClr val="FFFFFF"/>
                </a:solidFill>
                <a:latin typeface="Open Sans Bold"/>
                <a:ea typeface="Open Sans Bold"/>
                <a:cs typeface="Open Sans Bold"/>
                <a:sym typeface="Open Sans Bold"/>
              </a:rPr>
              <a:t>01</a:t>
            </a:r>
          </a:p>
        </p:txBody>
      </p:sp>
      <p:sp>
        <p:nvSpPr>
          <p:cNvPr id="29" name="TextBox 29"/>
          <p:cNvSpPr txBox="1"/>
          <p:nvPr/>
        </p:nvSpPr>
        <p:spPr>
          <a:xfrm>
            <a:off x="7441660" y="1256870"/>
            <a:ext cx="7047365" cy="522565"/>
          </a:xfrm>
          <a:prstGeom prst="rect">
            <a:avLst/>
          </a:prstGeom>
        </p:spPr>
        <p:txBody>
          <a:bodyPr lIns="0" tIns="0" rIns="0" bIns="0" rtlCol="0" anchor="t">
            <a:spAutoFit/>
          </a:bodyPr>
          <a:lstStyle/>
          <a:p>
            <a:pPr algn="just">
              <a:lnSpc>
                <a:spcPts val="2172"/>
              </a:lnSpc>
              <a:spcBef>
                <a:spcPct val="0"/>
              </a:spcBef>
            </a:pPr>
            <a:r>
              <a:rPr lang="en-US" sz="1551" b="1" dirty="0" err="1">
                <a:solidFill>
                  <a:srgbClr val="FFFFFF"/>
                </a:solidFill>
                <a:latin typeface="Open Sans Bold"/>
                <a:ea typeface="Open Sans Bold"/>
                <a:cs typeface="Open Sans Bold"/>
                <a:sym typeface="Open Sans Bold"/>
              </a:rPr>
              <a:t>Tính</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toàn</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cầu</a:t>
            </a:r>
            <a:r>
              <a:rPr lang="en-US" sz="1551" dirty="0">
                <a:solidFill>
                  <a:srgbClr val="FFFFFF"/>
                </a:solidFill>
                <a:latin typeface="Open Sans"/>
                <a:ea typeface="Open Sans"/>
                <a:cs typeface="Open Sans"/>
                <a:sym typeface="Open Sans"/>
              </a:rPr>
              <a:t>: Internet </a:t>
            </a:r>
            <a:r>
              <a:rPr lang="en-US" sz="1551" dirty="0" err="1">
                <a:solidFill>
                  <a:srgbClr val="FFFFFF"/>
                </a:solidFill>
                <a:latin typeface="Open Sans"/>
                <a:ea typeface="Open Sans"/>
                <a:cs typeface="Open Sans"/>
                <a:sym typeface="Open Sans"/>
              </a:rPr>
              <a:t>kết</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nối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các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máy</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tính</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và</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thiết</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bị</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trên</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toàn</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thế</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giới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cho</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phép</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người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dùng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truy</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cập</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thông</a:t>
            </a:r>
            <a:r>
              <a:rPr lang="en-US" sz="1551" dirty="0">
                <a:solidFill>
                  <a:srgbClr val="FFFFFF"/>
                </a:solidFill>
                <a:latin typeface="Open Sans"/>
                <a:ea typeface="Open Sans"/>
                <a:cs typeface="Open Sans"/>
                <a:sym typeface="Open Sans"/>
              </a:rPr>
              <a:t> tin </a:t>
            </a:r>
            <a:r>
              <a:rPr lang="en-US" sz="1551" dirty="0" err="1">
                <a:solidFill>
                  <a:srgbClr val="FFFFFF"/>
                </a:solidFill>
                <a:latin typeface="Open Sans"/>
                <a:ea typeface="Open Sans"/>
                <a:cs typeface="Open Sans"/>
                <a:sym typeface="Open Sans"/>
              </a:rPr>
              <a:t>và</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giao</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tiếp</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với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nhau</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từ</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bất</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kỳ</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đâu</a:t>
            </a:r>
            <a:r>
              <a:rPr lang="en-US" sz="1551" dirty="0">
                <a:solidFill>
                  <a:srgbClr val="FFFFFF"/>
                </a:solidFill>
                <a:latin typeface="Open Sans"/>
                <a:ea typeface="Open Sans"/>
                <a:cs typeface="Open Sans"/>
                <a:sym typeface="Open Sans"/>
              </a:rPr>
              <a:t>.</a:t>
            </a:r>
          </a:p>
        </p:txBody>
      </p:sp>
      <p:grpSp>
        <p:nvGrpSpPr>
          <p:cNvPr id="30" name="Group 30"/>
          <p:cNvGrpSpPr/>
          <p:nvPr/>
        </p:nvGrpSpPr>
        <p:grpSpPr>
          <a:xfrm>
            <a:off x="6050740" y="2307137"/>
            <a:ext cx="1285359" cy="573146"/>
            <a:chOff x="0" y="0"/>
            <a:chExt cx="1319719" cy="588467"/>
          </a:xfrm>
        </p:grpSpPr>
        <p:sp>
          <p:nvSpPr>
            <p:cNvPr id="31" name="Freeform 31"/>
            <p:cNvSpPr/>
            <p:nvPr/>
          </p:nvSpPr>
          <p:spPr>
            <a:xfrm>
              <a:off x="0" y="0"/>
              <a:ext cx="1319719" cy="588467"/>
            </a:xfrm>
            <a:custGeom>
              <a:avLst/>
              <a:gdLst/>
              <a:ahLst/>
              <a:cxnLst/>
              <a:rect l="l" t="t" r="r" b="b"/>
              <a:pathLst>
                <a:path w="1319719" h="588467">
                  <a:moveTo>
                    <a:pt x="0" y="0"/>
                  </a:moveTo>
                  <a:lnTo>
                    <a:pt x="1319719" y="0"/>
                  </a:lnTo>
                  <a:lnTo>
                    <a:pt x="1319719" y="588467"/>
                  </a:lnTo>
                  <a:lnTo>
                    <a:pt x="0" y="588467"/>
                  </a:lnTo>
                  <a:close/>
                </a:path>
              </a:pathLst>
            </a:custGeom>
            <a:gradFill rotWithShape="1">
              <a:gsLst>
                <a:gs pos="0">
                  <a:srgbClr val="2CEEFF">
                    <a:alpha val="100000"/>
                  </a:srgbClr>
                </a:gs>
                <a:gs pos="100000">
                  <a:srgbClr val="0039A6">
                    <a:alpha val="100000"/>
                  </a:srgbClr>
                </a:gs>
              </a:gsLst>
              <a:lin ang="2700000"/>
            </a:gradFill>
          </p:spPr>
        </p:sp>
        <p:sp>
          <p:nvSpPr>
            <p:cNvPr id="32" name="TextBox 32"/>
            <p:cNvSpPr txBox="1"/>
            <p:nvPr/>
          </p:nvSpPr>
          <p:spPr>
            <a:xfrm>
              <a:off x="0" y="-38100"/>
              <a:ext cx="1319719" cy="626567"/>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6327097" y="2406164"/>
            <a:ext cx="732646" cy="275346"/>
          </a:xfrm>
          <a:prstGeom prst="rect">
            <a:avLst/>
          </a:prstGeom>
        </p:spPr>
        <p:txBody>
          <a:bodyPr lIns="0" tIns="0" rIns="0" bIns="0" rtlCol="0" anchor="t">
            <a:spAutoFit/>
          </a:bodyPr>
          <a:lstStyle/>
          <a:p>
            <a:pPr algn="ctr">
              <a:lnSpc>
                <a:spcPts val="2225"/>
              </a:lnSpc>
              <a:spcBef>
                <a:spcPct val="0"/>
              </a:spcBef>
            </a:pPr>
            <a:r>
              <a:rPr lang="en-US" sz="1589" b="1">
                <a:solidFill>
                  <a:srgbClr val="FFFFFF"/>
                </a:solidFill>
                <a:latin typeface="Open Sans Bold"/>
                <a:ea typeface="Open Sans Bold"/>
                <a:cs typeface="Open Sans Bold"/>
                <a:sym typeface="Open Sans Bold"/>
              </a:rPr>
              <a:t>02</a:t>
            </a:r>
          </a:p>
        </p:txBody>
      </p:sp>
      <p:sp>
        <p:nvSpPr>
          <p:cNvPr id="34" name="TextBox 34"/>
          <p:cNvSpPr txBox="1"/>
          <p:nvPr/>
        </p:nvSpPr>
        <p:spPr>
          <a:xfrm>
            <a:off x="7388484" y="2272590"/>
            <a:ext cx="7153717" cy="789265"/>
          </a:xfrm>
          <a:prstGeom prst="rect">
            <a:avLst/>
          </a:prstGeom>
        </p:spPr>
        <p:txBody>
          <a:bodyPr lIns="0" tIns="0" rIns="0" bIns="0" rtlCol="0" anchor="t">
            <a:spAutoFit/>
          </a:bodyPr>
          <a:lstStyle/>
          <a:p>
            <a:pPr algn="just">
              <a:lnSpc>
                <a:spcPts val="2172"/>
              </a:lnSpc>
              <a:spcBef>
                <a:spcPct val="0"/>
              </a:spcBef>
            </a:pPr>
            <a:r>
              <a:rPr lang="en-US" sz="1551" b="1" dirty="0" err="1">
                <a:solidFill>
                  <a:srgbClr val="FFFFFF"/>
                </a:solidFill>
                <a:latin typeface="Open Sans Bold"/>
                <a:ea typeface="Open Sans Bold"/>
                <a:cs typeface="Open Sans Bold"/>
                <a:sym typeface="Open Sans Bold"/>
              </a:rPr>
              <a:t>Tính</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tương</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tác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Người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dùng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có</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thể</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tương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tác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với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nội</a:t>
            </a:r>
            <a:r>
              <a:rPr lang="en-US" sz="1551" dirty="0">
                <a:solidFill>
                  <a:srgbClr val="FFFFFF"/>
                </a:solidFill>
                <a:latin typeface="Open Sans"/>
                <a:ea typeface="Open Sans"/>
                <a:cs typeface="Open Sans"/>
                <a:sym typeface="Open Sans"/>
              </a:rPr>
              <a:t> dung </a:t>
            </a:r>
            <a:r>
              <a:rPr lang="en-US" sz="1551" dirty="0" err="1">
                <a:solidFill>
                  <a:srgbClr val="FFFFFF"/>
                </a:solidFill>
                <a:latin typeface="Open Sans"/>
                <a:ea typeface="Open Sans"/>
                <a:cs typeface="Open Sans"/>
                <a:sym typeface="Open Sans"/>
              </a:rPr>
              <a:t>và</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với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nhau</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thông</a:t>
            </a:r>
            <a:r>
              <a:rPr lang="en-US" sz="1551" dirty="0">
                <a:solidFill>
                  <a:srgbClr val="FFFFFF"/>
                </a:solidFill>
                <a:latin typeface="Open Sans"/>
                <a:ea typeface="Open Sans"/>
                <a:cs typeface="Open Sans"/>
                <a:sym typeface="Open Sans"/>
              </a:rPr>
              <a:t> qua </a:t>
            </a:r>
            <a:r>
              <a:rPr lang="en-US" sz="1551" dirty="0" err="1">
                <a:solidFill>
                  <a:srgbClr val="FFFFFF"/>
                </a:solidFill>
                <a:latin typeface="Open Sans"/>
                <a:ea typeface="Open Sans"/>
                <a:cs typeface="Open Sans"/>
                <a:sym typeface="Open Sans"/>
              </a:rPr>
              <a:t>các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nền</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tảng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như</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mạng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xã</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hội</a:t>
            </a:r>
            <a:r>
              <a:rPr lang="en-US" sz="1551" dirty="0">
                <a:solidFill>
                  <a:srgbClr val="FFFFFF"/>
                </a:solidFill>
                <a:latin typeface="Open Sans"/>
                <a:ea typeface="Open Sans"/>
                <a:cs typeface="Open Sans"/>
                <a:sym typeface="Open Sans"/>
              </a:rPr>
              <a:t>, email, </a:t>
            </a:r>
            <a:r>
              <a:rPr lang="en-US" sz="1551" dirty="0" err="1">
                <a:solidFill>
                  <a:srgbClr val="FFFFFF"/>
                </a:solidFill>
                <a:latin typeface="Open Sans"/>
                <a:ea typeface="Open Sans"/>
                <a:cs typeface="Open Sans"/>
                <a:sym typeface="Open Sans"/>
              </a:rPr>
              <a:t>và</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các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diễn</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đàn</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trực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tuyến</a:t>
            </a:r>
            <a:r>
              <a:rPr lang="en-US" sz="1551" dirty="0">
                <a:solidFill>
                  <a:srgbClr val="FFFFFF"/>
                </a:solidFill>
                <a:latin typeface="Open Sans"/>
                <a:ea typeface="Open Sans"/>
                <a:cs typeface="Open Sans"/>
                <a:sym typeface="Open Sans"/>
              </a:rPr>
              <a:t>.</a:t>
            </a:r>
          </a:p>
          <a:p>
            <a:pPr algn="just">
              <a:lnSpc>
                <a:spcPts val="2172"/>
              </a:lnSpc>
              <a:spcBef>
                <a:spcPct val="0"/>
              </a:spcBef>
            </a:pPr>
            <a:endParaRPr lang="en-US" sz="1551" dirty="0">
              <a:solidFill>
                <a:srgbClr val="FFFFFF"/>
              </a:solidFill>
              <a:latin typeface="Open Sans"/>
              <a:ea typeface="Open Sans"/>
              <a:cs typeface="Open Sans"/>
              <a:sym typeface="Open Sans"/>
            </a:endParaRPr>
          </a:p>
        </p:txBody>
      </p:sp>
      <p:grpSp>
        <p:nvGrpSpPr>
          <p:cNvPr id="35" name="Group 35"/>
          <p:cNvGrpSpPr/>
          <p:nvPr/>
        </p:nvGrpSpPr>
        <p:grpSpPr>
          <a:xfrm>
            <a:off x="6050740" y="3337483"/>
            <a:ext cx="1285359" cy="589721"/>
            <a:chOff x="0" y="0"/>
            <a:chExt cx="1319719" cy="605486"/>
          </a:xfrm>
        </p:grpSpPr>
        <p:sp>
          <p:nvSpPr>
            <p:cNvPr id="36" name="Freeform 36"/>
            <p:cNvSpPr/>
            <p:nvPr/>
          </p:nvSpPr>
          <p:spPr>
            <a:xfrm>
              <a:off x="0" y="0"/>
              <a:ext cx="1319719" cy="605486"/>
            </a:xfrm>
            <a:custGeom>
              <a:avLst/>
              <a:gdLst/>
              <a:ahLst/>
              <a:cxnLst/>
              <a:rect l="l" t="t" r="r" b="b"/>
              <a:pathLst>
                <a:path w="1319719" h="605486">
                  <a:moveTo>
                    <a:pt x="0" y="0"/>
                  </a:moveTo>
                  <a:lnTo>
                    <a:pt x="1319719" y="0"/>
                  </a:lnTo>
                  <a:lnTo>
                    <a:pt x="1319719" y="605486"/>
                  </a:lnTo>
                  <a:lnTo>
                    <a:pt x="0" y="605486"/>
                  </a:lnTo>
                  <a:close/>
                </a:path>
              </a:pathLst>
            </a:custGeom>
            <a:gradFill rotWithShape="1">
              <a:gsLst>
                <a:gs pos="0">
                  <a:srgbClr val="2CEEFF">
                    <a:alpha val="100000"/>
                  </a:srgbClr>
                </a:gs>
                <a:gs pos="100000">
                  <a:srgbClr val="0039A6">
                    <a:alpha val="100000"/>
                  </a:srgbClr>
                </a:gs>
              </a:gsLst>
              <a:lin ang="2700000"/>
            </a:gradFill>
          </p:spPr>
        </p:sp>
        <p:sp>
          <p:nvSpPr>
            <p:cNvPr id="37" name="TextBox 37"/>
            <p:cNvSpPr txBox="1"/>
            <p:nvPr/>
          </p:nvSpPr>
          <p:spPr>
            <a:xfrm>
              <a:off x="0" y="-38100"/>
              <a:ext cx="1319719" cy="643586"/>
            </a:xfrm>
            <a:prstGeom prst="rect">
              <a:avLst/>
            </a:prstGeom>
          </p:spPr>
          <p:txBody>
            <a:bodyPr lIns="50800" tIns="50800" rIns="50800" bIns="50800" rtlCol="0" anchor="ctr"/>
            <a:lstStyle/>
            <a:p>
              <a:pPr algn="ctr">
                <a:lnSpc>
                  <a:spcPts val="2659"/>
                </a:lnSpc>
              </a:pPr>
              <a:endParaRPr/>
            </a:p>
          </p:txBody>
        </p:sp>
      </p:grpSp>
      <p:sp>
        <p:nvSpPr>
          <p:cNvPr id="38" name="TextBox 38"/>
          <p:cNvSpPr txBox="1"/>
          <p:nvPr/>
        </p:nvSpPr>
        <p:spPr>
          <a:xfrm>
            <a:off x="6327097" y="3436510"/>
            <a:ext cx="732646" cy="275346"/>
          </a:xfrm>
          <a:prstGeom prst="rect">
            <a:avLst/>
          </a:prstGeom>
        </p:spPr>
        <p:txBody>
          <a:bodyPr lIns="0" tIns="0" rIns="0" bIns="0" rtlCol="0" anchor="t">
            <a:spAutoFit/>
          </a:bodyPr>
          <a:lstStyle/>
          <a:p>
            <a:pPr algn="ctr">
              <a:lnSpc>
                <a:spcPts val="2225"/>
              </a:lnSpc>
              <a:spcBef>
                <a:spcPct val="0"/>
              </a:spcBef>
            </a:pPr>
            <a:r>
              <a:rPr lang="en-US" sz="1589" b="1">
                <a:solidFill>
                  <a:srgbClr val="FFFFFF"/>
                </a:solidFill>
                <a:latin typeface="Open Sans Bold"/>
                <a:ea typeface="Open Sans Bold"/>
                <a:cs typeface="Open Sans Bold"/>
                <a:sym typeface="Open Sans Bold"/>
              </a:rPr>
              <a:t>03</a:t>
            </a:r>
          </a:p>
        </p:txBody>
      </p:sp>
      <p:sp>
        <p:nvSpPr>
          <p:cNvPr id="39" name="TextBox 39"/>
          <p:cNvSpPr txBox="1"/>
          <p:nvPr/>
        </p:nvSpPr>
        <p:spPr>
          <a:xfrm>
            <a:off x="7388484" y="3297971"/>
            <a:ext cx="6942595" cy="789265"/>
          </a:xfrm>
          <a:prstGeom prst="rect">
            <a:avLst/>
          </a:prstGeom>
        </p:spPr>
        <p:txBody>
          <a:bodyPr lIns="0" tIns="0" rIns="0" bIns="0" rtlCol="0" anchor="t">
            <a:spAutoFit/>
          </a:bodyPr>
          <a:lstStyle/>
          <a:p>
            <a:pPr algn="just">
              <a:lnSpc>
                <a:spcPts val="2172"/>
              </a:lnSpc>
              <a:spcBef>
                <a:spcPct val="0"/>
              </a:spcBef>
            </a:pPr>
            <a:r>
              <a:rPr lang="en-US" sz="1551" b="1" dirty="0" err="1">
                <a:solidFill>
                  <a:srgbClr val="FFFFFF"/>
                </a:solidFill>
                <a:latin typeface="Open Sans Bold"/>
                <a:ea typeface="Open Sans Bold"/>
                <a:cs typeface="Open Sans Bold"/>
                <a:sym typeface="Open Sans Bold"/>
              </a:rPr>
              <a:t>Tính</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dễ</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tiếp</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cận</a:t>
            </a:r>
            <a:r>
              <a:rPr lang="en-US" sz="1551" dirty="0">
                <a:solidFill>
                  <a:srgbClr val="FFFFFF"/>
                </a:solidFill>
                <a:latin typeface="Open Sans"/>
                <a:ea typeface="Open Sans"/>
                <a:cs typeface="Open Sans"/>
                <a:sym typeface="Open Sans"/>
              </a:rPr>
              <a:t>: Internet </a:t>
            </a:r>
            <a:r>
              <a:rPr lang="en-US" sz="1551" dirty="0" err="1">
                <a:solidFill>
                  <a:srgbClr val="FFFFFF"/>
                </a:solidFill>
                <a:latin typeface="Open Sans"/>
                <a:ea typeface="Open Sans"/>
                <a:cs typeface="Open Sans"/>
                <a:sym typeface="Open Sans"/>
              </a:rPr>
              <a:t>có</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thể</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truy</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cập</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dễ</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dàng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thông</a:t>
            </a:r>
            <a:r>
              <a:rPr lang="en-US" sz="1551" dirty="0">
                <a:solidFill>
                  <a:srgbClr val="FFFFFF"/>
                </a:solidFill>
                <a:latin typeface="Open Sans"/>
                <a:ea typeface="Open Sans"/>
                <a:cs typeface="Open Sans"/>
                <a:sym typeface="Open Sans"/>
              </a:rPr>
              <a:t> qua </a:t>
            </a:r>
            <a:r>
              <a:rPr lang="en-US" sz="1551" dirty="0" err="1">
                <a:solidFill>
                  <a:srgbClr val="FFFFFF"/>
                </a:solidFill>
                <a:latin typeface="Open Sans"/>
                <a:ea typeface="Open Sans"/>
                <a:cs typeface="Open Sans"/>
                <a:sym typeface="Open Sans"/>
              </a:rPr>
              <a:t>các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thiết</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bị</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như</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điện</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thoại</a:t>
            </a:r>
            <a:r>
              <a:rPr lang="en-US" sz="1551" dirty="0">
                <a:solidFill>
                  <a:srgbClr val="FFFFFF"/>
                </a:solidFill>
                <a:latin typeface="Open Sans"/>
                <a:ea typeface="Open Sans"/>
                <a:cs typeface="Open Sans"/>
                <a:sym typeface="Open Sans"/>
              </a:rPr>
              <a:t> di </a:t>
            </a:r>
            <a:r>
              <a:rPr lang="en-US" sz="1551" dirty="0" err="1">
                <a:solidFill>
                  <a:srgbClr val="FFFFFF"/>
                </a:solidFill>
                <a:latin typeface="Open Sans"/>
                <a:ea typeface="Open Sans"/>
                <a:cs typeface="Open Sans"/>
                <a:sym typeface="Open Sans"/>
              </a:rPr>
              <a:t>động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máy</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tính</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bảng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và</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máy</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tính</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cá</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nhân</a:t>
            </a:r>
            <a:r>
              <a:rPr lang="en-US" sz="1551" dirty="0">
                <a:solidFill>
                  <a:srgbClr val="FFFFFF"/>
                </a:solidFill>
                <a:latin typeface="Open Sans"/>
                <a:ea typeface="Open Sans"/>
                <a:cs typeface="Open Sans"/>
                <a:sym typeface="Open Sans"/>
              </a:rPr>
              <a:t>.</a:t>
            </a:r>
          </a:p>
          <a:p>
            <a:pPr algn="just">
              <a:lnSpc>
                <a:spcPts val="2172"/>
              </a:lnSpc>
              <a:spcBef>
                <a:spcPct val="0"/>
              </a:spcBef>
            </a:pPr>
            <a:endParaRPr lang="en-US" sz="1551" dirty="0">
              <a:solidFill>
                <a:srgbClr val="FFFFFF"/>
              </a:solidFill>
              <a:latin typeface="Open Sans"/>
              <a:ea typeface="Open Sans"/>
              <a:cs typeface="Open Sans"/>
              <a:sym typeface="Open Sans"/>
            </a:endParaRPr>
          </a:p>
        </p:txBody>
      </p:sp>
      <p:grpSp>
        <p:nvGrpSpPr>
          <p:cNvPr id="40" name="Group 40"/>
          <p:cNvGrpSpPr/>
          <p:nvPr/>
        </p:nvGrpSpPr>
        <p:grpSpPr>
          <a:xfrm>
            <a:off x="6050740" y="4289154"/>
            <a:ext cx="1285359" cy="530457"/>
            <a:chOff x="0" y="0"/>
            <a:chExt cx="1319719" cy="544637"/>
          </a:xfrm>
        </p:grpSpPr>
        <p:sp>
          <p:nvSpPr>
            <p:cNvPr id="41" name="Freeform 41"/>
            <p:cNvSpPr/>
            <p:nvPr/>
          </p:nvSpPr>
          <p:spPr>
            <a:xfrm>
              <a:off x="0" y="0"/>
              <a:ext cx="1319719" cy="544637"/>
            </a:xfrm>
            <a:custGeom>
              <a:avLst/>
              <a:gdLst/>
              <a:ahLst/>
              <a:cxnLst/>
              <a:rect l="l" t="t" r="r" b="b"/>
              <a:pathLst>
                <a:path w="1319719" h="544637">
                  <a:moveTo>
                    <a:pt x="0" y="0"/>
                  </a:moveTo>
                  <a:lnTo>
                    <a:pt x="1319719" y="0"/>
                  </a:lnTo>
                  <a:lnTo>
                    <a:pt x="1319719" y="544637"/>
                  </a:lnTo>
                  <a:lnTo>
                    <a:pt x="0" y="544637"/>
                  </a:lnTo>
                  <a:close/>
                </a:path>
              </a:pathLst>
            </a:custGeom>
            <a:gradFill rotWithShape="1">
              <a:gsLst>
                <a:gs pos="0">
                  <a:srgbClr val="2CEEFF">
                    <a:alpha val="100000"/>
                  </a:srgbClr>
                </a:gs>
                <a:gs pos="100000">
                  <a:srgbClr val="0039A6">
                    <a:alpha val="100000"/>
                  </a:srgbClr>
                </a:gs>
              </a:gsLst>
              <a:lin ang="2700000"/>
            </a:gradFill>
          </p:spPr>
        </p:sp>
        <p:sp>
          <p:nvSpPr>
            <p:cNvPr id="42" name="TextBox 42"/>
            <p:cNvSpPr txBox="1"/>
            <p:nvPr/>
          </p:nvSpPr>
          <p:spPr>
            <a:xfrm>
              <a:off x="0" y="-38100"/>
              <a:ext cx="1319719" cy="582737"/>
            </a:xfrm>
            <a:prstGeom prst="rect">
              <a:avLst/>
            </a:prstGeom>
          </p:spPr>
          <p:txBody>
            <a:bodyPr lIns="50800" tIns="50800" rIns="50800" bIns="50800" rtlCol="0" anchor="ctr"/>
            <a:lstStyle/>
            <a:p>
              <a:pPr algn="ctr">
                <a:lnSpc>
                  <a:spcPts val="2659"/>
                </a:lnSpc>
              </a:pPr>
              <a:endParaRPr/>
            </a:p>
          </p:txBody>
        </p:sp>
      </p:grpSp>
      <p:sp>
        <p:nvSpPr>
          <p:cNvPr id="43" name="TextBox 43"/>
          <p:cNvSpPr txBox="1"/>
          <p:nvPr/>
        </p:nvSpPr>
        <p:spPr>
          <a:xfrm>
            <a:off x="6327097" y="4388181"/>
            <a:ext cx="732646" cy="275346"/>
          </a:xfrm>
          <a:prstGeom prst="rect">
            <a:avLst/>
          </a:prstGeom>
        </p:spPr>
        <p:txBody>
          <a:bodyPr lIns="0" tIns="0" rIns="0" bIns="0" rtlCol="0" anchor="t">
            <a:spAutoFit/>
          </a:bodyPr>
          <a:lstStyle/>
          <a:p>
            <a:pPr algn="ctr">
              <a:lnSpc>
                <a:spcPts val="2225"/>
              </a:lnSpc>
              <a:spcBef>
                <a:spcPct val="0"/>
              </a:spcBef>
            </a:pPr>
            <a:r>
              <a:rPr lang="en-US" sz="1589" b="1">
                <a:solidFill>
                  <a:srgbClr val="FFFFFF"/>
                </a:solidFill>
                <a:latin typeface="Open Sans Bold"/>
                <a:ea typeface="Open Sans Bold"/>
                <a:cs typeface="Open Sans Bold"/>
                <a:sym typeface="Open Sans Bold"/>
              </a:rPr>
              <a:t>04</a:t>
            </a:r>
          </a:p>
        </p:txBody>
      </p:sp>
      <p:sp>
        <p:nvSpPr>
          <p:cNvPr id="44" name="TextBox 44"/>
          <p:cNvSpPr txBox="1"/>
          <p:nvPr/>
        </p:nvSpPr>
        <p:spPr>
          <a:xfrm>
            <a:off x="7388484" y="4254606"/>
            <a:ext cx="6867759" cy="789265"/>
          </a:xfrm>
          <a:prstGeom prst="rect">
            <a:avLst/>
          </a:prstGeom>
        </p:spPr>
        <p:txBody>
          <a:bodyPr lIns="0" tIns="0" rIns="0" bIns="0" rtlCol="0" anchor="t">
            <a:spAutoFit/>
          </a:bodyPr>
          <a:lstStyle/>
          <a:p>
            <a:pPr algn="just">
              <a:lnSpc>
                <a:spcPts val="2172"/>
              </a:lnSpc>
              <a:spcBef>
                <a:spcPct val="0"/>
              </a:spcBef>
            </a:pPr>
            <a:r>
              <a:rPr lang="en-US" sz="1551" b="1" dirty="0" err="1">
                <a:solidFill>
                  <a:srgbClr val="FFFFFF"/>
                </a:solidFill>
                <a:latin typeface="Open Sans Bold"/>
                <a:ea typeface="Open Sans Bold"/>
                <a:cs typeface="Open Sans Bold"/>
                <a:sym typeface="Open Sans Bold"/>
              </a:rPr>
              <a:t>Tính</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công</a:t>
            </a:r>
            <a:r>
              <a:rPr lang="en-US" sz="1551" b="1" dirty="0">
                <a:solidFill>
                  <a:srgbClr val="FFFFFF"/>
                </a:solidFill>
                <a:latin typeface="Open Sans Bold"/>
                <a:ea typeface="Open Sans Bold"/>
                <a:cs typeface="Open Sans Bold"/>
                <a:sym typeface="Open Sans Bold"/>
              </a:rPr>
              <a:t> </a:t>
            </a:r>
            <a:r>
              <a:rPr lang="en-US" sz="1551" b="1" dirty="0" err="1">
                <a:solidFill>
                  <a:srgbClr val="FFFFFF"/>
                </a:solidFill>
                <a:latin typeface="Open Sans Bold"/>
                <a:ea typeface="Open Sans Bold"/>
                <a:cs typeface="Open Sans Bold"/>
                <a:sym typeface="Open Sans Bold"/>
              </a:rPr>
              <a:t>cộng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Không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có</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cá</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nhân</a:t>
            </a:r>
            <a:r>
              <a:rPr lang="en-US" sz="1551" dirty="0">
                <a:solidFill>
                  <a:srgbClr val="FFFFFF"/>
                </a:solidFill>
                <a:latin typeface="Open Sans"/>
                <a:ea typeface="Open Sans"/>
                <a:cs typeface="Open Sans"/>
                <a:sym typeface="Open Sans"/>
              </a:rPr>
              <a:t> hay </a:t>
            </a:r>
            <a:r>
              <a:rPr lang="en-US" sz="1551" dirty="0" err="1">
                <a:solidFill>
                  <a:srgbClr val="FFFFFF"/>
                </a:solidFill>
                <a:latin typeface="Open Sans"/>
                <a:ea typeface="Open Sans"/>
                <a:cs typeface="Open Sans"/>
                <a:sym typeface="Open Sans"/>
              </a:rPr>
              <a:t>tổ</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chức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nào</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sở</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hữu</a:t>
            </a:r>
            <a:r>
              <a:rPr lang="en-US" sz="1551" dirty="0">
                <a:solidFill>
                  <a:srgbClr val="FFFFFF"/>
                </a:solidFill>
                <a:latin typeface="Open Sans"/>
                <a:ea typeface="Open Sans"/>
                <a:cs typeface="Open Sans"/>
                <a:sym typeface="Open Sans"/>
              </a:rPr>
              <a:t> Internet, </a:t>
            </a:r>
            <a:r>
              <a:rPr lang="en-US" sz="1551" dirty="0" err="1">
                <a:solidFill>
                  <a:srgbClr val="FFFFFF"/>
                </a:solidFill>
                <a:latin typeface="Open Sans"/>
                <a:ea typeface="Open Sans"/>
                <a:cs typeface="Open Sans"/>
                <a:sym typeface="Open Sans"/>
              </a:rPr>
              <a:t>và</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mọi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người</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đều</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có</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thể</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sử</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dụng</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nó</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cho</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nhiều</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mục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đích</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khác</a:t>
            </a:r>
            <a:r>
              <a:rPr lang="en-US" sz="1551" dirty="0">
                <a:solidFill>
                  <a:srgbClr val="FFFFFF"/>
                </a:solidFill>
                <a:latin typeface="Open Sans"/>
                <a:ea typeface="Open Sans"/>
                <a:cs typeface="Open Sans"/>
                <a:sym typeface="Open Sans"/>
              </a:rPr>
              <a:t> </a:t>
            </a:r>
            <a:r>
              <a:rPr lang="en-US" sz="1551" dirty="0" err="1">
                <a:solidFill>
                  <a:srgbClr val="FFFFFF"/>
                </a:solidFill>
                <a:latin typeface="Open Sans"/>
                <a:ea typeface="Open Sans"/>
                <a:cs typeface="Open Sans"/>
                <a:sym typeface="Open Sans"/>
              </a:rPr>
              <a:t>nhau</a:t>
            </a:r>
            <a:r>
              <a:rPr lang="en-US" sz="1551" dirty="0">
                <a:solidFill>
                  <a:srgbClr val="FFFFFF"/>
                </a:solidFill>
                <a:latin typeface="Open Sans"/>
                <a:ea typeface="Open Sans"/>
                <a:cs typeface="Open Sans"/>
                <a:sym typeface="Open Sans"/>
              </a:rPr>
              <a:t>.</a:t>
            </a:r>
          </a:p>
          <a:p>
            <a:pPr algn="just">
              <a:lnSpc>
                <a:spcPts val="2172"/>
              </a:lnSpc>
              <a:spcBef>
                <a:spcPct val="0"/>
              </a:spcBef>
            </a:pPr>
            <a:endParaRPr lang="en-US" sz="1551" dirty="0">
              <a:solidFill>
                <a:srgbClr val="FFFFFF"/>
              </a:solidFill>
              <a:latin typeface="Open Sans"/>
              <a:ea typeface="Open Sans"/>
              <a:cs typeface="Open Sans"/>
              <a:sym typeface="Open Sans"/>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right)">
                                      <p:cBhvr>
                                        <p:cTn id="8" dur="500"/>
                                        <p:tgtEl>
                                          <p:spTgt spid="22"/>
                                        </p:tgtEl>
                                      </p:cBhvr>
                                    </p:animEffect>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p:tgtEl>
                                          <p:spTgt spid="17"/>
                                        </p:tgtEl>
                                        <p:attrNameLst>
                                          <p:attrName>ppt_y</p:attrName>
                                        </p:attrNameLst>
                                      </p:cBhvr>
                                      <p:tavLst>
                                        <p:tav tm="0">
                                          <p:val>
                                            <p:strVal val="#ppt_y+#ppt_h*1.125000"/>
                                          </p:val>
                                        </p:tav>
                                        <p:tav tm="100000">
                                          <p:val>
                                            <p:strVal val="#ppt_y"/>
                                          </p:val>
                                        </p:tav>
                                      </p:tavLst>
                                    </p:anim>
                                    <p:animEffect transition="in" filter="wipe(up)">
                                      <p:cBhvr>
                                        <p:cTn id="13" dur="500"/>
                                        <p:tgtEl>
                                          <p:spTgt spid="17"/>
                                        </p:tgtEl>
                                      </p:cBhvr>
                                    </p:animEffect>
                                  </p:childTnLst>
                                </p:cTn>
                              </p:par>
                            </p:childTnLst>
                          </p:cTn>
                        </p:par>
                        <p:par>
                          <p:cTn id="14" fill="hold">
                            <p:stCondLst>
                              <p:cond delay="1000"/>
                            </p:stCondLst>
                            <p:childTnLst>
                              <p:par>
                                <p:cTn id="15" presetID="12" presetClass="entr" presetSubtype="4"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p:tgtEl>
                                          <p:spTgt spid="19"/>
                                        </p:tgtEl>
                                        <p:attrNameLst>
                                          <p:attrName>ppt_y</p:attrName>
                                        </p:attrNameLst>
                                      </p:cBhvr>
                                      <p:tavLst>
                                        <p:tav tm="0">
                                          <p:val>
                                            <p:strVal val="#ppt_y+#ppt_h*1.125000"/>
                                          </p:val>
                                        </p:tav>
                                        <p:tav tm="100000">
                                          <p:val>
                                            <p:strVal val="#ppt_y"/>
                                          </p:val>
                                        </p:tav>
                                      </p:tavLst>
                                    </p:anim>
                                    <p:animEffect transition="in" filter="wipe(up)">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p:tgtEl>
                                          <p:spTgt spid="25"/>
                                        </p:tgtEl>
                                        <p:attrNameLst>
                                          <p:attrName>ppt_y</p:attrName>
                                        </p:attrNameLst>
                                      </p:cBhvr>
                                      <p:tavLst>
                                        <p:tav tm="0">
                                          <p:val>
                                            <p:strVal val="#ppt_y+#ppt_h*1.125000"/>
                                          </p:val>
                                        </p:tav>
                                        <p:tav tm="100000">
                                          <p:val>
                                            <p:strVal val="#ppt_y"/>
                                          </p:val>
                                        </p:tav>
                                      </p:tavLst>
                                    </p:anim>
                                    <p:animEffect transition="in" filter="wipe(up)">
                                      <p:cBhvr>
                                        <p:cTn id="24" dur="500"/>
                                        <p:tgtEl>
                                          <p:spTgt spid="25"/>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p:tgtEl>
                                          <p:spTgt spid="28"/>
                                        </p:tgtEl>
                                        <p:attrNameLst>
                                          <p:attrName>ppt_y</p:attrName>
                                        </p:attrNameLst>
                                      </p:cBhvr>
                                      <p:tavLst>
                                        <p:tav tm="0">
                                          <p:val>
                                            <p:strVal val="#ppt_y+#ppt_h*1.125000"/>
                                          </p:val>
                                        </p:tav>
                                        <p:tav tm="100000">
                                          <p:val>
                                            <p:strVal val="#ppt_y"/>
                                          </p:val>
                                        </p:tav>
                                      </p:tavLst>
                                    </p:anim>
                                    <p:animEffect transition="in" filter="wipe(up)">
                                      <p:cBhvr>
                                        <p:cTn id="28" dur="500"/>
                                        <p:tgtEl>
                                          <p:spTgt spid="28"/>
                                        </p:tgtEl>
                                      </p:cBhvr>
                                    </p:animEffect>
                                  </p:childTnLst>
                                </p:cTn>
                              </p:par>
                              <p:par>
                                <p:cTn id="29" presetID="12" presetClass="entr" presetSubtype="4"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p:tgtEl>
                                          <p:spTgt spid="30"/>
                                        </p:tgtEl>
                                        <p:attrNameLst>
                                          <p:attrName>ppt_y</p:attrName>
                                        </p:attrNameLst>
                                      </p:cBhvr>
                                      <p:tavLst>
                                        <p:tav tm="0">
                                          <p:val>
                                            <p:strVal val="#ppt_y+#ppt_h*1.125000"/>
                                          </p:val>
                                        </p:tav>
                                        <p:tav tm="100000">
                                          <p:val>
                                            <p:strVal val="#ppt_y"/>
                                          </p:val>
                                        </p:tav>
                                      </p:tavLst>
                                    </p:anim>
                                    <p:animEffect transition="in" filter="wipe(up)">
                                      <p:cBhvr>
                                        <p:cTn id="32" dur="500"/>
                                        <p:tgtEl>
                                          <p:spTgt spid="30"/>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 calcmode="lin" valueType="num">
                                      <p:cBhvr additive="base">
                                        <p:cTn id="35" dur="500"/>
                                        <p:tgtEl>
                                          <p:spTgt spid="33"/>
                                        </p:tgtEl>
                                        <p:attrNameLst>
                                          <p:attrName>ppt_y</p:attrName>
                                        </p:attrNameLst>
                                      </p:cBhvr>
                                      <p:tavLst>
                                        <p:tav tm="0">
                                          <p:val>
                                            <p:strVal val="#ppt_y+#ppt_h*1.125000"/>
                                          </p:val>
                                        </p:tav>
                                        <p:tav tm="100000">
                                          <p:val>
                                            <p:strVal val="#ppt_y"/>
                                          </p:val>
                                        </p:tav>
                                      </p:tavLst>
                                    </p:anim>
                                    <p:animEffect transition="in" filter="wipe(up)">
                                      <p:cBhvr>
                                        <p:cTn id="36" dur="500"/>
                                        <p:tgtEl>
                                          <p:spTgt spid="33"/>
                                        </p:tgtEl>
                                      </p:cBhvr>
                                    </p:animEffect>
                                  </p:childTnLst>
                                </p:cTn>
                              </p:par>
                              <p:par>
                                <p:cTn id="37" presetID="12" presetClass="entr" presetSubtype="4"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additive="base">
                                        <p:cTn id="39" dur="500"/>
                                        <p:tgtEl>
                                          <p:spTgt spid="35"/>
                                        </p:tgtEl>
                                        <p:attrNameLst>
                                          <p:attrName>ppt_y</p:attrName>
                                        </p:attrNameLst>
                                      </p:cBhvr>
                                      <p:tavLst>
                                        <p:tav tm="0">
                                          <p:val>
                                            <p:strVal val="#ppt_y+#ppt_h*1.125000"/>
                                          </p:val>
                                        </p:tav>
                                        <p:tav tm="100000">
                                          <p:val>
                                            <p:strVal val="#ppt_y"/>
                                          </p:val>
                                        </p:tav>
                                      </p:tavLst>
                                    </p:anim>
                                    <p:animEffect transition="in" filter="wipe(up)">
                                      <p:cBhvr>
                                        <p:cTn id="40" dur="500"/>
                                        <p:tgtEl>
                                          <p:spTgt spid="35"/>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p:tgtEl>
                                          <p:spTgt spid="38"/>
                                        </p:tgtEl>
                                        <p:attrNameLst>
                                          <p:attrName>ppt_y</p:attrName>
                                        </p:attrNameLst>
                                      </p:cBhvr>
                                      <p:tavLst>
                                        <p:tav tm="0">
                                          <p:val>
                                            <p:strVal val="#ppt_y+#ppt_h*1.125000"/>
                                          </p:val>
                                        </p:tav>
                                        <p:tav tm="100000">
                                          <p:val>
                                            <p:strVal val="#ppt_y"/>
                                          </p:val>
                                        </p:tav>
                                      </p:tavLst>
                                    </p:anim>
                                    <p:animEffect transition="in" filter="wipe(up)">
                                      <p:cBhvr>
                                        <p:cTn id="44" dur="500"/>
                                        <p:tgtEl>
                                          <p:spTgt spid="38"/>
                                        </p:tgtEl>
                                      </p:cBhvr>
                                    </p:animEffect>
                                  </p:childTnLst>
                                </p:cTn>
                              </p:par>
                              <p:par>
                                <p:cTn id="45" presetID="12" presetClass="entr" presetSubtype="4"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anim calcmode="lin" valueType="num">
                                      <p:cBhvr additive="base">
                                        <p:cTn id="47" dur="500"/>
                                        <p:tgtEl>
                                          <p:spTgt spid="40"/>
                                        </p:tgtEl>
                                        <p:attrNameLst>
                                          <p:attrName>ppt_y</p:attrName>
                                        </p:attrNameLst>
                                      </p:cBhvr>
                                      <p:tavLst>
                                        <p:tav tm="0">
                                          <p:val>
                                            <p:strVal val="#ppt_y+#ppt_h*1.125000"/>
                                          </p:val>
                                        </p:tav>
                                        <p:tav tm="100000">
                                          <p:val>
                                            <p:strVal val="#ppt_y"/>
                                          </p:val>
                                        </p:tav>
                                      </p:tavLst>
                                    </p:anim>
                                    <p:animEffect transition="in" filter="wipe(up)">
                                      <p:cBhvr>
                                        <p:cTn id="48" dur="500"/>
                                        <p:tgtEl>
                                          <p:spTgt spid="40"/>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p:tgtEl>
                                          <p:spTgt spid="43"/>
                                        </p:tgtEl>
                                        <p:attrNameLst>
                                          <p:attrName>ppt_y</p:attrName>
                                        </p:attrNameLst>
                                      </p:cBhvr>
                                      <p:tavLst>
                                        <p:tav tm="0">
                                          <p:val>
                                            <p:strVal val="#ppt_y+#ppt_h*1.125000"/>
                                          </p:val>
                                        </p:tav>
                                        <p:tav tm="100000">
                                          <p:val>
                                            <p:strVal val="#ppt_y"/>
                                          </p:val>
                                        </p:tav>
                                      </p:tavLst>
                                    </p:anim>
                                    <p:animEffect transition="in" filter="wipe(up)">
                                      <p:cBhvr>
                                        <p:cTn id="52" dur="500"/>
                                        <p:tgtEl>
                                          <p:spTgt spid="43"/>
                                        </p:tgtEl>
                                      </p:cBhvr>
                                    </p:animEffect>
                                  </p:childTnLst>
                                </p:cTn>
                              </p:par>
                            </p:childTnLst>
                          </p:cTn>
                        </p:par>
                        <p:par>
                          <p:cTn id="53" fill="hold">
                            <p:stCondLst>
                              <p:cond delay="500"/>
                            </p:stCondLst>
                            <p:childTnLst>
                              <p:par>
                                <p:cTn id="54" presetID="12" presetClass="entr" presetSubtype="8" fill="hold" grpId="0" nodeType="after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p:tgtEl>
                                          <p:spTgt spid="29"/>
                                        </p:tgtEl>
                                        <p:attrNameLst>
                                          <p:attrName>ppt_x</p:attrName>
                                        </p:attrNameLst>
                                      </p:cBhvr>
                                      <p:tavLst>
                                        <p:tav tm="0">
                                          <p:val>
                                            <p:strVal val="#ppt_x-#ppt_w*1.125000"/>
                                          </p:val>
                                        </p:tav>
                                        <p:tav tm="100000">
                                          <p:val>
                                            <p:strVal val="#ppt_x"/>
                                          </p:val>
                                        </p:tav>
                                      </p:tavLst>
                                    </p:anim>
                                    <p:animEffect transition="in" filter="wipe(right)">
                                      <p:cBhvr>
                                        <p:cTn id="57" dur="500"/>
                                        <p:tgtEl>
                                          <p:spTgt spid="29"/>
                                        </p:tgtEl>
                                      </p:cBhvr>
                                    </p:animEffect>
                                  </p:childTnLst>
                                </p:cTn>
                              </p:par>
                            </p:childTnLst>
                          </p:cTn>
                        </p:par>
                        <p:par>
                          <p:cTn id="58" fill="hold">
                            <p:stCondLst>
                              <p:cond delay="1000"/>
                            </p:stCondLst>
                            <p:childTnLst>
                              <p:par>
                                <p:cTn id="59" presetID="12" presetClass="entr" presetSubtype="8" fill="hold" grpId="0" nodeType="afterEffect">
                                  <p:stCondLst>
                                    <p:cond delay="0"/>
                                  </p:stCondLst>
                                  <p:childTnLst>
                                    <p:set>
                                      <p:cBhvr>
                                        <p:cTn id="60" dur="1" fill="hold">
                                          <p:stCondLst>
                                            <p:cond delay="0"/>
                                          </p:stCondLst>
                                        </p:cTn>
                                        <p:tgtEl>
                                          <p:spTgt spid="34"/>
                                        </p:tgtEl>
                                        <p:attrNameLst>
                                          <p:attrName>style.visibility</p:attrName>
                                        </p:attrNameLst>
                                      </p:cBhvr>
                                      <p:to>
                                        <p:strVal val="visible"/>
                                      </p:to>
                                    </p:set>
                                    <p:anim calcmode="lin" valueType="num">
                                      <p:cBhvr additive="base">
                                        <p:cTn id="61" dur="500"/>
                                        <p:tgtEl>
                                          <p:spTgt spid="34"/>
                                        </p:tgtEl>
                                        <p:attrNameLst>
                                          <p:attrName>ppt_x</p:attrName>
                                        </p:attrNameLst>
                                      </p:cBhvr>
                                      <p:tavLst>
                                        <p:tav tm="0">
                                          <p:val>
                                            <p:strVal val="#ppt_x-#ppt_w*1.125000"/>
                                          </p:val>
                                        </p:tav>
                                        <p:tav tm="100000">
                                          <p:val>
                                            <p:strVal val="#ppt_x"/>
                                          </p:val>
                                        </p:tav>
                                      </p:tavLst>
                                    </p:anim>
                                    <p:animEffect transition="in" filter="wipe(right)">
                                      <p:cBhvr>
                                        <p:cTn id="62" dur="500"/>
                                        <p:tgtEl>
                                          <p:spTgt spid="34"/>
                                        </p:tgtEl>
                                      </p:cBhvr>
                                    </p:animEffect>
                                  </p:childTnLst>
                                </p:cTn>
                              </p:par>
                            </p:childTnLst>
                          </p:cTn>
                        </p:par>
                        <p:par>
                          <p:cTn id="63" fill="hold">
                            <p:stCondLst>
                              <p:cond delay="1500"/>
                            </p:stCondLst>
                            <p:childTnLst>
                              <p:par>
                                <p:cTn id="64" presetID="12" presetClass="entr" presetSubtype="8" fill="hold" grpId="0" nodeType="afterEffect">
                                  <p:stCondLst>
                                    <p:cond delay="0"/>
                                  </p:stCondLst>
                                  <p:childTnLst>
                                    <p:set>
                                      <p:cBhvr>
                                        <p:cTn id="65" dur="1" fill="hold">
                                          <p:stCondLst>
                                            <p:cond delay="0"/>
                                          </p:stCondLst>
                                        </p:cTn>
                                        <p:tgtEl>
                                          <p:spTgt spid="39"/>
                                        </p:tgtEl>
                                        <p:attrNameLst>
                                          <p:attrName>style.visibility</p:attrName>
                                        </p:attrNameLst>
                                      </p:cBhvr>
                                      <p:to>
                                        <p:strVal val="visible"/>
                                      </p:to>
                                    </p:set>
                                    <p:anim calcmode="lin" valueType="num">
                                      <p:cBhvr additive="base">
                                        <p:cTn id="66" dur="500"/>
                                        <p:tgtEl>
                                          <p:spTgt spid="39"/>
                                        </p:tgtEl>
                                        <p:attrNameLst>
                                          <p:attrName>ppt_x</p:attrName>
                                        </p:attrNameLst>
                                      </p:cBhvr>
                                      <p:tavLst>
                                        <p:tav tm="0">
                                          <p:val>
                                            <p:strVal val="#ppt_x-#ppt_w*1.125000"/>
                                          </p:val>
                                        </p:tav>
                                        <p:tav tm="100000">
                                          <p:val>
                                            <p:strVal val="#ppt_x"/>
                                          </p:val>
                                        </p:tav>
                                      </p:tavLst>
                                    </p:anim>
                                    <p:animEffect transition="in" filter="wipe(right)">
                                      <p:cBhvr>
                                        <p:cTn id="67" dur="500"/>
                                        <p:tgtEl>
                                          <p:spTgt spid="39"/>
                                        </p:tgtEl>
                                      </p:cBhvr>
                                    </p:animEffect>
                                  </p:childTnLst>
                                </p:cTn>
                              </p:par>
                            </p:childTnLst>
                          </p:cTn>
                        </p:par>
                        <p:par>
                          <p:cTn id="68" fill="hold">
                            <p:stCondLst>
                              <p:cond delay="2000"/>
                            </p:stCondLst>
                            <p:childTnLst>
                              <p:par>
                                <p:cTn id="69" presetID="12" presetClass="entr" presetSubtype="8" fill="hold" grpId="0" nodeType="afterEffect">
                                  <p:stCondLst>
                                    <p:cond delay="0"/>
                                  </p:stCondLst>
                                  <p:childTnLst>
                                    <p:set>
                                      <p:cBhvr>
                                        <p:cTn id="70" dur="1" fill="hold">
                                          <p:stCondLst>
                                            <p:cond delay="0"/>
                                          </p:stCondLst>
                                        </p:cTn>
                                        <p:tgtEl>
                                          <p:spTgt spid="44"/>
                                        </p:tgtEl>
                                        <p:attrNameLst>
                                          <p:attrName>style.visibility</p:attrName>
                                        </p:attrNameLst>
                                      </p:cBhvr>
                                      <p:to>
                                        <p:strVal val="visible"/>
                                      </p:to>
                                    </p:set>
                                    <p:anim calcmode="lin" valueType="num">
                                      <p:cBhvr additive="base">
                                        <p:cTn id="71" dur="500"/>
                                        <p:tgtEl>
                                          <p:spTgt spid="44"/>
                                        </p:tgtEl>
                                        <p:attrNameLst>
                                          <p:attrName>ppt_x</p:attrName>
                                        </p:attrNameLst>
                                      </p:cBhvr>
                                      <p:tavLst>
                                        <p:tav tm="0">
                                          <p:val>
                                            <p:strVal val="#ppt_x-#ppt_w*1.125000"/>
                                          </p:val>
                                        </p:tav>
                                        <p:tav tm="100000">
                                          <p:val>
                                            <p:strVal val="#ppt_x"/>
                                          </p:val>
                                        </p:tav>
                                      </p:tavLst>
                                    </p:anim>
                                    <p:animEffect transition="in" filter="wipe(right)">
                                      <p:cBhvr>
                                        <p:cTn id="7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8" grpId="0"/>
      <p:bldP spid="29" grpId="0"/>
      <p:bldP spid="33" grpId="0"/>
      <p:bldP spid="34" grpId="0"/>
      <p:bldP spid="38" grpId="0"/>
      <p:bldP spid="39" grpId="0"/>
      <p:bldP spid="43" grpId="0"/>
      <p:bldP spid="4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470741"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alphaModFix amt="17000"/>
            </a:blip>
            <a:stretch>
              <a:fillRect/>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10" name="TextBox 10"/>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1" name="TextBox 11"/>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12" name="TextBox 12"/>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13" name="Group 13"/>
          <p:cNvGrpSpPr/>
          <p:nvPr/>
        </p:nvGrpSpPr>
        <p:grpSpPr>
          <a:xfrm>
            <a:off x="17742214" y="7517955"/>
            <a:ext cx="47625" cy="1740345"/>
            <a:chOff x="0" y="0"/>
            <a:chExt cx="12543" cy="458362"/>
          </a:xfrm>
        </p:grpSpPr>
        <p:sp>
          <p:nvSpPr>
            <p:cNvPr id="14" name="Freeform 14"/>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5" name="TextBox 15"/>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7492295" y="9568113"/>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04</a:t>
            </a:r>
          </a:p>
        </p:txBody>
      </p:sp>
      <p:sp>
        <p:nvSpPr>
          <p:cNvPr id="17" name="TextBox 17"/>
          <p:cNvSpPr txBox="1"/>
          <p:nvPr/>
        </p:nvSpPr>
        <p:spPr>
          <a:xfrm>
            <a:off x="1666262" y="1276765"/>
            <a:ext cx="11488028" cy="989330"/>
          </a:xfrm>
          <a:prstGeom prst="rect">
            <a:avLst/>
          </a:prstGeom>
        </p:spPr>
        <p:txBody>
          <a:bodyPr lIns="0" tIns="0" rIns="0" bIns="0" rtlCol="0" anchor="t">
            <a:spAutoFit/>
          </a:bodyPr>
          <a:lstStyle/>
          <a:p>
            <a:pPr algn="l">
              <a:lnSpc>
                <a:spcPts val="7735"/>
              </a:lnSpc>
            </a:pPr>
            <a:r>
              <a:rPr lang="en-US" sz="6500" dirty="0">
                <a:solidFill>
                  <a:srgbClr val="29E2F9"/>
                </a:solidFill>
                <a:latin typeface="Anton"/>
                <a:ea typeface="Anton"/>
                <a:cs typeface="Anton"/>
                <a:sym typeface="Anton"/>
              </a:rPr>
              <a:t>CÁC THÀNH PHẦN CỦA INTERNET</a:t>
            </a:r>
          </a:p>
        </p:txBody>
      </p:sp>
      <p:sp>
        <p:nvSpPr>
          <p:cNvPr id="18" name="Freeform 18" descr="preencoded.png"/>
          <p:cNvSpPr/>
          <p:nvPr/>
        </p:nvSpPr>
        <p:spPr>
          <a:xfrm>
            <a:off x="320597" y="390377"/>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4"/>
            <a:stretch>
              <a:fillRect/>
            </a:stretch>
          </a:blipFill>
        </p:spPr>
      </p:sp>
      <p:sp>
        <p:nvSpPr>
          <p:cNvPr id="19" name="TextBox 19"/>
          <p:cNvSpPr txBox="1"/>
          <p:nvPr/>
        </p:nvSpPr>
        <p:spPr>
          <a:xfrm>
            <a:off x="1039108" y="508149"/>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sp>
        <p:nvSpPr>
          <p:cNvPr id="20" name="TextBox 20"/>
          <p:cNvSpPr txBox="1"/>
          <p:nvPr/>
        </p:nvSpPr>
        <p:spPr>
          <a:xfrm>
            <a:off x="3155751" y="3133542"/>
            <a:ext cx="2838896" cy="336550"/>
          </a:xfrm>
          <a:prstGeom prst="rect">
            <a:avLst/>
          </a:prstGeom>
        </p:spPr>
        <p:txBody>
          <a:bodyPr lIns="0" tIns="0" rIns="0" bIns="0" rtlCol="0" anchor="t">
            <a:spAutoFit/>
          </a:bodyPr>
          <a:lstStyle/>
          <a:p>
            <a:pPr algn="r">
              <a:lnSpc>
                <a:spcPts val="2750"/>
              </a:lnSpc>
            </a:pPr>
            <a:r>
              <a:rPr lang="en-US" sz="2187" b="1">
                <a:solidFill>
                  <a:srgbClr val="D6E5EF"/>
                </a:solidFill>
                <a:latin typeface="Open Sans Bold"/>
                <a:ea typeface="Open Sans Bold"/>
                <a:cs typeface="Open Sans Bold"/>
                <a:sym typeface="Open Sans Bold"/>
              </a:rPr>
              <a:t>Thiết Bị Đầu Cuối</a:t>
            </a:r>
          </a:p>
        </p:txBody>
      </p:sp>
      <p:sp>
        <p:nvSpPr>
          <p:cNvPr id="21" name="TextBox 21"/>
          <p:cNvSpPr txBox="1"/>
          <p:nvPr/>
        </p:nvSpPr>
        <p:spPr>
          <a:xfrm>
            <a:off x="794891" y="3577050"/>
            <a:ext cx="5199758" cy="326027"/>
          </a:xfrm>
          <a:prstGeom prst="rect">
            <a:avLst/>
          </a:prstGeom>
        </p:spPr>
        <p:txBody>
          <a:bodyPr lIns="0" tIns="0" rIns="0" bIns="0" rtlCol="0" anchor="t">
            <a:spAutoFit/>
          </a:bodyPr>
          <a:lstStyle/>
          <a:p>
            <a:pPr algn="r">
              <a:lnSpc>
                <a:spcPts val="2892"/>
              </a:lnSpc>
            </a:pPr>
            <a:r>
              <a:rPr lang="en-US" sz="1800" dirty="0" err="1">
                <a:solidFill>
                  <a:srgbClr val="D6E5EF"/>
                </a:solidFill>
                <a:latin typeface="Open Sans"/>
                <a:ea typeface="Open Sans"/>
                <a:cs typeface="Open Sans"/>
                <a:sym typeface="Open Sans"/>
              </a:rPr>
              <a:t>Máy</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tính</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điện</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thoại</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thiết</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bị</a:t>
            </a:r>
            <a:r>
              <a:rPr lang="en-US" sz="1800" dirty="0">
                <a:solidFill>
                  <a:srgbClr val="D6E5EF"/>
                </a:solidFill>
                <a:latin typeface="Open Sans"/>
                <a:ea typeface="Open Sans"/>
                <a:cs typeface="Open Sans"/>
                <a:sym typeface="Open Sans"/>
              </a:rPr>
              <a:t> IoT,...</a:t>
            </a:r>
          </a:p>
        </p:txBody>
      </p:sp>
      <p:sp>
        <p:nvSpPr>
          <p:cNvPr id="22" name="Freeform 22" descr="preencoded.png"/>
          <p:cNvSpPr/>
          <p:nvPr/>
        </p:nvSpPr>
        <p:spPr>
          <a:xfrm>
            <a:off x="6221760" y="2770402"/>
            <a:ext cx="5844331" cy="5844331"/>
          </a:xfrm>
          <a:custGeom>
            <a:avLst/>
            <a:gdLst/>
            <a:ahLst/>
            <a:cxnLst/>
            <a:rect l="l" t="t" r="r" b="b"/>
            <a:pathLst>
              <a:path w="5844331" h="5844331">
                <a:moveTo>
                  <a:pt x="0" y="0"/>
                </a:moveTo>
                <a:lnTo>
                  <a:pt x="5844331" y="0"/>
                </a:lnTo>
                <a:lnTo>
                  <a:pt x="5844331" y="5844332"/>
                </a:lnTo>
                <a:lnTo>
                  <a:pt x="0" y="5844332"/>
                </a:lnTo>
                <a:lnTo>
                  <a:pt x="0" y="0"/>
                </a:lnTo>
                <a:close/>
              </a:path>
            </a:pathLst>
          </a:custGeom>
          <a:blipFill>
            <a:blip r:embed="rId5"/>
            <a:stretch>
              <a:fillRect/>
            </a:stretch>
          </a:blipFill>
        </p:spPr>
      </p:sp>
      <p:sp>
        <p:nvSpPr>
          <p:cNvPr id="23" name="Freeform 23" descr="preencoded.png"/>
          <p:cNvSpPr/>
          <p:nvPr/>
        </p:nvSpPr>
        <p:spPr>
          <a:xfrm>
            <a:off x="8271049" y="3559116"/>
            <a:ext cx="339775" cy="424755"/>
          </a:xfrm>
          <a:custGeom>
            <a:avLst/>
            <a:gdLst/>
            <a:ahLst/>
            <a:cxnLst/>
            <a:rect l="l" t="t" r="r" b="b"/>
            <a:pathLst>
              <a:path w="339775" h="424755">
                <a:moveTo>
                  <a:pt x="0" y="0"/>
                </a:moveTo>
                <a:lnTo>
                  <a:pt x="339775" y="0"/>
                </a:lnTo>
                <a:lnTo>
                  <a:pt x="339775" y="424755"/>
                </a:lnTo>
                <a:lnTo>
                  <a:pt x="0" y="424755"/>
                </a:lnTo>
                <a:lnTo>
                  <a:pt x="0" y="0"/>
                </a:lnTo>
                <a:close/>
              </a:path>
            </a:pathLst>
          </a:custGeom>
          <a:blipFill>
            <a:blip r:embed="rId6"/>
            <a:stretch>
              <a:fillRect l="-4" r="-4"/>
            </a:stretch>
          </a:blipFill>
        </p:spPr>
      </p:sp>
      <p:sp>
        <p:nvSpPr>
          <p:cNvPr id="24" name="TextBox 24"/>
          <p:cNvSpPr txBox="1"/>
          <p:nvPr/>
        </p:nvSpPr>
        <p:spPr>
          <a:xfrm>
            <a:off x="12293202" y="3133542"/>
            <a:ext cx="2838896" cy="336550"/>
          </a:xfrm>
          <a:prstGeom prst="rect">
            <a:avLst/>
          </a:prstGeom>
        </p:spPr>
        <p:txBody>
          <a:bodyPr lIns="0" tIns="0" rIns="0" bIns="0" rtlCol="0" anchor="t">
            <a:spAutoFit/>
          </a:bodyPr>
          <a:lstStyle/>
          <a:p>
            <a:pPr algn="l">
              <a:lnSpc>
                <a:spcPts val="2750"/>
              </a:lnSpc>
            </a:pPr>
            <a:r>
              <a:rPr lang="en-US" sz="2187" b="1">
                <a:solidFill>
                  <a:srgbClr val="D6E5EF"/>
                </a:solidFill>
                <a:latin typeface="Open Sans Bold"/>
                <a:ea typeface="Open Sans Bold"/>
                <a:cs typeface="Open Sans Bold"/>
                <a:sym typeface="Open Sans Bold"/>
              </a:rPr>
              <a:t>Thiết Bị Mạng</a:t>
            </a:r>
          </a:p>
        </p:txBody>
      </p:sp>
      <p:sp>
        <p:nvSpPr>
          <p:cNvPr id="25" name="TextBox 25"/>
          <p:cNvSpPr txBox="1"/>
          <p:nvPr/>
        </p:nvSpPr>
        <p:spPr>
          <a:xfrm>
            <a:off x="12293202" y="3558000"/>
            <a:ext cx="5199906" cy="338138"/>
          </a:xfrm>
          <a:prstGeom prst="rect">
            <a:avLst/>
          </a:prstGeom>
        </p:spPr>
        <p:txBody>
          <a:bodyPr lIns="0" tIns="0" rIns="0" bIns="0" rtlCol="0" anchor="t">
            <a:spAutoFit/>
          </a:bodyPr>
          <a:lstStyle/>
          <a:p>
            <a:pPr algn="l">
              <a:lnSpc>
                <a:spcPts val="2812"/>
              </a:lnSpc>
            </a:pPr>
            <a:r>
              <a:rPr lang="en-US" sz="1750" dirty="0">
                <a:solidFill>
                  <a:srgbClr val="D6E5EF"/>
                </a:solidFill>
                <a:latin typeface="Roboto"/>
                <a:ea typeface="Roboto"/>
                <a:cs typeface="Roboto"/>
                <a:sym typeface="Roboto"/>
              </a:rPr>
              <a:t>Router, Modem, Switch,...</a:t>
            </a:r>
          </a:p>
        </p:txBody>
      </p:sp>
      <p:sp>
        <p:nvSpPr>
          <p:cNvPr id="26" name="Freeform 26" descr="preencoded.png"/>
          <p:cNvSpPr/>
          <p:nvPr/>
        </p:nvSpPr>
        <p:spPr>
          <a:xfrm>
            <a:off x="6221760" y="2770402"/>
            <a:ext cx="5844331" cy="5844331"/>
          </a:xfrm>
          <a:custGeom>
            <a:avLst/>
            <a:gdLst/>
            <a:ahLst/>
            <a:cxnLst/>
            <a:rect l="l" t="t" r="r" b="b"/>
            <a:pathLst>
              <a:path w="5844331" h="5844331">
                <a:moveTo>
                  <a:pt x="0" y="0"/>
                </a:moveTo>
                <a:lnTo>
                  <a:pt x="5844331" y="0"/>
                </a:lnTo>
                <a:lnTo>
                  <a:pt x="5844331" y="5844332"/>
                </a:lnTo>
                <a:lnTo>
                  <a:pt x="0" y="5844332"/>
                </a:lnTo>
                <a:lnTo>
                  <a:pt x="0" y="0"/>
                </a:lnTo>
                <a:close/>
              </a:path>
            </a:pathLst>
          </a:custGeom>
          <a:blipFill>
            <a:blip r:embed="rId7"/>
            <a:stretch>
              <a:fillRect/>
            </a:stretch>
          </a:blipFill>
        </p:spPr>
      </p:sp>
      <p:sp>
        <p:nvSpPr>
          <p:cNvPr id="27" name="Freeform 27" descr="preencoded.png"/>
          <p:cNvSpPr/>
          <p:nvPr/>
        </p:nvSpPr>
        <p:spPr>
          <a:xfrm>
            <a:off x="10286032" y="3910797"/>
            <a:ext cx="339775" cy="424755"/>
          </a:xfrm>
          <a:custGeom>
            <a:avLst/>
            <a:gdLst/>
            <a:ahLst/>
            <a:cxnLst/>
            <a:rect l="l" t="t" r="r" b="b"/>
            <a:pathLst>
              <a:path w="339775" h="424755">
                <a:moveTo>
                  <a:pt x="0" y="0"/>
                </a:moveTo>
                <a:lnTo>
                  <a:pt x="339776" y="0"/>
                </a:lnTo>
                <a:lnTo>
                  <a:pt x="339776" y="424755"/>
                </a:lnTo>
                <a:lnTo>
                  <a:pt x="0" y="424755"/>
                </a:lnTo>
                <a:lnTo>
                  <a:pt x="0" y="0"/>
                </a:lnTo>
                <a:close/>
              </a:path>
            </a:pathLst>
          </a:custGeom>
          <a:blipFill>
            <a:blip r:embed="rId8"/>
            <a:stretch>
              <a:fillRect l="-4" r="-4"/>
            </a:stretch>
          </a:blipFill>
        </p:spPr>
      </p:sp>
      <p:sp>
        <p:nvSpPr>
          <p:cNvPr id="28" name="TextBox 28"/>
          <p:cNvSpPr txBox="1"/>
          <p:nvPr/>
        </p:nvSpPr>
        <p:spPr>
          <a:xfrm>
            <a:off x="12520315" y="5255831"/>
            <a:ext cx="2838896" cy="336550"/>
          </a:xfrm>
          <a:prstGeom prst="rect">
            <a:avLst/>
          </a:prstGeom>
        </p:spPr>
        <p:txBody>
          <a:bodyPr lIns="0" tIns="0" rIns="0" bIns="0" rtlCol="0" anchor="t">
            <a:spAutoFit/>
          </a:bodyPr>
          <a:lstStyle/>
          <a:p>
            <a:pPr algn="l">
              <a:lnSpc>
                <a:spcPts val="2750"/>
              </a:lnSpc>
            </a:pPr>
            <a:r>
              <a:rPr lang="en-US" sz="2187" b="1">
                <a:solidFill>
                  <a:srgbClr val="D6E5EF"/>
                </a:solidFill>
                <a:latin typeface="Open Sans Bold"/>
                <a:ea typeface="Open Sans Bold"/>
                <a:cs typeface="Open Sans Bold"/>
                <a:sym typeface="Open Sans Bold"/>
              </a:rPr>
              <a:t>Đường Truyền</a:t>
            </a:r>
          </a:p>
        </p:txBody>
      </p:sp>
      <p:sp>
        <p:nvSpPr>
          <p:cNvPr id="29" name="TextBox 29"/>
          <p:cNvSpPr txBox="1"/>
          <p:nvPr/>
        </p:nvSpPr>
        <p:spPr>
          <a:xfrm>
            <a:off x="12520315" y="5680290"/>
            <a:ext cx="4972794" cy="345077"/>
          </a:xfrm>
          <a:prstGeom prst="rect">
            <a:avLst/>
          </a:prstGeom>
        </p:spPr>
        <p:txBody>
          <a:bodyPr lIns="0" tIns="0" rIns="0" bIns="0" rtlCol="0" anchor="t">
            <a:spAutoFit/>
          </a:bodyPr>
          <a:lstStyle/>
          <a:p>
            <a:pPr algn="l">
              <a:lnSpc>
                <a:spcPts val="2892"/>
              </a:lnSpc>
            </a:pPr>
            <a:r>
              <a:rPr lang="en-US" sz="1800" dirty="0" err="1">
                <a:solidFill>
                  <a:srgbClr val="D6E5EF"/>
                </a:solidFill>
                <a:latin typeface="Roboto"/>
                <a:ea typeface="Roboto"/>
                <a:cs typeface="Roboto"/>
                <a:sym typeface="Roboto"/>
              </a:rPr>
              <a:t>Cáp</a:t>
            </a:r>
            <a:r>
              <a:rPr lang="en-US" sz="1800" dirty="0">
                <a:solidFill>
                  <a:srgbClr val="D6E5EF"/>
                </a:solidFill>
                <a:latin typeface="Roboto"/>
                <a:ea typeface="Roboto"/>
                <a:cs typeface="Roboto"/>
                <a:sym typeface="Roboto"/>
              </a:rPr>
              <a:t> </a:t>
            </a:r>
            <a:r>
              <a:rPr lang="en-US" sz="1800" dirty="0" err="1">
                <a:solidFill>
                  <a:srgbClr val="D6E5EF"/>
                </a:solidFill>
                <a:latin typeface="Roboto"/>
                <a:ea typeface="Roboto"/>
                <a:cs typeface="Roboto"/>
                <a:sym typeface="Roboto"/>
              </a:rPr>
              <a:t>quang</a:t>
            </a:r>
            <a:r>
              <a:rPr lang="en-US" sz="1800" dirty="0">
                <a:solidFill>
                  <a:srgbClr val="D6E5EF"/>
                </a:solidFill>
                <a:latin typeface="Roboto"/>
                <a:ea typeface="Roboto"/>
                <a:cs typeface="Roboto"/>
                <a:sym typeface="Roboto"/>
              </a:rPr>
              <a:t>, </a:t>
            </a:r>
            <a:r>
              <a:rPr lang="en-US" sz="1800" dirty="0" err="1">
                <a:solidFill>
                  <a:srgbClr val="D6E5EF"/>
                </a:solidFill>
                <a:latin typeface="Roboto"/>
                <a:ea typeface="Roboto"/>
                <a:cs typeface="Roboto"/>
                <a:sym typeface="Roboto"/>
              </a:rPr>
              <a:t>sóng</a:t>
            </a:r>
            <a:r>
              <a:rPr lang="en-US" sz="1800" dirty="0">
                <a:solidFill>
                  <a:srgbClr val="D6E5EF"/>
                </a:solidFill>
                <a:latin typeface="Roboto"/>
                <a:ea typeface="Roboto"/>
                <a:cs typeface="Roboto"/>
                <a:sym typeface="Roboto"/>
              </a:rPr>
              <a:t> </a:t>
            </a:r>
            <a:r>
              <a:rPr lang="en-US" sz="1800" dirty="0" err="1">
                <a:solidFill>
                  <a:srgbClr val="D6E5EF"/>
                </a:solidFill>
                <a:latin typeface="Roboto"/>
                <a:ea typeface="Roboto"/>
                <a:cs typeface="Roboto"/>
                <a:sym typeface="Roboto"/>
              </a:rPr>
              <a:t>vô</a:t>
            </a:r>
            <a:r>
              <a:rPr lang="en-US" sz="1800" dirty="0">
                <a:solidFill>
                  <a:srgbClr val="D6E5EF"/>
                </a:solidFill>
                <a:latin typeface="Roboto"/>
                <a:ea typeface="Roboto"/>
                <a:cs typeface="Roboto"/>
                <a:sym typeface="Roboto"/>
              </a:rPr>
              <a:t> </a:t>
            </a:r>
            <a:r>
              <a:rPr lang="en-US" sz="1800" dirty="0" err="1">
                <a:solidFill>
                  <a:srgbClr val="D6E5EF"/>
                </a:solidFill>
                <a:latin typeface="Roboto"/>
                <a:ea typeface="Roboto"/>
                <a:cs typeface="Roboto"/>
                <a:sym typeface="Roboto"/>
              </a:rPr>
              <a:t>tuyến</a:t>
            </a:r>
            <a:r>
              <a:rPr lang="en-US" sz="1800" dirty="0">
                <a:solidFill>
                  <a:srgbClr val="D6E5EF"/>
                </a:solidFill>
                <a:latin typeface="Roboto"/>
                <a:ea typeface="Roboto"/>
                <a:cs typeface="Roboto"/>
                <a:sym typeface="Roboto"/>
              </a:rPr>
              <a:t>, 4G/5G, </a:t>
            </a:r>
            <a:r>
              <a:rPr lang="en-US" sz="1800" dirty="0" err="1">
                <a:solidFill>
                  <a:srgbClr val="D6E5EF"/>
                </a:solidFill>
                <a:latin typeface="Roboto"/>
                <a:ea typeface="Roboto"/>
                <a:cs typeface="Roboto"/>
                <a:sym typeface="Roboto"/>
              </a:rPr>
              <a:t>vệ</a:t>
            </a:r>
            <a:r>
              <a:rPr lang="en-US" sz="1800" dirty="0">
                <a:solidFill>
                  <a:srgbClr val="D6E5EF"/>
                </a:solidFill>
                <a:latin typeface="Roboto"/>
                <a:ea typeface="Roboto"/>
                <a:cs typeface="Roboto"/>
                <a:sym typeface="Roboto"/>
              </a:rPr>
              <a:t> </a:t>
            </a:r>
            <a:r>
              <a:rPr lang="en-US" sz="1800" dirty="0" err="1">
                <a:solidFill>
                  <a:srgbClr val="D6E5EF"/>
                </a:solidFill>
                <a:latin typeface="Roboto"/>
                <a:ea typeface="Roboto"/>
                <a:cs typeface="Roboto"/>
                <a:sym typeface="Roboto"/>
              </a:rPr>
              <a:t>tinh</a:t>
            </a:r>
            <a:r>
              <a:rPr lang="en-US" sz="1800" dirty="0">
                <a:solidFill>
                  <a:srgbClr val="D6E5EF"/>
                </a:solidFill>
                <a:latin typeface="Roboto"/>
                <a:ea typeface="Roboto"/>
                <a:cs typeface="Roboto"/>
                <a:sym typeface="Roboto"/>
              </a:rPr>
              <a:t>,...</a:t>
            </a:r>
          </a:p>
        </p:txBody>
      </p:sp>
      <p:sp>
        <p:nvSpPr>
          <p:cNvPr id="30" name="Freeform 30" descr="preencoded.png"/>
          <p:cNvSpPr/>
          <p:nvPr/>
        </p:nvSpPr>
        <p:spPr>
          <a:xfrm>
            <a:off x="6221760" y="2770402"/>
            <a:ext cx="5844331" cy="5844331"/>
          </a:xfrm>
          <a:custGeom>
            <a:avLst/>
            <a:gdLst/>
            <a:ahLst/>
            <a:cxnLst/>
            <a:rect l="l" t="t" r="r" b="b"/>
            <a:pathLst>
              <a:path w="5844331" h="5844331">
                <a:moveTo>
                  <a:pt x="0" y="0"/>
                </a:moveTo>
                <a:lnTo>
                  <a:pt x="5844331" y="0"/>
                </a:lnTo>
                <a:lnTo>
                  <a:pt x="5844331" y="5844332"/>
                </a:lnTo>
                <a:lnTo>
                  <a:pt x="0" y="5844332"/>
                </a:lnTo>
                <a:lnTo>
                  <a:pt x="0" y="0"/>
                </a:lnTo>
                <a:close/>
              </a:path>
            </a:pathLst>
          </a:custGeom>
          <a:blipFill>
            <a:blip r:embed="rId9"/>
            <a:stretch>
              <a:fillRect/>
            </a:stretch>
          </a:blipFill>
        </p:spPr>
      </p:sp>
      <p:sp>
        <p:nvSpPr>
          <p:cNvPr id="31" name="Freeform 31" descr="preencoded.png"/>
          <p:cNvSpPr/>
          <p:nvPr/>
        </p:nvSpPr>
        <p:spPr>
          <a:xfrm>
            <a:off x="10988948" y="5831722"/>
            <a:ext cx="339775" cy="424755"/>
          </a:xfrm>
          <a:custGeom>
            <a:avLst/>
            <a:gdLst/>
            <a:ahLst/>
            <a:cxnLst/>
            <a:rect l="l" t="t" r="r" b="b"/>
            <a:pathLst>
              <a:path w="339775" h="424755">
                <a:moveTo>
                  <a:pt x="0" y="0"/>
                </a:moveTo>
                <a:lnTo>
                  <a:pt x="339775" y="0"/>
                </a:lnTo>
                <a:lnTo>
                  <a:pt x="339775" y="424755"/>
                </a:lnTo>
                <a:lnTo>
                  <a:pt x="0" y="424755"/>
                </a:lnTo>
                <a:lnTo>
                  <a:pt x="0" y="0"/>
                </a:lnTo>
                <a:close/>
              </a:path>
            </a:pathLst>
          </a:custGeom>
          <a:blipFill>
            <a:blip r:embed="rId10"/>
            <a:stretch>
              <a:fillRect l="-4" r="-4"/>
            </a:stretch>
          </a:blipFill>
        </p:spPr>
      </p:sp>
      <p:sp>
        <p:nvSpPr>
          <p:cNvPr id="32" name="TextBox 32"/>
          <p:cNvSpPr txBox="1"/>
          <p:nvPr/>
        </p:nvSpPr>
        <p:spPr>
          <a:xfrm>
            <a:off x="12293202" y="7377971"/>
            <a:ext cx="3869583" cy="336550"/>
          </a:xfrm>
          <a:prstGeom prst="rect">
            <a:avLst/>
          </a:prstGeom>
        </p:spPr>
        <p:txBody>
          <a:bodyPr lIns="0" tIns="0" rIns="0" bIns="0" rtlCol="0" anchor="t">
            <a:spAutoFit/>
          </a:bodyPr>
          <a:lstStyle/>
          <a:p>
            <a:pPr algn="l">
              <a:lnSpc>
                <a:spcPts val="2750"/>
              </a:lnSpc>
            </a:pPr>
            <a:r>
              <a:rPr lang="en-US" sz="2187" b="1">
                <a:solidFill>
                  <a:srgbClr val="D6E5EF"/>
                </a:solidFill>
                <a:latin typeface="Open Sans Bold"/>
                <a:ea typeface="Open Sans Bold"/>
                <a:cs typeface="Open Sans Bold"/>
                <a:sym typeface="Open Sans Bold"/>
              </a:rPr>
              <a:t>Giao Thức Truyền Thông</a:t>
            </a:r>
          </a:p>
        </p:txBody>
      </p:sp>
      <p:sp>
        <p:nvSpPr>
          <p:cNvPr id="33" name="TextBox 33"/>
          <p:cNvSpPr txBox="1"/>
          <p:nvPr/>
        </p:nvSpPr>
        <p:spPr>
          <a:xfrm>
            <a:off x="12293202" y="7811955"/>
            <a:ext cx="5199906" cy="328613"/>
          </a:xfrm>
          <a:prstGeom prst="rect">
            <a:avLst/>
          </a:prstGeom>
        </p:spPr>
        <p:txBody>
          <a:bodyPr lIns="0" tIns="0" rIns="0" bIns="0" rtlCol="0" anchor="t">
            <a:spAutoFit/>
          </a:bodyPr>
          <a:lstStyle/>
          <a:p>
            <a:pPr algn="l">
              <a:lnSpc>
                <a:spcPts val="2812"/>
              </a:lnSpc>
            </a:pPr>
            <a:r>
              <a:rPr lang="en-US" sz="1750" dirty="0">
                <a:solidFill>
                  <a:srgbClr val="D6E5EF"/>
                </a:solidFill>
                <a:latin typeface="Open Sans"/>
                <a:ea typeface="Open Sans"/>
                <a:cs typeface="Open Sans"/>
                <a:sym typeface="Open Sans"/>
              </a:rPr>
              <a:t>TCP/IP, HTTP/HTTPS, FTP, SMTP, DNS,...</a:t>
            </a:r>
          </a:p>
        </p:txBody>
      </p:sp>
      <p:sp>
        <p:nvSpPr>
          <p:cNvPr id="34" name="Freeform 34" descr="preencoded.png"/>
          <p:cNvSpPr/>
          <p:nvPr/>
        </p:nvSpPr>
        <p:spPr>
          <a:xfrm>
            <a:off x="6221760" y="2770402"/>
            <a:ext cx="5844331" cy="5844331"/>
          </a:xfrm>
          <a:custGeom>
            <a:avLst/>
            <a:gdLst/>
            <a:ahLst/>
            <a:cxnLst/>
            <a:rect l="l" t="t" r="r" b="b"/>
            <a:pathLst>
              <a:path w="5844331" h="5844331">
                <a:moveTo>
                  <a:pt x="0" y="0"/>
                </a:moveTo>
                <a:lnTo>
                  <a:pt x="5844331" y="0"/>
                </a:lnTo>
                <a:lnTo>
                  <a:pt x="5844331" y="5844332"/>
                </a:lnTo>
                <a:lnTo>
                  <a:pt x="0" y="5844332"/>
                </a:lnTo>
                <a:lnTo>
                  <a:pt x="0" y="0"/>
                </a:lnTo>
                <a:close/>
              </a:path>
            </a:pathLst>
          </a:custGeom>
          <a:blipFill>
            <a:blip r:embed="rId11"/>
            <a:stretch>
              <a:fillRect/>
            </a:stretch>
          </a:blipFill>
        </p:spPr>
      </p:sp>
      <p:sp>
        <p:nvSpPr>
          <p:cNvPr id="35" name="Freeform 35" descr="preencoded.png"/>
          <p:cNvSpPr/>
          <p:nvPr/>
        </p:nvSpPr>
        <p:spPr>
          <a:xfrm>
            <a:off x="9676879" y="7400966"/>
            <a:ext cx="339775" cy="424755"/>
          </a:xfrm>
          <a:custGeom>
            <a:avLst/>
            <a:gdLst/>
            <a:ahLst/>
            <a:cxnLst/>
            <a:rect l="l" t="t" r="r" b="b"/>
            <a:pathLst>
              <a:path w="339775" h="424755">
                <a:moveTo>
                  <a:pt x="0" y="0"/>
                </a:moveTo>
                <a:lnTo>
                  <a:pt x="339775" y="0"/>
                </a:lnTo>
                <a:lnTo>
                  <a:pt x="339775" y="424755"/>
                </a:lnTo>
                <a:lnTo>
                  <a:pt x="0" y="424755"/>
                </a:lnTo>
                <a:lnTo>
                  <a:pt x="0" y="0"/>
                </a:lnTo>
                <a:close/>
              </a:path>
            </a:pathLst>
          </a:custGeom>
          <a:blipFill>
            <a:blip r:embed="rId12"/>
            <a:stretch>
              <a:fillRect l="-4" r="-4"/>
            </a:stretch>
          </a:blipFill>
        </p:spPr>
      </p:sp>
      <p:sp>
        <p:nvSpPr>
          <p:cNvPr id="36" name="TextBox 36"/>
          <p:cNvSpPr txBox="1"/>
          <p:nvPr/>
        </p:nvSpPr>
        <p:spPr>
          <a:xfrm>
            <a:off x="3155751" y="7377971"/>
            <a:ext cx="2838896" cy="336550"/>
          </a:xfrm>
          <a:prstGeom prst="rect">
            <a:avLst/>
          </a:prstGeom>
        </p:spPr>
        <p:txBody>
          <a:bodyPr lIns="0" tIns="0" rIns="0" bIns="0" rtlCol="0" anchor="t">
            <a:spAutoFit/>
          </a:bodyPr>
          <a:lstStyle/>
          <a:p>
            <a:pPr algn="r">
              <a:lnSpc>
                <a:spcPts val="2750"/>
              </a:lnSpc>
            </a:pPr>
            <a:r>
              <a:rPr lang="en-US" sz="2187" b="1">
                <a:solidFill>
                  <a:srgbClr val="D6E5EF"/>
                </a:solidFill>
                <a:latin typeface="Open Sans Bold"/>
                <a:ea typeface="Open Sans Bold"/>
                <a:cs typeface="Open Sans Bold"/>
                <a:sym typeface="Open Sans Bold"/>
              </a:rPr>
              <a:t>Máy Chủ</a:t>
            </a:r>
          </a:p>
        </p:txBody>
      </p:sp>
      <p:sp>
        <p:nvSpPr>
          <p:cNvPr id="37" name="TextBox 37"/>
          <p:cNvSpPr txBox="1"/>
          <p:nvPr/>
        </p:nvSpPr>
        <p:spPr>
          <a:xfrm>
            <a:off x="2153257" y="7821480"/>
            <a:ext cx="3841392" cy="687977"/>
          </a:xfrm>
          <a:prstGeom prst="rect">
            <a:avLst/>
          </a:prstGeom>
        </p:spPr>
        <p:txBody>
          <a:bodyPr lIns="0" tIns="0" rIns="0" bIns="0" rtlCol="0" anchor="t">
            <a:spAutoFit/>
          </a:bodyPr>
          <a:lstStyle/>
          <a:p>
            <a:pPr algn="r">
              <a:lnSpc>
                <a:spcPts val="2892"/>
              </a:lnSpc>
            </a:pPr>
            <a:r>
              <a:rPr lang="en-US" sz="1800">
                <a:solidFill>
                  <a:srgbClr val="D6E5EF"/>
                </a:solidFill>
                <a:latin typeface="Open Sans"/>
                <a:ea typeface="Open Sans"/>
                <a:cs typeface="Open Sans"/>
                <a:sym typeface="Open Sans"/>
              </a:rPr>
              <a:t>Máy chủ vật lý riêng, máy chủ ảo, máy chủ đám mây.</a:t>
            </a:r>
          </a:p>
        </p:txBody>
      </p:sp>
      <p:sp>
        <p:nvSpPr>
          <p:cNvPr id="38" name="Freeform 38" descr="preencoded.png"/>
          <p:cNvSpPr/>
          <p:nvPr/>
        </p:nvSpPr>
        <p:spPr>
          <a:xfrm>
            <a:off x="6221760" y="2770402"/>
            <a:ext cx="5844331" cy="5844331"/>
          </a:xfrm>
          <a:custGeom>
            <a:avLst/>
            <a:gdLst/>
            <a:ahLst/>
            <a:cxnLst/>
            <a:rect l="l" t="t" r="r" b="b"/>
            <a:pathLst>
              <a:path w="5844331" h="5844331">
                <a:moveTo>
                  <a:pt x="0" y="0"/>
                </a:moveTo>
                <a:lnTo>
                  <a:pt x="5844331" y="0"/>
                </a:lnTo>
                <a:lnTo>
                  <a:pt x="5844331" y="5844332"/>
                </a:lnTo>
                <a:lnTo>
                  <a:pt x="0" y="5844332"/>
                </a:lnTo>
                <a:lnTo>
                  <a:pt x="0" y="0"/>
                </a:lnTo>
                <a:close/>
              </a:path>
            </a:pathLst>
          </a:custGeom>
          <a:blipFill>
            <a:blip r:embed="rId13"/>
            <a:stretch>
              <a:fillRect/>
            </a:stretch>
          </a:blipFill>
        </p:spPr>
      </p:sp>
      <p:sp>
        <p:nvSpPr>
          <p:cNvPr id="39" name="Freeform 39" descr="preencoded.png"/>
          <p:cNvSpPr/>
          <p:nvPr/>
        </p:nvSpPr>
        <p:spPr>
          <a:xfrm>
            <a:off x="7661895" y="7049285"/>
            <a:ext cx="339775" cy="424755"/>
          </a:xfrm>
          <a:custGeom>
            <a:avLst/>
            <a:gdLst/>
            <a:ahLst/>
            <a:cxnLst/>
            <a:rect l="l" t="t" r="r" b="b"/>
            <a:pathLst>
              <a:path w="339775" h="424755">
                <a:moveTo>
                  <a:pt x="0" y="0"/>
                </a:moveTo>
                <a:lnTo>
                  <a:pt x="339775" y="0"/>
                </a:lnTo>
                <a:lnTo>
                  <a:pt x="339775" y="424755"/>
                </a:lnTo>
                <a:lnTo>
                  <a:pt x="0" y="424755"/>
                </a:lnTo>
                <a:lnTo>
                  <a:pt x="0" y="0"/>
                </a:lnTo>
                <a:close/>
              </a:path>
            </a:pathLst>
          </a:custGeom>
          <a:blipFill>
            <a:blip r:embed="rId14"/>
            <a:stretch>
              <a:fillRect l="-4" r="-4"/>
            </a:stretch>
          </a:blipFill>
        </p:spPr>
      </p:sp>
      <p:sp>
        <p:nvSpPr>
          <p:cNvPr id="40" name="TextBox 40"/>
          <p:cNvSpPr txBox="1"/>
          <p:nvPr/>
        </p:nvSpPr>
        <p:spPr>
          <a:xfrm>
            <a:off x="884315" y="5074112"/>
            <a:ext cx="4883222" cy="336550"/>
          </a:xfrm>
          <a:prstGeom prst="rect">
            <a:avLst/>
          </a:prstGeom>
        </p:spPr>
        <p:txBody>
          <a:bodyPr lIns="0" tIns="0" rIns="0" bIns="0" rtlCol="0" anchor="t">
            <a:spAutoFit/>
          </a:bodyPr>
          <a:lstStyle/>
          <a:p>
            <a:pPr algn="r">
              <a:lnSpc>
                <a:spcPts val="2750"/>
              </a:lnSpc>
            </a:pPr>
            <a:r>
              <a:rPr lang="en-US" sz="2187" b="1" dirty="0">
                <a:solidFill>
                  <a:srgbClr val="D6E5EF"/>
                </a:solidFill>
                <a:latin typeface="Open Sans Bold"/>
                <a:ea typeface="Open Sans Bold"/>
                <a:cs typeface="Open Sans Bold"/>
                <a:sym typeface="Open Sans Bold"/>
              </a:rPr>
              <a:t>ISP - Internet Service Provider</a:t>
            </a:r>
          </a:p>
        </p:txBody>
      </p:sp>
      <p:sp>
        <p:nvSpPr>
          <p:cNvPr id="41" name="TextBox 41"/>
          <p:cNvSpPr txBox="1"/>
          <p:nvPr/>
        </p:nvSpPr>
        <p:spPr>
          <a:xfrm>
            <a:off x="794891" y="5517620"/>
            <a:ext cx="4972645" cy="687977"/>
          </a:xfrm>
          <a:prstGeom prst="rect">
            <a:avLst/>
          </a:prstGeom>
        </p:spPr>
        <p:txBody>
          <a:bodyPr lIns="0" tIns="0" rIns="0" bIns="0" rtlCol="0" anchor="t">
            <a:spAutoFit/>
          </a:bodyPr>
          <a:lstStyle/>
          <a:p>
            <a:pPr algn="r">
              <a:lnSpc>
                <a:spcPts val="2892"/>
              </a:lnSpc>
            </a:pPr>
            <a:r>
              <a:rPr lang="en-US" sz="1800" dirty="0" err="1">
                <a:solidFill>
                  <a:srgbClr val="D6E5EF"/>
                </a:solidFill>
                <a:latin typeface="Open Sans"/>
                <a:ea typeface="Open Sans"/>
                <a:cs typeface="Open Sans"/>
                <a:sym typeface="Open Sans"/>
              </a:rPr>
              <a:t>Nhà</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cung</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cấp</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dịch</a:t>
            </a:r>
            <a:r>
              <a:rPr lang="en-US" sz="1800" dirty="0">
                <a:solidFill>
                  <a:srgbClr val="D6E5EF"/>
                </a:solidFill>
                <a:latin typeface="Open Sans"/>
                <a:ea typeface="Open Sans"/>
                <a:cs typeface="Open Sans"/>
                <a:sym typeface="Open Sans"/>
              </a:rPr>
              <a:t> </a:t>
            </a:r>
            <a:r>
              <a:rPr lang="en-US" sz="1800" dirty="0" err="1">
                <a:solidFill>
                  <a:srgbClr val="D6E5EF"/>
                </a:solidFill>
                <a:latin typeface="Open Sans"/>
                <a:ea typeface="Open Sans"/>
                <a:cs typeface="Open Sans"/>
                <a:sym typeface="Open Sans"/>
              </a:rPr>
              <a:t>vụ</a:t>
            </a:r>
            <a:r>
              <a:rPr lang="en-US" sz="1800" dirty="0">
                <a:solidFill>
                  <a:srgbClr val="D6E5EF"/>
                </a:solidFill>
                <a:latin typeface="Open Sans"/>
                <a:ea typeface="Open Sans"/>
                <a:cs typeface="Open Sans"/>
                <a:sym typeface="Open Sans"/>
              </a:rPr>
              <a:t> Internet (VNPT, </a:t>
            </a:r>
            <a:r>
              <a:rPr lang="en-US" sz="1800" dirty="0" err="1">
                <a:solidFill>
                  <a:srgbClr val="D6E5EF"/>
                </a:solidFill>
                <a:latin typeface="Open Sans"/>
                <a:ea typeface="Open Sans"/>
                <a:cs typeface="Open Sans"/>
                <a:sym typeface="Open Sans"/>
              </a:rPr>
              <a:t>Viettel</a:t>
            </a:r>
            <a:r>
              <a:rPr lang="en-US" sz="1800" dirty="0">
                <a:solidFill>
                  <a:srgbClr val="D6E5EF"/>
                </a:solidFill>
                <a:latin typeface="Open Sans"/>
                <a:ea typeface="Open Sans"/>
                <a:cs typeface="Open Sans"/>
                <a:sym typeface="Open Sans"/>
              </a:rPr>
              <a:t>, FPT).</a:t>
            </a:r>
          </a:p>
        </p:txBody>
      </p:sp>
      <p:sp>
        <p:nvSpPr>
          <p:cNvPr id="42" name="Freeform 42" descr="preencoded.png"/>
          <p:cNvSpPr/>
          <p:nvPr/>
        </p:nvSpPr>
        <p:spPr>
          <a:xfrm>
            <a:off x="6221760" y="2770402"/>
            <a:ext cx="5844331" cy="5844331"/>
          </a:xfrm>
          <a:custGeom>
            <a:avLst/>
            <a:gdLst/>
            <a:ahLst/>
            <a:cxnLst/>
            <a:rect l="l" t="t" r="r" b="b"/>
            <a:pathLst>
              <a:path w="5844331" h="5844331">
                <a:moveTo>
                  <a:pt x="0" y="0"/>
                </a:moveTo>
                <a:lnTo>
                  <a:pt x="5844331" y="0"/>
                </a:lnTo>
                <a:lnTo>
                  <a:pt x="5844331" y="5844332"/>
                </a:lnTo>
                <a:lnTo>
                  <a:pt x="0" y="5844332"/>
                </a:lnTo>
                <a:lnTo>
                  <a:pt x="0" y="0"/>
                </a:lnTo>
                <a:close/>
              </a:path>
            </a:pathLst>
          </a:custGeom>
          <a:blipFill>
            <a:blip r:embed="rId15"/>
            <a:stretch>
              <a:fillRect/>
            </a:stretch>
          </a:blipFill>
        </p:spPr>
      </p:sp>
      <p:sp>
        <p:nvSpPr>
          <p:cNvPr id="43" name="Freeform 43" descr="preencoded.png"/>
          <p:cNvSpPr/>
          <p:nvPr/>
        </p:nvSpPr>
        <p:spPr>
          <a:xfrm>
            <a:off x="6958980" y="5128360"/>
            <a:ext cx="339775" cy="424755"/>
          </a:xfrm>
          <a:custGeom>
            <a:avLst/>
            <a:gdLst/>
            <a:ahLst/>
            <a:cxnLst/>
            <a:rect l="l" t="t" r="r" b="b"/>
            <a:pathLst>
              <a:path w="339775" h="424755">
                <a:moveTo>
                  <a:pt x="0" y="0"/>
                </a:moveTo>
                <a:lnTo>
                  <a:pt x="339775" y="0"/>
                </a:lnTo>
                <a:lnTo>
                  <a:pt x="339775" y="424755"/>
                </a:lnTo>
                <a:lnTo>
                  <a:pt x="0" y="424755"/>
                </a:lnTo>
                <a:lnTo>
                  <a:pt x="0" y="0"/>
                </a:lnTo>
                <a:close/>
              </a:path>
            </a:pathLst>
          </a:custGeom>
          <a:blipFill>
            <a:blip r:embed="rId16"/>
            <a:stretch>
              <a:fillRect l="-4" r="-4"/>
            </a:stretch>
          </a:blipFill>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ppt_x</p:attrName>
                                        </p:attrNameLst>
                                      </p:cBhvr>
                                      <p:tavLst>
                                        <p:tav tm="0">
                                          <p:val>
                                            <p:strVal val="#ppt_x-#ppt_w*1.125000"/>
                                          </p:val>
                                        </p:tav>
                                        <p:tav tm="100000">
                                          <p:val>
                                            <p:strVal val="#ppt_x"/>
                                          </p:val>
                                        </p:tav>
                                      </p:tavLst>
                                    </p:anim>
                                    <p:animEffect transition="in" filter="wipe(right)">
                                      <p:cBhvr>
                                        <p:cTn id="8" dur="500"/>
                                        <p:tgtEl>
                                          <p:spTgt spid="1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p:tgtEl>
                                          <p:spTgt spid="20"/>
                                        </p:tgtEl>
                                        <p:attrNameLst>
                                          <p:attrName>ppt_y</p:attrName>
                                        </p:attrNameLst>
                                      </p:cBhvr>
                                      <p:tavLst>
                                        <p:tav tm="0">
                                          <p:val>
                                            <p:strVal val="#ppt_y+#ppt_h*1.125000"/>
                                          </p:val>
                                        </p:tav>
                                        <p:tav tm="100000">
                                          <p:val>
                                            <p:strVal val="#ppt_y"/>
                                          </p:val>
                                        </p:tav>
                                      </p:tavLst>
                                    </p:anim>
                                    <p:animEffect transition="in" filter="wipe(up)">
                                      <p:cBhvr>
                                        <p:cTn id="12" dur="500"/>
                                        <p:tgtEl>
                                          <p:spTgt spid="20"/>
                                        </p:tgtEl>
                                      </p:cBhvr>
                                    </p:animEffect>
                                  </p:childTnLst>
                                </p:cTn>
                              </p:par>
                              <p:par>
                                <p:cTn id="13" presetID="1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p:tgtEl>
                                          <p:spTgt spid="22"/>
                                        </p:tgtEl>
                                        <p:attrNameLst>
                                          <p:attrName>ppt_y</p:attrName>
                                        </p:attrNameLst>
                                      </p:cBhvr>
                                      <p:tavLst>
                                        <p:tav tm="0">
                                          <p:val>
                                            <p:strVal val="#ppt_y+#ppt_h*1.125000"/>
                                          </p:val>
                                        </p:tav>
                                        <p:tav tm="100000">
                                          <p:val>
                                            <p:strVal val="#ppt_y"/>
                                          </p:val>
                                        </p:tav>
                                      </p:tavLst>
                                    </p:anim>
                                    <p:animEffect transition="in" filter="wipe(up)">
                                      <p:cBhvr>
                                        <p:cTn id="16" dur="500"/>
                                        <p:tgtEl>
                                          <p:spTgt spid="22"/>
                                        </p:tgtEl>
                                      </p:cBhvr>
                                    </p:animEffect>
                                  </p:childTnLst>
                                </p:cTn>
                              </p:par>
                              <p:par>
                                <p:cTn id="17" presetID="1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p:tgtEl>
                                          <p:spTgt spid="23"/>
                                        </p:tgtEl>
                                        <p:attrNameLst>
                                          <p:attrName>ppt_y</p:attrName>
                                        </p:attrNameLst>
                                      </p:cBhvr>
                                      <p:tavLst>
                                        <p:tav tm="0">
                                          <p:val>
                                            <p:strVal val="#ppt_y+#ppt_h*1.125000"/>
                                          </p:val>
                                        </p:tav>
                                        <p:tav tm="100000">
                                          <p:val>
                                            <p:strVal val="#ppt_y"/>
                                          </p:val>
                                        </p:tav>
                                      </p:tavLst>
                                    </p:anim>
                                    <p:animEffect transition="in" filter="wipe(up)">
                                      <p:cBhvr>
                                        <p:cTn id="20" dur="500"/>
                                        <p:tgtEl>
                                          <p:spTgt spid="23"/>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p:tgtEl>
                                          <p:spTgt spid="24"/>
                                        </p:tgtEl>
                                        <p:attrNameLst>
                                          <p:attrName>ppt_y</p:attrName>
                                        </p:attrNameLst>
                                      </p:cBhvr>
                                      <p:tavLst>
                                        <p:tav tm="0">
                                          <p:val>
                                            <p:strVal val="#ppt_y+#ppt_h*1.125000"/>
                                          </p:val>
                                        </p:tav>
                                        <p:tav tm="100000">
                                          <p:val>
                                            <p:strVal val="#ppt_y"/>
                                          </p:val>
                                        </p:tav>
                                      </p:tavLst>
                                    </p:anim>
                                    <p:animEffect transition="in" filter="wipe(up)">
                                      <p:cBhvr>
                                        <p:cTn id="24" dur="500"/>
                                        <p:tgtEl>
                                          <p:spTgt spid="24"/>
                                        </p:tgtEl>
                                      </p:cBhvr>
                                    </p:animEffect>
                                  </p:childTnLst>
                                </p:cTn>
                              </p:par>
                              <p:par>
                                <p:cTn id="25" presetID="12" presetClass="entr" presetSubtype="4"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p:tgtEl>
                                          <p:spTgt spid="26"/>
                                        </p:tgtEl>
                                        <p:attrNameLst>
                                          <p:attrName>ppt_y</p:attrName>
                                        </p:attrNameLst>
                                      </p:cBhvr>
                                      <p:tavLst>
                                        <p:tav tm="0">
                                          <p:val>
                                            <p:strVal val="#ppt_y+#ppt_h*1.125000"/>
                                          </p:val>
                                        </p:tav>
                                        <p:tav tm="100000">
                                          <p:val>
                                            <p:strVal val="#ppt_y"/>
                                          </p:val>
                                        </p:tav>
                                      </p:tavLst>
                                    </p:anim>
                                    <p:animEffect transition="in" filter="wipe(up)">
                                      <p:cBhvr>
                                        <p:cTn id="28" dur="500"/>
                                        <p:tgtEl>
                                          <p:spTgt spid="26"/>
                                        </p:tgtEl>
                                      </p:cBhvr>
                                    </p:animEffect>
                                  </p:childTnLst>
                                </p:cTn>
                              </p:par>
                              <p:par>
                                <p:cTn id="29" presetID="12" presetClass="entr" presetSubtype="4"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p:tgtEl>
                                          <p:spTgt spid="27"/>
                                        </p:tgtEl>
                                        <p:attrNameLst>
                                          <p:attrName>ppt_y</p:attrName>
                                        </p:attrNameLst>
                                      </p:cBhvr>
                                      <p:tavLst>
                                        <p:tav tm="0">
                                          <p:val>
                                            <p:strVal val="#ppt_y+#ppt_h*1.125000"/>
                                          </p:val>
                                        </p:tav>
                                        <p:tav tm="100000">
                                          <p:val>
                                            <p:strVal val="#ppt_y"/>
                                          </p:val>
                                        </p:tav>
                                      </p:tavLst>
                                    </p:anim>
                                    <p:animEffect transition="in" filter="wipe(up)">
                                      <p:cBhvr>
                                        <p:cTn id="32" dur="500"/>
                                        <p:tgtEl>
                                          <p:spTgt spid="27"/>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p:tgtEl>
                                          <p:spTgt spid="28"/>
                                        </p:tgtEl>
                                        <p:attrNameLst>
                                          <p:attrName>ppt_y</p:attrName>
                                        </p:attrNameLst>
                                      </p:cBhvr>
                                      <p:tavLst>
                                        <p:tav tm="0">
                                          <p:val>
                                            <p:strVal val="#ppt_y+#ppt_h*1.125000"/>
                                          </p:val>
                                        </p:tav>
                                        <p:tav tm="100000">
                                          <p:val>
                                            <p:strVal val="#ppt_y"/>
                                          </p:val>
                                        </p:tav>
                                      </p:tavLst>
                                    </p:anim>
                                    <p:animEffect transition="in" filter="wipe(up)">
                                      <p:cBhvr>
                                        <p:cTn id="36" dur="500"/>
                                        <p:tgtEl>
                                          <p:spTgt spid="28"/>
                                        </p:tgtEl>
                                      </p:cBhvr>
                                    </p:animEffect>
                                  </p:childTnLst>
                                </p:cTn>
                              </p:par>
                              <p:par>
                                <p:cTn id="37" presetID="12" presetClass="entr" presetSubtype="4"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500"/>
                                        <p:tgtEl>
                                          <p:spTgt spid="30"/>
                                        </p:tgtEl>
                                        <p:attrNameLst>
                                          <p:attrName>ppt_y</p:attrName>
                                        </p:attrNameLst>
                                      </p:cBhvr>
                                      <p:tavLst>
                                        <p:tav tm="0">
                                          <p:val>
                                            <p:strVal val="#ppt_y+#ppt_h*1.125000"/>
                                          </p:val>
                                        </p:tav>
                                        <p:tav tm="100000">
                                          <p:val>
                                            <p:strVal val="#ppt_y"/>
                                          </p:val>
                                        </p:tav>
                                      </p:tavLst>
                                    </p:anim>
                                    <p:animEffect transition="in" filter="wipe(up)">
                                      <p:cBhvr>
                                        <p:cTn id="40" dur="500"/>
                                        <p:tgtEl>
                                          <p:spTgt spid="30"/>
                                        </p:tgtEl>
                                      </p:cBhvr>
                                    </p:animEffect>
                                  </p:childTnLst>
                                </p:cTn>
                              </p:par>
                              <p:par>
                                <p:cTn id="41" presetID="12" presetClass="entr" presetSubtype="4"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p:tgtEl>
                                          <p:spTgt spid="31"/>
                                        </p:tgtEl>
                                        <p:attrNameLst>
                                          <p:attrName>ppt_y</p:attrName>
                                        </p:attrNameLst>
                                      </p:cBhvr>
                                      <p:tavLst>
                                        <p:tav tm="0">
                                          <p:val>
                                            <p:strVal val="#ppt_y+#ppt_h*1.125000"/>
                                          </p:val>
                                        </p:tav>
                                        <p:tav tm="100000">
                                          <p:val>
                                            <p:strVal val="#ppt_y"/>
                                          </p:val>
                                        </p:tav>
                                      </p:tavLst>
                                    </p:anim>
                                    <p:animEffect transition="in" filter="wipe(up)">
                                      <p:cBhvr>
                                        <p:cTn id="44" dur="500"/>
                                        <p:tgtEl>
                                          <p:spTgt spid="31"/>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500"/>
                                        <p:tgtEl>
                                          <p:spTgt spid="32"/>
                                        </p:tgtEl>
                                        <p:attrNameLst>
                                          <p:attrName>ppt_y</p:attrName>
                                        </p:attrNameLst>
                                      </p:cBhvr>
                                      <p:tavLst>
                                        <p:tav tm="0">
                                          <p:val>
                                            <p:strVal val="#ppt_y+#ppt_h*1.125000"/>
                                          </p:val>
                                        </p:tav>
                                        <p:tav tm="100000">
                                          <p:val>
                                            <p:strVal val="#ppt_y"/>
                                          </p:val>
                                        </p:tav>
                                      </p:tavLst>
                                    </p:anim>
                                    <p:animEffect transition="in" filter="wipe(up)">
                                      <p:cBhvr>
                                        <p:cTn id="48" dur="500"/>
                                        <p:tgtEl>
                                          <p:spTgt spid="32"/>
                                        </p:tgtEl>
                                      </p:cBhvr>
                                    </p:animEffect>
                                  </p:childTnLst>
                                </p:cTn>
                              </p:par>
                              <p:par>
                                <p:cTn id="49" presetID="12" presetClass="entr" presetSubtype="4"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p:tgtEl>
                                          <p:spTgt spid="34"/>
                                        </p:tgtEl>
                                        <p:attrNameLst>
                                          <p:attrName>ppt_y</p:attrName>
                                        </p:attrNameLst>
                                      </p:cBhvr>
                                      <p:tavLst>
                                        <p:tav tm="0">
                                          <p:val>
                                            <p:strVal val="#ppt_y+#ppt_h*1.125000"/>
                                          </p:val>
                                        </p:tav>
                                        <p:tav tm="100000">
                                          <p:val>
                                            <p:strVal val="#ppt_y"/>
                                          </p:val>
                                        </p:tav>
                                      </p:tavLst>
                                    </p:anim>
                                    <p:animEffect transition="in" filter="wipe(up)">
                                      <p:cBhvr>
                                        <p:cTn id="52" dur="500"/>
                                        <p:tgtEl>
                                          <p:spTgt spid="34"/>
                                        </p:tgtEl>
                                      </p:cBhvr>
                                    </p:animEffect>
                                  </p:childTnLst>
                                </p:cTn>
                              </p:par>
                              <p:par>
                                <p:cTn id="53" presetID="12" presetClass="entr" presetSubtype="4"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anim calcmode="lin" valueType="num">
                                      <p:cBhvr additive="base">
                                        <p:cTn id="55" dur="500"/>
                                        <p:tgtEl>
                                          <p:spTgt spid="35"/>
                                        </p:tgtEl>
                                        <p:attrNameLst>
                                          <p:attrName>ppt_y</p:attrName>
                                        </p:attrNameLst>
                                      </p:cBhvr>
                                      <p:tavLst>
                                        <p:tav tm="0">
                                          <p:val>
                                            <p:strVal val="#ppt_y+#ppt_h*1.125000"/>
                                          </p:val>
                                        </p:tav>
                                        <p:tav tm="100000">
                                          <p:val>
                                            <p:strVal val="#ppt_y"/>
                                          </p:val>
                                        </p:tav>
                                      </p:tavLst>
                                    </p:anim>
                                    <p:animEffect transition="in" filter="wipe(up)">
                                      <p:cBhvr>
                                        <p:cTn id="56" dur="500"/>
                                        <p:tgtEl>
                                          <p:spTgt spid="35"/>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additive="base">
                                        <p:cTn id="59" dur="500"/>
                                        <p:tgtEl>
                                          <p:spTgt spid="36"/>
                                        </p:tgtEl>
                                        <p:attrNameLst>
                                          <p:attrName>ppt_y</p:attrName>
                                        </p:attrNameLst>
                                      </p:cBhvr>
                                      <p:tavLst>
                                        <p:tav tm="0">
                                          <p:val>
                                            <p:strVal val="#ppt_y+#ppt_h*1.125000"/>
                                          </p:val>
                                        </p:tav>
                                        <p:tav tm="100000">
                                          <p:val>
                                            <p:strVal val="#ppt_y"/>
                                          </p:val>
                                        </p:tav>
                                      </p:tavLst>
                                    </p:anim>
                                    <p:animEffect transition="in" filter="wipe(up)">
                                      <p:cBhvr>
                                        <p:cTn id="60" dur="500"/>
                                        <p:tgtEl>
                                          <p:spTgt spid="36"/>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 calcmode="lin" valueType="num">
                                      <p:cBhvr additive="base">
                                        <p:cTn id="63" dur="500"/>
                                        <p:tgtEl>
                                          <p:spTgt spid="37"/>
                                        </p:tgtEl>
                                        <p:attrNameLst>
                                          <p:attrName>ppt_y</p:attrName>
                                        </p:attrNameLst>
                                      </p:cBhvr>
                                      <p:tavLst>
                                        <p:tav tm="0">
                                          <p:val>
                                            <p:strVal val="#ppt_y+#ppt_h*1.125000"/>
                                          </p:val>
                                        </p:tav>
                                        <p:tav tm="100000">
                                          <p:val>
                                            <p:strVal val="#ppt_y"/>
                                          </p:val>
                                        </p:tav>
                                      </p:tavLst>
                                    </p:anim>
                                    <p:animEffect transition="in" filter="wipe(up)">
                                      <p:cBhvr>
                                        <p:cTn id="64" dur="500"/>
                                        <p:tgtEl>
                                          <p:spTgt spid="37"/>
                                        </p:tgtEl>
                                      </p:cBhvr>
                                    </p:animEffect>
                                  </p:childTnLst>
                                </p:cTn>
                              </p:par>
                              <p:par>
                                <p:cTn id="65" presetID="12" presetClass="entr" presetSubtype="4"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anim calcmode="lin" valueType="num">
                                      <p:cBhvr additive="base">
                                        <p:cTn id="67" dur="500"/>
                                        <p:tgtEl>
                                          <p:spTgt spid="38"/>
                                        </p:tgtEl>
                                        <p:attrNameLst>
                                          <p:attrName>ppt_y</p:attrName>
                                        </p:attrNameLst>
                                      </p:cBhvr>
                                      <p:tavLst>
                                        <p:tav tm="0">
                                          <p:val>
                                            <p:strVal val="#ppt_y+#ppt_h*1.125000"/>
                                          </p:val>
                                        </p:tav>
                                        <p:tav tm="100000">
                                          <p:val>
                                            <p:strVal val="#ppt_y"/>
                                          </p:val>
                                        </p:tav>
                                      </p:tavLst>
                                    </p:anim>
                                    <p:animEffect transition="in" filter="wipe(up)">
                                      <p:cBhvr>
                                        <p:cTn id="68" dur="500"/>
                                        <p:tgtEl>
                                          <p:spTgt spid="38"/>
                                        </p:tgtEl>
                                      </p:cBhvr>
                                    </p:animEffect>
                                  </p:childTnLst>
                                </p:cTn>
                              </p:par>
                              <p:par>
                                <p:cTn id="69" presetID="12" presetClass="entr" presetSubtype="4" fill="hold" nodeType="withEffect">
                                  <p:stCondLst>
                                    <p:cond delay="0"/>
                                  </p:stCondLst>
                                  <p:childTnLst>
                                    <p:set>
                                      <p:cBhvr>
                                        <p:cTn id="70" dur="1" fill="hold">
                                          <p:stCondLst>
                                            <p:cond delay="0"/>
                                          </p:stCondLst>
                                        </p:cTn>
                                        <p:tgtEl>
                                          <p:spTgt spid="39"/>
                                        </p:tgtEl>
                                        <p:attrNameLst>
                                          <p:attrName>style.visibility</p:attrName>
                                        </p:attrNameLst>
                                      </p:cBhvr>
                                      <p:to>
                                        <p:strVal val="visible"/>
                                      </p:to>
                                    </p:set>
                                    <p:anim calcmode="lin" valueType="num">
                                      <p:cBhvr additive="base">
                                        <p:cTn id="71" dur="500"/>
                                        <p:tgtEl>
                                          <p:spTgt spid="39"/>
                                        </p:tgtEl>
                                        <p:attrNameLst>
                                          <p:attrName>ppt_y</p:attrName>
                                        </p:attrNameLst>
                                      </p:cBhvr>
                                      <p:tavLst>
                                        <p:tav tm="0">
                                          <p:val>
                                            <p:strVal val="#ppt_y+#ppt_h*1.125000"/>
                                          </p:val>
                                        </p:tav>
                                        <p:tav tm="100000">
                                          <p:val>
                                            <p:strVal val="#ppt_y"/>
                                          </p:val>
                                        </p:tav>
                                      </p:tavLst>
                                    </p:anim>
                                    <p:animEffect transition="in" filter="wipe(up)">
                                      <p:cBhvr>
                                        <p:cTn id="72" dur="500"/>
                                        <p:tgtEl>
                                          <p:spTgt spid="39"/>
                                        </p:tgtEl>
                                      </p:cBhvr>
                                    </p:animEffect>
                                  </p:childTnLst>
                                </p:cTn>
                              </p:par>
                              <p:par>
                                <p:cTn id="73" presetID="12" presetClass="entr" presetSubtype="4" fill="hold" nodeType="withEffect">
                                  <p:stCondLst>
                                    <p:cond delay="0"/>
                                  </p:stCondLst>
                                  <p:childTnLst>
                                    <p:set>
                                      <p:cBhvr>
                                        <p:cTn id="74" dur="1" fill="hold">
                                          <p:stCondLst>
                                            <p:cond delay="0"/>
                                          </p:stCondLst>
                                        </p:cTn>
                                        <p:tgtEl>
                                          <p:spTgt spid="42"/>
                                        </p:tgtEl>
                                        <p:attrNameLst>
                                          <p:attrName>style.visibility</p:attrName>
                                        </p:attrNameLst>
                                      </p:cBhvr>
                                      <p:to>
                                        <p:strVal val="visible"/>
                                      </p:to>
                                    </p:set>
                                    <p:anim calcmode="lin" valueType="num">
                                      <p:cBhvr additive="base">
                                        <p:cTn id="75" dur="500"/>
                                        <p:tgtEl>
                                          <p:spTgt spid="42"/>
                                        </p:tgtEl>
                                        <p:attrNameLst>
                                          <p:attrName>ppt_y</p:attrName>
                                        </p:attrNameLst>
                                      </p:cBhvr>
                                      <p:tavLst>
                                        <p:tav tm="0">
                                          <p:val>
                                            <p:strVal val="#ppt_y+#ppt_h*1.125000"/>
                                          </p:val>
                                        </p:tav>
                                        <p:tav tm="100000">
                                          <p:val>
                                            <p:strVal val="#ppt_y"/>
                                          </p:val>
                                        </p:tav>
                                      </p:tavLst>
                                    </p:anim>
                                    <p:animEffect transition="in" filter="wipe(up)">
                                      <p:cBhvr>
                                        <p:cTn id="76" dur="500"/>
                                        <p:tgtEl>
                                          <p:spTgt spid="42"/>
                                        </p:tgtEl>
                                      </p:cBhvr>
                                    </p:animEffect>
                                  </p:childTnLst>
                                </p:cTn>
                              </p:par>
                              <p:par>
                                <p:cTn id="77" presetID="12" presetClass="entr" presetSubtype="4" fill="hold" nodeType="withEffect">
                                  <p:stCondLst>
                                    <p:cond delay="0"/>
                                  </p:stCondLst>
                                  <p:childTnLst>
                                    <p:set>
                                      <p:cBhvr>
                                        <p:cTn id="78" dur="1" fill="hold">
                                          <p:stCondLst>
                                            <p:cond delay="0"/>
                                          </p:stCondLst>
                                        </p:cTn>
                                        <p:tgtEl>
                                          <p:spTgt spid="43"/>
                                        </p:tgtEl>
                                        <p:attrNameLst>
                                          <p:attrName>style.visibility</p:attrName>
                                        </p:attrNameLst>
                                      </p:cBhvr>
                                      <p:to>
                                        <p:strVal val="visible"/>
                                      </p:to>
                                    </p:set>
                                    <p:anim calcmode="lin" valueType="num">
                                      <p:cBhvr additive="base">
                                        <p:cTn id="79" dur="500"/>
                                        <p:tgtEl>
                                          <p:spTgt spid="43"/>
                                        </p:tgtEl>
                                        <p:attrNameLst>
                                          <p:attrName>ppt_y</p:attrName>
                                        </p:attrNameLst>
                                      </p:cBhvr>
                                      <p:tavLst>
                                        <p:tav tm="0">
                                          <p:val>
                                            <p:strVal val="#ppt_y+#ppt_h*1.125000"/>
                                          </p:val>
                                        </p:tav>
                                        <p:tav tm="100000">
                                          <p:val>
                                            <p:strVal val="#ppt_y"/>
                                          </p:val>
                                        </p:tav>
                                      </p:tavLst>
                                    </p:anim>
                                    <p:animEffect transition="in" filter="wipe(up)">
                                      <p:cBhvr>
                                        <p:cTn id="80" dur="500"/>
                                        <p:tgtEl>
                                          <p:spTgt spid="43"/>
                                        </p:tgtEl>
                                      </p:cBhvr>
                                    </p:animEffect>
                                  </p:childTnLst>
                                </p:cTn>
                              </p:par>
                              <p:par>
                                <p:cTn id="81" presetID="1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p:tgtEl>
                                          <p:spTgt spid="25"/>
                                        </p:tgtEl>
                                        <p:attrNameLst>
                                          <p:attrName>ppt_y</p:attrName>
                                        </p:attrNameLst>
                                      </p:cBhvr>
                                      <p:tavLst>
                                        <p:tav tm="0">
                                          <p:val>
                                            <p:strVal val="#ppt_y+#ppt_h*1.125000"/>
                                          </p:val>
                                        </p:tav>
                                        <p:tav tm="100000">
                                          <p:val>
                                            <p:strVal val="#ppt_y"/>
                                          </p:val>
                                        </p:tav>
                                      </p:tavLst>
                                    </p:anim>
                                    <p:animEffect transition="in" filter="wipe(up)">
                                      <p:cBhvr>
                                        <p:cTn id="84" dur="500"/>
                                        <p:tgtEl>
                                          <p:spTgt spid="25"/>
                                        </p:tgtEl>
                                      </p:cBhvr>
                                    </p:animEffect>
                                  </p:childTnLst>
                                </p:cTn>
                              </p:par>
                              <p:par>
                                <p:cTn id="85" presetID="12" presetClass="entr" presetSubtype="4"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 calcmode="lin" valueType="num">
                                      <p:cBhvr additive="base">
                                        <p:cTn id="87" dur="500"/>
                                        <p:tgtEl>
                                          <p:spTgt spid="29"/>
                                        </p:tgtEl>
                                        <p:attrNameLst>
                                          <p:attrName>ppt_y</p:attrName>
                                        </p:attrNameLst>
                                      </p:cBhvr>
                                      <p:tavLst>
                                        <p:tav tm="0">
                                          <p:val>
                                            <p:strVal val="#ppt_y+#ppt_h*1.125000"/>
                                          </p:val>
                                        </p:tav>
                                        <p:tav tm="100000">
                                          <p:val>
                                            <p:strVal val="#ppt_y"/>
                                          </p:val>
                                        </p:tav>
                                      </p:tavLst>
                                    </p:anim>
                                    <p:animEffect transition="in" filter="wipe(up)">
                                      <p:cBhvr>
                                        <p:cTn id="88" dur="500"/>
                                        <p:tgtEl>
                                          <p:spTgt spid="29"/>
                                        </p:tgtEl>
                                      </p:cBhvr>
                                    </p:animEffect>
                                  </p:childTnLst>
                                </p:cTn>
                              </p:par>
                              <p:par>
                                <p:cTn id="89" presetID="12" presetClass="entr" presetSubtype="4" fill="hold" grpId="0" nodeType="withEffect">
                                  <p:stCondLst>
                                    <p:cond delay="0"/>
                                  </p:stCondLst>
                                  <p:childTnLst>
                                    <p:set>
                                      <p:cBhvr>
                                        <p:cTn id="90" dur="1" fill="hold">
                                          <p:stCondLst>
                                            <p:cond delay="0"/>
                                          </p:stCondLst>
                                        </p:cTn>
                                        <p:tgtEl>
                                          <p:spTgt spid="41"/>
                                        </p:tgtEl>
                                        <p:attrNameLst>
                                          <p:attrName>style.visibility</p:attrName>
                                        </p:attrNameLst>
                                      </p:cBhvr>
                                      <p:to>
                                        <p:strVal val="visible"/>
                                      </p:to>
                                    </p:set>
                                    <p:anim calcmode="lin" valueType="num">
                                      <p:cBhvr additive="base">
                                        <p:cTn id="91" dur="500"/>
                                        <p:tgtEl>
                                          <p:spTgt spid="41"/>
                                        </p:tgtEl>
                                        <p:attrNameLst>
                                          <p:attrName>ppt_y</p:attrName>
                                        </p:attrNameLst>
                                      </p:cBhvr>
                                      <p:tavLst>
                                        <p:tav tm="0">
                                          <p:val>
                                            <p:strVal val="#ppt_y+#ppt_h*1.125000"/>
                                          </p:val>
                                        </p:tav>
                                        <p:tav tm="100000">
                                          <p:val>
                                            <p:strVal val="#ppt_y"/>
                                          </p:val>
                                        </p:tav>
                                      </p:tavLst>
                                    </p:anim>
                                    <p:animEffect transition="in" filter="wipe(up)">
                                      <p:cBhvr>
                                        <p:cTn id="92" dur="500"/>
                                        <p:tgtEl>
                                          <p:spTgt spid="41"/>
                                        </p:tgtEl>
                                      </p:cBhvr>
                                    </p:animEffect>
                                  </p:childTnLst>
                                </p:cTn>
                              </p:par>
                              <p:par>
                                <p:cTn id="93" presetID="12" presetClass="entr" presetSubtype="4"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 calcmode="lin" valueType="num">
                                      <p:cBhvr additive="base">
                                        <p:cTn id="95" dur="500"/>
                                        <p:tgtEl>
                                          <p:spTgt spid="40"/>
                                        </p:tgtEl>
                                        <p:attrNameLst>
                                          <p:attrName>ppt_y</p:attrName>
                                        </p:attrNameLst>
                                      </p:cBhvr>
                                      <p:tavLst>
                                        <p:tav tm="0">
                                          <p:val>
                                            <p:strVal val="#ppt_y+#ppt_h*1.125000"/>
                                          </p:val>
                                        </p:tav>
                                        <p:tav tm="100000">
                                          <p:val>
                                            <p:strVal val="#ppt_y"/>
                                          </p:val>
                                        </p:tav>
                                      </p:tavLst>
                                    </p:anim>
                                    <p:animEffect transition="in" filter="wipe(up)">
                                      <p:cBhvr>
                                        <p:cTn id="96" dur="500"/>
                                        <p:tgtEl>
                                          <p:spTgt spid="40"/>
                                        </p:tgtEl>
                                      </p:cBhvr>
                                    </p:animEffect>
                                  </p:childTnLst>
                                </p:cTn>
                              </p:par>
                              <p:par>
                                <p:cTn id="97" presetID="12" presetClass="entr" presetSubtype="4"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 calcmode="lin" valueType="num">
                                      <p:cBhvr additive="base">
                                        <p:cTn id="99" dur="500"/>
                                        <p:tgtEl>
                                          <p:spTgt spid="21"/>
                                        </p:tgtEl>
                                        <p:attrNameLst>
                                          <p:attrName>ppt_y</p:attrName>
                                        </p:attrNameLst>
                                      </p:cBhvr>
                                      <p:tavLst>
                                        <p:tav tm="0">
                                          <p:val>
                                            <p:strVal val="#ppt_y+#ppt_h*1.125000"/>
                                          </p:val>
                                        </p:tav>
                                        <p:tav tm="100000">
                                          <p:val>
                                            <p:strVal val="#ppt_y"/>
                                          </p:val>
                                        </p:tav>
                                      </p:tavLst>
                                    </p:anim>
                                    <p:animEffect transition="in" filter="wipe(up)">
                                      <p:cBhvr>
                                        <p:cTn id="100" dur="500"/>
                                        <p:tgtEl>
                                          <p:spTgt spid="21"/>
                                        </p:tgtEl>
                                      </p:cBhvr>
                                    </p:animEffect>
                                  </p:childTnLst>
                                </p:cTn>
                              </p:par>
                              <p:par>
                                <p:cTn id="101" presetID="12" presetClass="entr" presetSubtype="4"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 calcmode="lin" valueType="num">
                                      <p:cBhvr additive="base">
                                        <p:cTn id="103" dur="500"/>
                                        <p:tgtEl>
                                          <p:spTgt spid="33"/>
                                        </p:tgtEl>
                                        <p:attrNameLst>
                                          <p:attrName>ppt_y</p:attrName>
                                        </p:attrNameLst>
                                      </p:cBhvr>
                                      <p:tavLst>
                                        <p:tav tm="0">
                                          <p:val>
                                            <p:strVal val="#ppt_y+#ppt_h*1.125000"/>
                                          </p:val>
                                        </p:tav>
                                        <p:tav tm="100000">
                                          <p:val>
                                            <p:strVal val="#ppt_y"/>
                                          </p:val>
                                        </p:tav>
                                      </p:tavLst>
                                    </p:anim>
                                    <p:animEffect transition="in" filter="wipe(up)">
                                      <p:cBhvr>
                                        <p:cTn id="10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P spid="24" grpId="0"/>
      <p:bldP spid="25" grpId="0"/>
      <p:bldP spid="28" grpId="0"/>
      <p:bldP spid="29" grpId="0"/>
      <p:bldP spid="32" grpId="0"/>
      <p:bldP spid="33" grpId="0"/>
      <p:bldP spid="36" grpId="0"/>
      <p:bldP spid="37" grpId="0"/>
      <p:bldP spid="40" grpId="0"/>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310915" y="423242"/>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310915" y="515345"/>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5958642" y="375281"/>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9" name="TextBox 9"/>
          <p:cNvSpPr txBox="1"/>
          <p:nvPr/>
        </p:nvSpPr>
        <p:spPr>
          <a:xfrm>
            <a:off x="14402845" y="375281"/>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0" name="TextBox 10"/>
          <p:cNvSpPr txBox="1"/>
          <p:nvPr/>
        </p:nvSpPr>
        <p:spPr>
          <a:xfrm>
            <a:off x="13172088" y="375281"/>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11" name="TextBox 11"/>
          <p:cNvSpPr txBox="1"/>
          <p:nvPr/>
        </p:nvSpPr>
        <p:spPr>
          <a:xfrm>
            <a:off x="11916329" y="375281"/>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12" name="Group 12"/>
          <p:cNvGrpSpPr/>
          <p:nvPr/>
        </p:nvGrpSpPr>
        <p:grpSpPr>
          <a:xfrm>
            <a:off x="17760014" y="7375563"/>
            <a:ext cx="47625" cy="1740345"/>
            <a:chOff x="0" y="0"/>
            <a:chExt cx="12543" cy="458362"/>
          </a:xfrm>
        </p:grpSpPr>
        <p:sp>
          <p:nvSpPr>
            <p:cNvPr id="13" name="Freeform 13"/>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4" name="TextBox 14"/>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7510094" y="9425721"/>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05</a:t>
            </a:r>
          </a:p>
        </p:txBody>
      </p:sp>
      <p:sp>
        <p:nvSpPr>
          <p:cNvPr id="16" name="Freeform 16" descr="preencoded.png"/>
          <p:cNvSpPr/>
          <p:nvPr/>
        </p:nvSpPr>
        <p:spPr>
          <a:xfrm>
            <a:off x="338396" y="247984"/>
            <a:ext cx="563718" cy="563718"/>
          </a:xfrm>
          <a:custGeom>
            <a:avLst/>
            <a:gdLst/>
            <a:ahLst/>
            <a:cxnLst/>
            <a:rect l="l" t="t" r="r" b="b"/>
            <a:pathLst>
              <a:path w="563718" h="563718">
                <a:moveTo>
                  <a:pt x="0" y="0"/>
                </a:moveTo>
                <a:lnTo>
                  <a:pt x="563718" y="0"/>
                </a:lnTo>
                <a:lnTo>
                  <a:pt x="563718" y="563718"/>
                </a:lnTo>
                <a:lnTo>
                  <a:pt x="0" y="563718"/>
                </a:lnTo>
                <a:lnTo>
                  <a:pt x="0" y="0"/>
                </a:lnTo>
                <a:close/>
              </a:path>
            </a:pathLst>
          </a:custGeom>
          <a:blipFill>
            <a:blip r:embed="rId3"/>
            <a:stretch>
              <a:fillRect/>
            </a:stretch>
          </a:blipFill>
        </p:spPr>
      </p:sp>
      <p:sp>
        <p:nvSpPr>
          <p:cNvPr id="17" name="TextBox 17"/>
          <p:cNvSpPr txBox="1"/>
          <p:nvPr/>
        </p:nvSpPr>
        <p:spPr>
          <a:xfrm>
            <a:off x="1056907" y="365756"/>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sp>
        <p:nvSpPr>
          <p:cNvPr id="18" name="Freeform 18"/>
          <p:cNvSpPr/>
          <p:nvPr/>
        </p:nvSpPr>
        <p:spPr>
          <a:xfrm>
            <a:off x="-11071735" y="-1449311"/>
            <a:ext cx="11600207" cy="11009651"/>
          </a:xfrm>
          <a:custGeom>
            <a:avLst/>
            <a:gdLst/>
            <a:ahLst/>
            <a:cxnLst/>
            <a:rect l="l" t="t" r="r" b="b"/>
            <a:pathLst>
              <a:path w="11600207" h="11009651">
                <a:moveTo>
                  <a:pt x="0" y="0"/>
                </a:moveTo>
                <a:lnTo>
                  <a:pt x="11600207" y="0"/>
                </a:lnTo>
                <a:lnTo>
                  <a:pt x="11600207" y="11009652"/>
                </a:lnTo>
                <a:lnTo>
                  <a:pt x="0" y="11009652"/>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sp>
      <p:sp>
        <p:nvSpPr>
          <p:cNvPr id="19" name="Freeform 19"/>
          <p:cNvSpPr/>
          <p:nvPr/>
        </p:nvSpPr>
        <p:spPr>
          <a:xfrm>
            <a:off x="747547" y="1595949"/>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Freeform 20"/>
          <p:cNvSpPr/>
          <p:nvPr/>
        </p:nvSpPr>
        <p:spPr>
          <a:xfrm>
            <a:off x="276194" y="137537"/>
            <a:ext cx="3783955" cy="3783955"/>
          </a:xfrm>
          <a:custGeom>
            <a:avLst/>
            <a:gdLst/>
            <a:ahLst/>
            <a:cxnLst/>
            <a:rect l="l" t="t" r="r" b="b"/>
            <a:pathLst>
              <a:path w="3783955" h="3783955">
                <a:moveTo>
                  <a:pt x="0" y="0"/>
                </a:moveTo>
                <a:lnTo>
                  <a:pt x="3783955" y="0"/>
                </a:lnTo>
                <a:lnTo>
                  <a:pt x="3783955" y="3783955"/>
                </a:lnTo>
                <a:lnTo>
                  <a:pt x="0" y="37839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1" name="Freeform 21"/>
          <p:cNvSpPr/>
          <p:nvPr/>
        </p:nvSpPr>
        <p:spPr>
          <a:xfrm>
            <a:off x="6938962" y="-114726"/>
            <a:ext cx="14377504" cy="10287000"/>
          </a:xfrm>
          <a:custGeom>
            <a:avLst/>
            <a:gdLst/>
            <a:ahLst/>
            <a:cxnLst/>
            <a:rect l="l" t="t" r="r" b="b"/>
            <a:pathLst>
              <a:path w="14377504" h="10287000">
                <a:moveTo>
                  <a:pt x="0" y="0"/>
                </a:moveTo>
                <a:lnTo>
                  <a:pt x="14377504" y="0"/>
                </a:lnTo>
                <a:lnTo>
                  <a:pt x="14377504" y="10287000"/>
                </a:lnTo>
                <a:lnTo>
                  <a:pt x="0" y="10287000"/>
                </a:lnTo>
                <a:lnTo>
                  <a:pt x="0" y="0"/>
                </a:lnTo>
                <a:close/>
              </a:path>
            </a:pathLst>
          </a:custGeom>
          <a:blipFill>
            <a:blip r:embed="rId8">
              <a:alphaModFix amt="17000"/>
            </a:blip>
            <a:stretch>
              <a:fillRect t="-19881" b="-19881"/>
            </a:stretch>
          </a:blipFill>
        </p:spPr>
      </p:sp>
      <p:grpSp>
        <p:nvGrpSpPr>
          <p:cNvPr id="22" name="Group 22"/>
          <p:cNvGrpSpPr/>
          <p:nvPr/>
        </p:nvGrpSpPr>
        <p:grpSpPr>
          <a:xfrm>
            <a:off x="1207178" y="4841327"/>
            <a:ext cx="2073713" cy="2193752"/>
            <a:chOff x="0" y="0"/>
            <a:chExt cx="2129148" cy="2252396"/>
          </a:xfrm>
        </p:grpSpPr>
        <p:sp>
          <p:nvSpPr>
            <p:cNvPr id="23" name="Freeform 23"/>
            <p:cNvSpPr/>
            <p:nvPr/>
          </p:nvSpPr>
          <p:spPr>
            <a:xfrm>
              <a:off x="0" y="0"/>
              <a:ext cx="2129148" cy="2252396"/>
            </a:xfrm>
            <a:custGeom>
              <a:avLst/>
              <a:gdLst/>
              <a:ahLst/>
              <a:cxnLst/>
              <a:rect l="l" t="t" r="r" b="b"/>
              <a:pathLst>
                <a:path w="2129148" h="2252396">
                  <a:moveTo>
                    <a:pt x="0" y="0"/>
                  </a:moveTo>
                  <a:lnTo>
                    <a:pt x="2129148" y="0"/>
                  </a:lnTo>
                  <a:lnTo>
                    <a:pt x="2129148" y="2252396"/>
                  </a:lnTo>
                  <a:lnTo>
                    <a:pt x="0" y="2252396"/>
                  </a:lnTo>
                  <a:close/>
                </a:path>
              </a:pathLst>
            </a:custGeom>
            <a:gradFill rotWithShape="1">
              <a:gsLst>
                <a:gs pos="0">
                  <a:srgbClr val="2CEEFF">
                    <a:alpha val="100000"/>
                  </a:srgbClr>
                </a:gs>
                <a:gs pos="100000">
                  <a:srgbClr val="0039A6">
                    <a:alpha val="100000"/>
                  </a:srgbClr>
                </a:gs>
              </a:gsLst>
              <a:lin ang="2700000"/>
            </a:gradFill>
          </p:spPr>
        </p:sp>
        <p:sp>
          <p:nvSpPr>
            <p:cNvPr id="24" name="TextBox 24"/>
            <p:cNvSpPr txBox="1"/>
            <p:nvPr/>
          </p:nvSpPr>
          <p:spPr>
            <a:xfrm>
              <a:off x="0" y="-38100"/>
              <a:ext cx="2129148" cy="2290496"/>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4619278" y="4831802"/>
            <a:ext cx="2073713" cy="2193752"/>
            <a:chOff x="0" y="0"/>
            <a:chExt cx="2129148" cy="2252396"/>
          </a:xfrm>
        </p:grpSpPr>
        <p:sp>
          <p:nvSpPr>
            <p:cNvPr id="26" name="Freeform 26"/>
            <p:cNvSpPr/>
            <p:nvPr/>
          </p:nvSpPr>
          <p:spPr>
            <a:xfrm>
              <a:off x="0" y="0"/>
              <a:ext cx="2129148" cy="2252396"/>
            </a:xfrm>
            <a:custGeom>
              <a:avLst/>
              <a:gdLst/>
              <a:ahLst/>
              <a:cxnLst/>
              <a:rect l="l" t="t" r="r" b="b"/>
              <a:pathLst>
                <a:path w="2129148" h="2252396">
                  <a:moveTo>
                    <a:pt x="0" y="0"/>
                  </a:moveTo>
                  <a:lnTo>
                    <a:pt x="2129148" y="0"/>
                  </a:lnTo>
                  <a:lnTo>
                    <a:pt x="2129148" y="2252396"/>
                  </a:lnTo>
                  <a:lnTo>
                    <a:pt x="0" y="2252396"/>
                  </a:lnTo>
                  <a:close/>
                </a:path>
              </a:pathLst>
            </a:custGeom>
            <a:gradFill rotWithShape="1">
              <a:gsLst>
                <a:gs pos="0">
                  <a:srgbClr val="2CEEFF">
                    <a:alpha val="100000"/>
                  </a:srgbClr>
                </a:gs>
                <a:gs pos="100000">
                  <a:srgbClr val="0039A6">
                    <a:alpha val="100000"/>
                  </a:srgbClr>
                </a:gs>
              </a:gsLst>
              <a:lin ang="2700000"/>
            </a:gradFill>
          </p:spPr>
        </p:sp>
        <p:sp>
          <p:nvSpPr>
            <p:cNvPr id="27" name="TextBox 27"/>
            <p:cNvSpPr txBox="1"/>
            <p:nvPr/>
          </p:nvSpPr>
          <p:spPr>
            <a:xfrm>
              <a:off x="0" y="-38100"/>
              <a:ext cx="2129148" cy="2290496"/>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8027135" y="4841327"/>
            <a:ext cx="2073713" cy="2193752"/>
            <a:chOff x="0" y="0"/>
            <a:chExt cx="2129148" cy="2252396"/>
          </a:xfrm>
        </p:grpSpPr>
        <p:sp>
          <p:nvSpPr>
            <p:cNvPr id="29" name="Freeform 29"/>
            <p:cNvSpPr/>
            <p:nvPr/>
          </p:nvSpPr>
          <p:spPr>
            <a:xfrm>
              <a:off x="0" y="0"/>
              <a:ext cx="2129148" cy="2252396"/>
            </a:xfrm>
            <a:custGeom>
              <a:avLst/>
              <a:gdLst/>
              <a:ahLst/>
              <a:cxnLst/>
              <a:rect l="l" t="t" r="r" b="b"/>
              <a:pathLst>
                <a:path w="2129148" h="2252396">
                  <a:moveTo>
                    <a:pt x="0" y="0"/>
                  </a:moveTo>
                  <a:lnTo>
                    <a:pt x="2129148" y="0"/>
                  </a:lnTo>
                  <a:lnTo>
                    <a:pt x="2129148" y="2252396"/>
                  </a:lnTo>
                  <a:lnTo>
                    <a:pt x="0" y="2252396"/>
                  </a:lnTo>
                  <a:close/>
                </a:path>
              </a:pathLst>
            </a:custGeom>
            <a:gradFill rotWithShape="1">
              <a:gsLst>
                <a:gs pos="0">
                  <a:srgbClr val="2CEEFF">
                    <a:alpha val="100000"/>
                  </a:srgbClr>
                </a:gs>
                <a:gs pos="100000">
                  <a:srgbClr val="0039A6">
                    <a:alpha val="100000"/>
                  </a:srgbClr>
                </a:gs>
              </a:gsLst>
              <a:lin ang="2700000"/>
            </a:gradFill>
          </p:spPr>
        </p:sp>
        <p:sp>
          <p:nvSpPr>
            <p:cNvPr id="30" name="TextBox 30"/>
            <p:cNvSpPr txBox="1"/>
            <p:nvPr/>
          </p:nvSpPr>
          <p:spPr>
            <a:xfrm>
              <a:off x="0" y="-38100"/>
              <a:ext cx="2129148" cy="2290496"/>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1439235" y="4841327"/>
            <a:ext cx="2073713" cy="2193752"/>
            <a:chOff x="0" y="0"/>
            <a:chExt cx="2129148" cy="2252396"/>
          </a:xfrm>
        </p:grpSpPr>
        <p:sp>
          <p:nvSpPr>
            <p:cNvPr id="32" name="Freeform 32"/>
            <p:cNvSpPr/>
            <p:nvPr/>
          </p:nvSpPr>
          <p:spPr>
            <a:xfrm>
              <a:off x="0" y="0"/>
              <a:ext cx="2129148" cy="2252396"/>
            </a:xfrm>
            <a:custGeom>
              <a:avLst/>
              <a:gdLst/>
              <a:ahLst/>
              <a:cxnLst/>
              <a:rect l="l" t="t" r="r" b="b"/>
              <a:pathLst>
                <a:path w="2129148" h="2252396">
                  <a:moveTo>
                    <a:pt x="0" y="0"/>
                  </a:moveTo>
                  <a:lnTo>
                    <a:pt x="2129148" y="0"/>
                  </a:lnTo>
                  <a:lnTo>
                    <a:pt x="2129148" y="2252396"/>
                  </a:lnTo>
                  <a:lnTo>
                    <a:pt x="0" y="2252396"/>
                  </a:lnTo>
                  <a:close/>
                </a:path>
              </a:pathLst>
            </a:custGeom>
            <a:gradFill rotWithShape="1">
              <a:gsLst>
                <a:gs pos="0">
                  <a:srgbClr val="2CEEFF">
                    <a:alpha val="100000"/>
                  </a:srgbClr>
                </a:gs>
                <a:gs pos="100000">
                  <a:srgbClr val="0039A6">
                    <a:alpha val="100000"/>
                  </a:srgbClr>
                </a:gs>
              </a:gsLst>
              <a:lin ang="2700000"/>
            </a:gradFill>
          </p:spPr>
        </p:sp>
        <p:sp>
          <p:nvSpPr>
            <p:cNvPr id="33" name="TextBox 33"/>
            <p:cNvSpPr txBox="1"/>
            <p:nvPr/>
          </p:nvSpPr>
          <p:spPr>
            <a:xfrm>
              <a:off x="0" y="-38100"/>
              <a:ext cx="2129148" cy="2290496"/>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14863389" y="4841327"/>
            <a:ext cx="2073713" cy="2193752"/>
            <a:chOff x="0" y="0"/>
            <a:chExt cx="2129148" cy="2252396"/>
          </a:xfrm>
        </p:grpSpPr>
        <p:sp>
          <p:nvSpPr>
            <p:cNvPr id="35" name="Freeform 35"/>
            <p:cNvSpPr/>
            <p:nvPr/>
          </p:nvSpPr>
          <p:spPr>
            <a:xfrm>
              <a:off x="0" y="0"/>
              <a:ext cx="2129148" cy="2252396"/>
            </a:xfrm>
            <a:custGeom>
              <a:avLst/>
              <a:gdLst/>
              <a:ahLst/>
              <a:cxnLst/>
              <a:rect l="l" t="t" r="r" b="b"/>
              <a:pathLst>
                <a:path w="2129148" h="2252396">
                  <a:moveTo>
                    <a:pt x="0" y="0"/>
                  </a:moveTo>
                  <a:lnTo>
                    <a:pt x="2129148" y="0"/>
                  </a:lnTo>
                  <a:lnTo>
                    <a:pt x="2129148" y="2252396"/>
                  </a:lnTo>
                  <a:lnTo>
                    <a:pt x="0" y="2252396"/>
                  </a:lnTo>
                  <a:close/>
                </a:path>
              </a:pathLst>
            </a:custGeom>
            <a:gradFill rotWithShape="1">
              <a:gsLst>
                <a:gs pos="0">
                  <a:srgbClr val="2CEEFF">
                    <a:alpha val="100000"/>
                  </a:srgbClr>
                </a:gs>
                <a:gs pos="100000">
                  <a:srgbClr val="0039A6">
                    <a:alpha val="100000"/>
                  </a:srgbClr>
                </a:gs>
              </a:gsLst>
              <a:lin ang="2700000"/>
            </a:gradFill>
          </p:spPr>
        </p:sp>
        <p:sp>
          <p:nvSpPr>
            <p:cNvPr id="36" name="TextBox 36"/>
            <p:cNvSpPr txBox="1"/>
            <p:nvPr/>
          </p:nvSpPr>
          <p:spPr>
            <a:xfrm>
              <a:off x="0" y="-38100"/>
              <a:ext cx="2129148" cy="2290496"/>
            </a:xfrm>
            <a:prstGeom prst="rect">
              <a:avLst/>
            </a:prstGeom>
          </p:spPr>
          <p:txBody>
            <a:bodyPr lIns="50800" tIns="50800" rIns="50800" bIns="50800" rtlCol="0" anchor="ctr"/>
            <a:lstStyle/>
            <a:p>
              <a:pPr algn="ctr">
                <a:lnSpc>
                  <a:spcPts val="2659"/>
                </a:lnSpc>
              </a:pPr>
              <a:endParaRPr/>
            </a:p>
          </p:txBody>
        </p:sp>
      </p:grpSp>
      <p:grpSp>
        <p:nvGrpSpPr>
          <p:cNvPr id="37" name="Group 37"/>
          <p:cNvGrpSpPr/>
          <p:nvPr/>
        </p:nvGrpSpPr>
        <p:grpSpPr>
          <a:xfrm>
            <a:off x="3280891" y="5210134"/>
            <a:ext cx="1338388" cy="1462257"/>
            <a:chOff x="0" y="0"/>
            <a:chExt cx="743947" cy="812800"/>
          </a:xfrm>
        </p:grpSpPr>
        <p:sp>
          <p:nvSpPr>
            <p:cNvPr id="38" name="Freeform 38"/>
            <p:cNvSpPr/>
            <p:nvPr/>
          </p:nvSpPr>
          <p:spPr>
            <a:xfrm>
              <a:off x="0" y="0"/>
              <a:ext cx="743947" cy="812800"/>
            </a:xfrm>
            <a:custGeom>
              <a:avLst/>
              <a:gdLst/>
              <a:ahLst/>
              <a:cxnLst/>
              <a:rect l="l" t="t" r="r" b="b"/>
              <a:pathLst>
                <a:path w="743947" h="812800">
                  <a:moveTo>
                    <a:pt x="743947" y="406400"/>
                  </a:moveTo>
                  <a:lnTo>
                    <a:pt x="337547" y="0"/>
                  </a:lnTo>
                  <a:lnTo>
                    <a:pt x="337547" y="203200"/>
                  </a:lnTo>
                  <a:lnTo>
                    <a:pt x="0" y="203200"/>
                  </a:lnTo>
                  <a:lnTo>
                    <a:pt x="0" y="609600"/>
                  </a:lnTo>
                  <a:lnTo>
                    <a:pt x="337547" y="609600"/>
                  </a:lnTo>
                  <a:lnTo>
                    <a:pt x="337547" y="812800"/>
                  </a:lnTo>
                  <a:lnTo>
                    <a:pt x="743947" y="406400"/>
                  </a:lnTo>
                  <a:close/>
                </a:path>
              </a:pathLst>
            </a:custGeom>
            <a:solidFill>
              <a:srgbClr val="104D87"/>
            </a:solidFill>
          </p:spPr>
        </p:sp>
        <p:sp>
          <p:nvSpPr>
            <p:cNvPr id="39" name="TextBox 39"/>
            <p:cNvSpPr txBox="1"/>
            <p:nvPr/>
          </p:nvSpPr>
          <p:spPr>
            <a:xfrm>
              <a:off x="0" y="165100"/>
              <a:ext cx="642347" cy="444500"/>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1498935" y="5537391"/>
            <a:ext cx="1490199" cy="744474"/>
          </a:xfrm>
          <a:prstGeom prst="rect">
            <a:avLst/>
          </a:prstGeom>
        </p:spPr>
        <p:txBody>
          <a:bodyPr lIns="0" tIns="0" rIns="0" bIns="0" rtlCol="0" anchor="t">
            <a:spAutoFit/>
          </a:bodyPr>
          <a:lstStyle/>
          <a:p>
            <a:pPr algn="ctr">
              <a:lnSpc>
                <a:spcPts val="3065"/>
              </a:lnSpc>
              <a:spcBef>
                <a:spcPct val="0"/>
              </a:spcBef>
            </a:pPr>
            <a:r>
              <a:rPr lang="en-US" sz="2190" b="1">
                <a:solidFill>
                  <a:srgbClr val="FFFFFF"/>
                </a:solidFill>
                <a:latin typeface="Open Sans Bold"/>
                <a:ea typeface="Open Sans Bold"/>
                <a:cs typeface="Open Sans Bold"/>
                <a:sym typeface="Open Sans Bold"/>
              </a:rPr>
              <a:t>Kết nối với Internet</a:t>
            </a:r>
          </a:p>
        </p:txBody>
      </p:sp>
      <p:sp>
        <p:nvSpPr>
          <p:cNvPr id="41" name="TextBox 41"/>
          <p:cNvSpPr txBox="1"/>
          <p:nvPr/>
        </p:nvSpPr>
        <p:spPr>
          <a:xfrm>
            <a:off x="4814023" y="5165916"/>
            <a:ext cx="1684224" cy="1506474"/>
          </a:xfrm>
          <a:prstGeom prst="rect">
            <a:avLst/>
          </a:prstGeom>
        </p:spPr>
        <p:txBody>
          <a:bodyPr lIns="0" tIns="0" rIns="0" bIns="0" rtlCol="0" anchor="t">
            <a:spAutoFit/>
          </a:bodyPr>
          <a:lstStyle/>
          <a:p>
            <a:pPr algn="ctr">
              <a:lnSpc>
                <a:spcPts val="3065"/>
              </a:lnSpc>
            </a:pPr>
            <a:r>
              <a:rPr lang="en-US" sz="2190" b="1">
                <a:solidFill>
                  <a:srgbClr val="FFFFFF"/>
                </a:solidFill>
                <a:latin typeface="Open Sans Bold"/>
                <a:ea typeface="Open Sans Bold"/>
                <a:cs typeface="Open Sans Bold"/>
                <a:sym typeface="Open Sans Bold"/>
              </a:rPr>
              <a:t>Nhập địa chỉ web và tra cứu DNS</a:t>
            </a:r>
          </a:p>
          <a:p>
            <a:pPr algn="ctr">
              <a:lnSpc>
                <a:spcPts val="3065"/>
              </a:lnSpc>
              <a:spcBef>
                <a:spcPct val="0"/>
              </a:spcBef>
            </a:pPr>
            <a:endParaRPr lang="en-US" sz="2190" b="1">
              <a:solidFill>
                <a:srgbClr val="FFFFFF"/>
              </a:solidFill>
              <a:latin typeface="Open Sans Bold"/>
              <a:ea typeface="Open Sans Bold"/>
              <a:cs typeface="Open Sans Bold"/>
              <a:sym typeface="Open Sans Bold"/>
            </a:endParaRPr>
          </a:p>
        </p:txBody>
      </p:sp>
      <p:sp>
        <p:nvSpPr>
          <p:cNvPr id="42" name="TextBox 42"/>
          <p:cNvSpPr txBox="1"/>
          <p:nvPr/>
        </p:nvSpPr>
        <p:spPr>
          <a:xfrm>
            <a:off x="8318892" y="5165916"/>
            <a:ext cx="1490199" cy="1506474"/>
          </a:xfrm>
          <a:prstGeom prst="rect">
            <a:avLst/>
          </a:prstGeom>
        </p:spPr>
        <p:txBody>
          <a:bodyPr lIns="0" tIns="0" rIns="0" bIns="0" rtlCol="0" anchor="t">
            <a:spAutoFit/>
          </a:bodyPr>
          <a:lstStyle/>
          <a:p>
            <a:pPr algn="ctr">
              <a:lnSpc>
                <a:spcPts val="3065"/>
              </a:lnSpc>
            </a:pPr>
            <a:r>
              <a:rPr lang="en-US" sz="2190" b="1">
                <a:solidFill>
                  <a:srgbClr val="FFFFFF"/>
                </a:solidFill>
                <a:latin typeface="Open Sans Bold"/>
                <a:ea typeface="Open Sans Bold"/>
                <a:cs typeface="Open Sans Bold"/>
                <a:sym typeface="Open Sans Bold"/>
              </a:rPr>
              <a:t>Định Tuyến Dữ Liệu</a:t>
            </a:r>
          </a:p>
          <a:p>
            <a:pPr algn="ctr">
              <a:lnSpc>
                <a:spcPts val="3065"/>
              </a:lnSpc>
              <a:spcBef>
                <a:spcPct val="0"/>
              </a:spcBef>
            </a:pPr>
            <a:endParaRPr lang="en-US" sz="2190" b="1">
              <a:solidFill>
                <a:srgbClr val="FFFFFF"/>
              </a:solidFill>
              <a:latin typeface="Open Sans Bold"/>
              <a:ea typeface="Open Sans Bold"/>
              <a:cs typeface="Open Sans Bold"/>
              <a:sym typeface="Open Sans Bold"/>
            </a:endParaRPr>
          </a:p>
        </p:txBody>
      </p:sp>
      <p:sp>
        <p:nvSpPr>
          <p:cNvPr id="43" name="TextBox 43"/>
          <p:cNvSpPr txBox="1"/>
          <p:nvPr/>
        </p:nvSpPr>
        <p:spPr>
          <a:xfrm>
            <a:off x="11730992" y="5359475"/>
            <a:ext cx="1490199" cy="1125474"/>
          </a:xfrm>
          <a:prstGeom prst="rect">
            <a:avLst/>
          </a:prstGeom>
        </p:spPr>
        <p:txBody>
          <a:bodyPr lIns="0" tIns="0" rIns="0" bIns="0" rtlCol="0" anchor="t">
            <a:spAutoFit/>
          </a:bodyPr>
          <a:lstStyle/>
          <a:p>
            <a:pPr algn="ctr">
              <a:lnSpc>
                <a:spcPts val="3065"/>
              </a:lnSpc>
              <a:spcBef>
                <a:spcPct val="0"/>
              </a:spcBef>
            </a:pPr>
            <a:r>
              <a:rPr lang="en-US" sz="2190" b="1">
                <a:solidFill>
                  <a:srgbClr val="FFFFFF"/>
                </a:solidFill>
                <a:latin typeface="Open Sans Bold"/>
                <a:ea typeface="Open Sans Bold"/>
                <a:cs typeface="Open Sans Bold"/>
                <a:sym typeface="Open Sans Bold"/>
              </a:rPr>
              <a:t>Giao Thức Internet</a:t>
            </a:r>
          </a:p>
          <a:p>
            <a:pPr algn="ctr">
              <a:lnSpc>
                <a:spcPts val="3065"/>
              </a:lnSpc>
              <a:spcBef>
                <a:spcPct val="0"/>
              </a:spcBef>
            </a:pPr>
            <a:endParaRPr lang="en-US" sz="2190" b="1">
              <a:solidFill>
                <a:srgbClr val="FFFFFF"/>
              </a:solidFill>
              <a:latin typeface="Open Sans Bold"/>
              <a:ea typeface="Open Sans Bold"/>
              <a:cs typeface="Open Sans Bold"/>
              <a:sym typeface="Open Sans Bold"/>
            </a:endParaRPr>
          </a:p>
        </p:txBody>
      </p:sp>
      <p:sp>
        <p:nvSpPr>
          <p:cNvPr id="44" name="TextBox 44"/>
          <p:cNvSpPr txBox="1"/>
          <p:nvPr/>
        </p:nvSpPr>
        <p:spPr>
          <a:xfrm>
            <a:off x="15213542" y="5388050"/>
            <a:ext cx="1490199" cy="1125474"/>
          </a:xfrm>
          <a:prstGeom prst="rect">
            <a:avLst/>
          </a:prstGeom>
        </p:spPr>
        <p:txBody>
          <a:bodyPr lIns="0" tIns="0" rIns="0" bIns="0" rtlCol="0" anchor="t">
            <a:spAutoFit/>
          </a:bodyPr>
          <a:lstStyle/>
          <a:p>
            <a:pPr algn="ctr">
              <a:lnSpc>
                <a:spcPts val="3065"/>
              </a:lnSpc>
            </a:pPr>
            <a:r>
              <a:rPr lang="en-US" sz="2190" b="1" dirty="0" err="1">
                <a:solidFill>
                  <a:srgbClr val="FFFFFF"/>
                </a:solidFill>
                <a:latin typeface="Open Sans Bold"/>
                <a:ea typeface="Open Sans Bold"/>
                <a:cs typeface="Open Sans Bold"/>
                <a:sym typeface="Open Sans Bold"/>
              </a:rPr>
              <a:t>Truyền</a:t>
            </a:r>
            <a:r>
              <a:rPr lang="en-US" sz="2190" b="1" dirty="0">
                <a:solidFill>
                  <a:srgbClr val="FFFFFF"/>
                </a:solidFill>
                <a:latin typeface="Open Sans Bold"/>
                <a:ea typeface="Open Sans Bold"/>
                <a:cs typeface="Open Sans Bold"/>
                <a:sym typeface="Open Sans Bold"/>
              </a:rPr>
              <a:t> </a:t>
            </a:r>
            <a:r>
              <a:rPr lang="en-US" sz="2190" b="1" dirty="0" err="1">
                <a:solidFill>
                  <a:srgbClr val="FFFFFF"/>
                </a:solidFill>
                <a:latin typeface="Open Sans Bold"/>
                <a:ea typeface="Open Sans Bold"/>
                <a:cs typeface="Open Sans Bold"/>
                <a:sym typeface="Open Sans Bold"/>
              </a:rPr>
              <a:t>tải</a:t>
            </a:r>
            <a:r>
              <a:rPr lang="en-US" sz="2190" b="1" dirty="0">
                <a:solidFill>
                  <a:srgbClr val="FFFFFF"/>
                </a:solidFill>
                <a:latin typeface="Open Sans Bold"/>
                <a:ea typeface="Open Sans Bold"/>
                <a:cs typeface="Open Sans Bold"/>
                <a:sym typeface="Open Sans Bold"/>
              </a:rPr>
              <a:t> </a:t>
            </a:r>
            <a:r>
              <a:rPr lang="en-US" sz="2190" b="1" dirty="0" err="1">
                <a:solidFill>
                  <a:srgbClr val="FFFFFF"/>
                </a:solidFill>
                <a:latin typeface="Open Sans Bold"/>
                <a:ea typeface="Open Sans Bold"/>
                <a:cs typeface="Open Sans Bold"/>
                <a:sym typeface="Open Sans Bold"/>
              </a:rPr>
              <a:t>dữ</a:t>
            </a:r>
            <a:r>
              <a:rPr lang="en-US" sz="2190" b="1" dirty="0">
                <a:solidFill>
                  <a:srgbClr val="FFFFFF"/>
                </a:solidFill>
                <a:latin typeface="Open Sans Bold"/>
                <a:ea typeface="Open Sans Bold"/>
                <a:cs typeface="Open Sans Bold"/>
                <a:sym typeface="Open Sans Bold"/>
              </a:rPr>
              <a:t> </a:t>
            </a:r>
            <a:r>
              <a:rPr lang="en-US" sz="2190" b="1" dirty="0" err="1">
                <a:solidFill>
                  <a:srgbClr val="FFFFFF"/>
                </a:solidFill>
                <a:latin typeface="Open Sans Bold"/>
                <a:ea typeface="Open Sans Bold"/>
                <a:cs typeface="Open Sans Bold"/>
                <a:sym typeface="Open Sans Bold"/>
              </a:rPr>
              <a:t>liệu</a:t>
            </a:r>
            <a:r>
              <a:rPr lang="en-US" sz="2190" b="1" dirty="0">
                <a:solidFill>
                  <a:srgbClr val="FFFFFF"/>
                </a:solidFill>
                <a:latin typeface="Open Sans Bold"/>
                <a:ea typeface="Open Sans Bold"/>
                <a:cs typeface="Open Sans Bold"/>
                <a:sym typeface="Open Sans Bold"/>
              </a:rPr>
              <a:t> </a:t>
            </a:r>
          </a:p>
          <a:p>
            <a:pPr algn="ctr">
              <a:lnSpc>
                <a:spcPts val="3065"/>
              </a:lnSpc>
              <a:spcBef>
                <a:spcPct val="0"/>
              </a:spcBef>
            </a:pPr>
            <a:endParaRPr lang="en-US" sz="2190" b="1" dirty="0">
              <a:solidFill>
                <a:srgbClr val="FFFFFF"/>
              </a:solidFill>
              <a:latin typeface="Open Sans Bold"/>
              <a:ea typeface="Open Sans Bold"/>
              <a:cs typeface="Open Sans Bold"/>
              <a:sym typeface="Open Sans Bold"/>
            </a:endParaRPr>
          </a:p>
        </p:txBody>
      </p:sp>
      <p:grpSp>
        <p:nvGrpSpPr>
          <p:cNvPr id="45" name="Group 45"/>
          <p:cNvGrpSpPr/>
          <p:nvPr/>
        </p:nvGrpSpPr>
        <p:grpSpPr>
          <a:xfrm>
            <a:off x="6688747" y="5197550"/>
            <a:ext cx="1338388" cy="1462257"/>
            <a:chOff x="0" y="0"/>
            <a:chExt cx="743947" cy="812800"/>
          </a:xfrm>
        </p:grpSpPr>
        <p:sp>
          <p:nvSpPr>
            <p:cNvPr id="46" name="Freeform 46"/>
            <p:cNvSpPr/>
            <p:nvPr/>
          </p:nvSpPr>
          <p:spPr>
            <a:xfrm>
              <a:off x="0" y="0"/>
              <a:ext cx="743947" cy="812800"/>
            </a:xfrm>
            <a:custGeom>
              <a:avLst/>
              <a:gdLst/>
              <a:ahLst/>
              <a:cxnLst/>
              <a:rect l="l" t="t" r="r" b="b"/>
              <a:pathLst>
                <a:path w="743947" h="812800">
                  <a:moveTo>
                    <a:pt x="743947" y="406400"/>
                  </a:moveTo>
                  <a:lnTo>
                    <a:pt x="337547" y="0"/>
                  </a:lnTo>
                  <a:lnTo>
                    <a:pt x="337547" y="203200"/>
                  </a:lnTo>
                  <a:lnTo>
                    <a:pt x="0" y="203200"/>
                  </a:lnTo>
                  <a:lnTo>
                    <a:pt x="0" y="609600"/>
                  </a:lnTo>
                  <a:lnTo>
                    <a:pt x="337547" y="609600"/>
                  </a:lnTo>
                  <a:lnTo>
                    <a:pt x="337547" y="812800"/>
                  </a:lnTo>
                  <a:lnTo>
                    <a:pt x="743947" y="406400"/>
                  </a:lnTo>
                  <a:close/>
                </a:path>
              </a:pathLst>
            </a:custGeom>
            <a:solidFill>
              <a:srgbClr val="104D87"/>
            </a:solidFill>
          </p:spPr>
        </p:sp>
        <p:sp>
          <p:nvSpPr>
            <p:cNvPr id="47" name="TextBox 47"/>
            <p:cNvSpPr txBox="1"/>
            <p:nvPr/>
          </p:nvSpPr>
          <p:spPr>
            <a:xfrm>
              <a:off x="0" y="165100"/>
              <a:ext cx="642347" cy="444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0100847" y="5210134"/>
            <a:ext cx="1338388" cy="1462257"/>
            <a:chOff x="0" y="0"/>
            <a:chExt cx="743947" cy="812800"/>
          </a:xfrm>
        </p:grpSpPr>
        <p:sp>
          <p:nvSpPr>
            <p:cNvPr id="49" name="Freeform 49"/>
            <p:cNvSpPr/>
            <p:nvPr/>
          </p:nvSpPr>
          <p:spPr>
            <a:xfrm>
              <a:off x="0" y="0"/>
              <a:ext cx="743947" cy="812800"/>
            </a:xfrm>
            <a:custGeom>
              <a:avLst/>
              <a:gdLst/>
              <a:ahLst/>
              <a:cxnLst/>
              <a:rect l="l" t="t" r="r" b="b"/>
              <a:pathLst>
                <a:path w="743947" h="812800">
                  <a:moveTo>
                    <a:pt x="743947" y="406400"/>
                  </a:moveTo>
                  <a:lnTo>
                    <a:pt x="337547" y="0"/>
                  </a:lnTo>
                  <a:lnTo>
                    <a:pt x="337547" y="203200"/>
                  </a:lnTo>
                  <a:lnTo>
                    <a:pt x="0" y="203200"/>
                  </a:lnTo>
                  <a:lnTo>
                    <a:pt x="0" y="609600"/>
                  </a:lnTo>
                  <a:lnTo>
                    <a:pt x="337547" y="609600"/>
                  </a:lnTo>
                  <a:lnTo>
                    <a:pt x="337547" y="812800"/>
                  </a:lnTo>
                  <a:lnTo>
                    <a:pt x="743947" y="406400"/>
                  </a:lnTo>
                  <a:close/>
                </a:path>
              </a:pathLst>
            </a:custGeom>
            <a:solidFill>
              <a:srgbClr val="104D87"/>
            </a:solidFill>
          </p:spPr>
        </p:sp>
        <p:sp>
          <p:nvSpPr>
            <p:cNvPr id="50" name="TextBox 50"/>
            <p:cNvSpPr txBox="1"/>
            <p:nvPr/>
          </p:nvSpPr>
          <p:spPr>
            <a:xfrm>
              <a:off x="0" y="165100"/>
              <a:ext cx="642347" cy="444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3512948" y="5197550"/>
            <a:ext cx="1338388" cy="1462257"/>
            <a:chOff x="0" y="0"/>
            <a:chExt cx="743947" cy="812800"/>
          </a:xfrm>
        </p:grpSpPr>
        <p:sp>
          <p:nvSpPr>
            <p:cNvPr id="52" name="Freeform 52"/>
            <p:cNvSpPr/>
            <p:nvPr/>
          </p:nvSpPr>
          <p:spPr>
            <a:xfrm>
              <a:off x="0" y="0"/>
              <a:ext cx="743947" cy="812800"/>
            </a:xfrm>
            <a:custGeom>
              <a:avLst/>
              <a:gdLst/>
              <a:ahLst/>
              <a:cxnLst/>
              <a:rect l="l" t="t" r="r" b="b"/>
              <a:pathLst>
                <a:path w="743947" h="812800">
                  <a:moveTo>
                    <a:pt x="743947" y="406400"/>
                  </a:moveTo>
                  <a:lnTo>
                    <a:pt x="337547" y="0"/>
                  </a:lnTo>
                  <a:lnTo>
                    <a:pt x="337547" y="203200"/>
                  </a:lnTo>
                  <a:lnTo>
                    <a:pt x="0" y="203200"/>
                  </a:lnTo>
                  <a:lnTo>
                    <a:pt x="0" y="609600"/>
                  </a:lnTo>
                  <a:lnTo>
                    <a:pt x="337547" y="609600"/>
                  </a:lnTo>
                  <a:lnTo>
                    <a:pt x="337547" y="812800"/>
                  </a:lnTo>
                  <a:lnTo>
                    <a:pt x="743947" y="406400"/>
                  </a:lnTo>
                  <a:close/>
                </a:path>
              </a:pathLst>
            </a:custGeom>
            <a:solidFill>
              <a:srgbClr val="104D87"/>
            </a:solidFill>
          </p:spPr>
        </p:sp>
        <p:sp>
          <p:nvSpPr>
            <p:cNvPr id="53" name="TextBox 53"/>
            <p:cNvSpPr txBox="1"/>
            <p:nvPr/>
          </p:nvSpPr>
          <p:spPr>
            <a:xfrm>
              <a:off x="0" y="165100"/>
              <a:ext cx="642347" cy="444500"/>
            </a:xfrm>
            <a:prstGeom prst="rect">
              <a:avLst/>
            </a:prstGeom>
          </p:spPr>
          <p:txBody>
            <a:bodyPr lIns="50800" tIns="50800" rIns="50800" bIns="50800" rtlCol="0" anchor="ctr"/>
            <a:lstStyle/>
            <a:p>
              <a:pPr algn="ctr">
                <a:lnSpc>
                  <a:spcPts val="2659"/>
                </a:lnSpc>
              </a:pPr>
              <a:endParaRPr/>
            </a:p>
          </p:txBody>
        </p:sp>
      </p:grpSp>
      <p:sp>
        <p:nvSpPr>
          <p:cNvPr id="55" name="TextBox 55"/>
          <p:cNvSpPr txBox="1"/>
          <p:nvPr/>
        </p:nvSpPr>
        <p:spPr>
          <a:xfrm>
            <a:off x="3359081" y="1264707"/>
            <a:ext cx="12104260" cy="3209114"/>
          </a:xfrm>
          <a:prstGeom prst="rect">
            <a:avLst/>
          </a:prstGeom>
        </p:spPr>
        <p:txBody>
          <a:bodyPr lIns="0" tIns="0" rIns="0" bIns="0" rtlCol="0" anchor="t">
            <a:spAutoFit/>
          </a:bodyPr>
          <a:lstStyle/>
          <a:p>
            <a:pPr algn="ctr">
              <a:lnSpc>
                <a:spcPts val="12757"/>
              </a:lnSpc>
            </a:pPr>
            <a:r>
              <a:rPr lang="en-US" sz="9813" dirty="0">
                <a:solidFill>
                  <a:srgbClr val="9AF7FF"/>
                </a:solidFill>
                <a:latin typeface="Anton"/>
                <a:ea typeface="Anton"/>
                <a:cs typeface="Anton"/>
                <a:sym typeface="Anton"/>
              </a:rPr>
              <a:t>CÁCH THỨC HOẠT ĐỘNG CỦA INTERNET</a:t>
            </a:r>
          </a:p>
        </p:txBody>
      </p:sp>
      <p:sp>
        <p:nvSpPr>
          <p:cNvPr id="59" name="Freeform 54">
            <a:extLst>
              <a:ext uri="{FF2B5EF4-FFF2-40B4-BE49-F238E27FC236}">
                <a16:creationId xmlns:a16="http://schemas.microsoft.com/office/drawing/2014/main" id="{7E9F76DD-2DC1-4144-95FC-F9CBB9A9396A}"/>
              </a:ext>
            </a:extLst>
          </p:cNvPr>
          <p:cNvSpPr/>
          <p:nvPr/>
        </p:nvSpPr>
        <p:spPr>
          <a:xfrm>
            <a:off x="-7540058" y="-663499"/>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ppt_x</p:attrName>
                                        </p:attrNameLst>
                                      </p:cBhvr>
                                      <p:tavLst>
                                        <p:tav tm="0">
                                          <p:val>
                                            <p:strVal val="#ppt_x-#ppt_w*1.125000"/>
                                          </p:val>
                                        </p:tav>
                                        <p:tav tm="100000">
                                          <p:val>
                                            <p:strVal val="#ppt_x"/>
                                          </p:val>
                                        </p:tav>
                                      </p:tavLst>
                                    </p:anim>
                                    <p:animEffect transition="in" filter="wipe(right)">
                                      <p:cBhvr>
                                        <p:cTn id="8" dur="500"/>
                                        <p:tgtEl>
                                          <p:spTgt spid="22"/>
                                        </p:tgtEl>
                                      </p:cBhvr>
                                    </p:animEffect>
                                  </p:childTnLst>
                                </p:cTn>
                              </p:par>
                              <p:par>
                                <p:cTn id="9" presetID="12" presetClass="entr" presetSubtype="8"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p:tgtEl>
                                          <p:spTgt spid="25"/>
                                        </p:tgtEl>
                                        <p:attrNameLst>
                                          <p:attrName>ppt_x</p:attrName>
                                        </p:attrNameLst>
                                      </p:cBhvr>
                                      <p:tavLst>
                                        <p:tav tm="0">
                                          <p:val>
                                            <p:strVal val="#ppt_x-#ppt_w*1.125000"/>
                                          </p:val>
                                        </p:tav>
                                        <p:tav tm="100000">
                                          <p:val>
                                            <p:strVal val="#ppt_x"/>
                                          </p:val>
                                        </p:tav>
                                      </p:tavLst>
                                    </p:anim>
                                    <p:animEffect transition="in" filter="wipe(right)">
                                      <p:cBhvr>
                                        <p:cTn id="12" dur="500"/>
                                        <p:tgtEl>
                                          <p:spTgt spid="25"/>
                                        </p:tgtEl>
                                      </p:cBhvr>
                                    </p:animEffect>
                                  </p:childTnLst>
                                </p:cTn>
                              </p:par>
                              <p:par>
                                <p:cTn id="13" presetID="12" presetClass="entr" presetSubtype="8"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p:tgtEl>
                                          <p:spTgt spid="28"/>
                                        </p:tgtEl>
                                        <p:attrNameLst>
                                          <p:attrName>ppt_x</p:attrName>
                                        </p:attrNameLst>
                                      </p:cBhvr>
                                      <p:tavLst>
                                        <p:tav tm="0">
                                          <p:val>
                                            <p:strVal val="#ppt_x-#ppt_w*1.125000"/>
                                          </p:val>
                                        </p:tav>
                                        <p:tav tm="100000">
                                          <p:val>
                                            <p:strVal val="#ppt_x"/>
                                          </p:val>
                                        </p:tav>
                                      </p:tavLst>
                                    </p:anim>
                                    <p:animEffect transition="in" filter="wipe(right)">
                                      <p:cBhvr>
                                        <p:cTn id="16" dur="500"/>
                                        <p:tgtEl>
                                          <p:spTgt spid="28"/>
                                        </p:tgtEl>
                                      </p:cBhvr>
                                    </p:animEffect>
                                  </p:childTnLst>
                                </p:cTn>
                              </p:par>
                              <p:par>
                                <p:cTn id="17" presetID="12" presetClass="entr" presetSubtype="8"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p:tgtEl>
                                          <p:spTgt spid="31"/>
                                        </p:tgtEl>
                                        <p:attrNameLst>
                                          <p:attrName>ppt_x</p:attrName>
                                        </p:attrNameLst>
                                      </p:cBhvr>
                                      <p:tavLst>
                                        <p:tav tm="0">
                                          <p:val>
                                            <p:strVal val="#ppt_x-#ppt_w*1.125000"/>
                                          </p:val>
                                        </p:tav>
                                        <p:tav tm="100000">
                                          <p:val>
                                            <p:strVal val="#ppt_x"/>
                                          </p:val>
                                        </p:tav>
                                      </p:tavLst>
                                    </p:anim>
                                    <p:animEffect transition="in" filter="wipe(right)">
                                      <p:cBhvr>
                                        <p:cTn id="20" dur="500"/>
                                        <p:tgtEl>
                                          <p:spTgt spid="31"/>
                                        </p:tgtEl>
                                      </p:cBhvr>
                                    </p:animEffect>
                                  </p:childTnLst>
                                </p:cTn>
                              </p:par>
                              <p:par>
                                <p:cTn id="21" presetID="12" presetClass="entr" presetSubtype="8"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p:tgtEl>
                                          <p:spTgt spid="34"/>
                                        </p:tgtEl>
                                        <p:attrNameLst>
                                          <p:attrName>ppt_x</p:attrName>
                                        </p:attrNameLst>
                                      </p:cBhvr>
                                      <p:tavLst>
                                        <p:tav tm="0">
                                          <p:val>
                                            <p:strVal val="#ppt_x-#ppt_w*1.125000"/>
                                          </p:val>
                                        </p:tav>
                                        <p:tav tm="100000">
                                          <p:val>
                                            <p:strVal val="#ppt_x"/>
                                          </p:val>
                                        </p:tav>
                                      </p:tavLst>
                                    </p:anim>
                                    <p:animEffect transition="in" filter="wipe(right)">
                                      <p:cBhvr>
                                        <p:cTn id="24" dur="500"/>
                                        <p:tgtEl>
                                          <p:spTgt spid="34"/>
                                        </p:tgtEl>
                                      </p:cBhvr>
                                    </p:animEffect>
                                  </p:childTnLst>
                                </p:cTn>
                              </p:par>
                              <p:par>
                                <p:cTn id="25" presetID="12" presetClass="entr" presetSubtype="8"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additive="base">
                                        <p:cTn id="27" dur="500"/>
                                        <p:tgtEl>
                                          <p:spTgt spid="37"/>
                                        </p:tgtEl>
                                        <p:attrNameLst>
                                          <p:attrName>ppt_x</p:attrName>
                                        </p:attrNameLst>
                                      </p:cBhvr>
                                      <p:tavLst>
                                        <p:tav tm="0">
                                          <p:val>
                                            <p:strVal val="#ppt_x-#ppt_w*1.125000"/>
                                          </p:val>
                                        </p:tav>
                                        <p:tav tm="100000">
                                          <p:val>
                                            <p:strVal val="#ppt_x"/>
                                          </p:val>
                                        </p:tav>
                                      </p:tavLst>
                                    </p:anim>
                                    <p:animEffect transition="in" filter="wipe(right)">
                                      <p:cBhvr>
                                        <p:cTn id="28" dur="500"/>
                                        <p:tgtEl>
                                          <p:spTgt spid="37"/>
                                        </p:tgtEl>
                                      </p:cBhvr>
                                    </p:animEffect>
                                  </p:childTnLst>
                                </p:cTn>
                              </p:par>
                              <p:par>
                                <p:cTn id="29" presetID="12" presetClass="entr" presetSubtype="8"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500"/>
                                        <p:tgtEl>
                                          <p:spTgt spid="40"/>
                                        </p:tgtEl>
                                        <p:attrNameLst>
                                          <p:attrName>ppt_x</p:attrName>
                                        </p:attrNameLst>
                                      </p:cBhvr>
                                      <p:tavLst>
                                        <p:tav tm="0">
                                          <p:val>
                                            <p:strVal val="#ppt_x-#ppt_w*1.125000"/>
                                          </p:val>
                                        </p:tav>
                                        <p:tav tm="100000">
                                          <p:val>
                                            <p:strVal val="#ppt_x"/>
                                          </p:val>
                                        </p:tav>
                                      </p:tavLst>
                                    </p:anim>
                                    <p:animEffect transition="in" filter="wipe(right)">
                                      <p:cBhvr>
                                        <p:cTn id="32" dur="500"/>
                                        <p:tgtEl>
                                          <p:spTgt spid="40"/>
                                        </p:tgtEl>
                                      </p:cBhvr>
                                    </p:animEffect>
                                  </p:childTnLst>
                                </p:cTn>
                              </p:par>
                              <p:par>
                                <p:cTn id="33" presetID="12" presetClass="entr" presetSubtype="8"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 calcmode="lin" valueType="num">
                                      <p:cBhvr additive="base">
                                        <p:cTn id="35" dur="500"/>
                                        <p:tgtEl>
                                          <p:spTgt spid="41"/>
                                        </p:tgtEl>
                                        <p:attrNameLst>
                                          <p:attrName>ppt_x</p:attrName>
                                        </p:attrNameLst>
                                      </p:cBhvr>
                                      <p:tavLst>
                                        <p:tav tm="0">
                                          <p:val>
                                            <p:strVal val="#ppt_x-#ppt_w*1.125000"/>
                                          </p:val>
                                        </p:tav>
                                        <p:tav tm="100000">
                                          <p:val>
                                            <p:strVal val="#ppt_x"/>
                                          </p:val>
                                        </p:tav>
                                      </p:tavLst>
                                    </p:anim>
                                    <p:animEffect transition="in" filter="wipe(right)">
                                      <p:cBhvr>
                                        <p:cTn id="36" dur="500"/>
                                        <p:tgtEl>
                                          <p:spTgt spid="41"/>
                                        </p:tgtEl>
                                      </p:cBhvr>
                                    </p:animEffect>
                                  </p:childTnLst>
                                </p:cTn>
                              </p:par>
                              <p:par>
                                <p:cTn id="37" presetID="12" presetClass="entr" presetSubtype="8"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anim calcmode="lin" valueType="num">
                                      <p:cBhvr additive="base">
                                        <p:cTn id="39" dur="500"/>
                                        <p:tgtEl>
                                          <p:spTgt spid="42"/>
                                        </p:tgtEl>
                                        <p:attrNameLst>
                                          <p:attrName>ppt_x</p:attrName>
                                        </p:attrNameLst>
                                      </p:cBhvr>
                                      <p:tavLst>
                                        <p:tav tm="0">
                                          <p:val>
                                            <p:strVal val="#ppt_x-#ppt_w*1.125000"/>
                                          </p:val>
                                        </p:tav>
                                        <p:tav tm="100000">
                                          <p:val>
                                            <p:strVal val="#ppt_x"/>
                                          </p:val>
                                        </p:tav>
                                      </p:tavLst>
                                    </p:anim>
                                    <p:animEffect transition="in" filter="wipe(right)">
                                      <p:cBhvr>
                                        <p:cTn id="40" dur="500"/>
                                        <p:tgtEl>
                                          <p:spTgt spid="42"/>
                                        </p:tgtEl>
                                      </p:cBhvr>
                                    </p:animEffect>
                                  </p:childTnLst>
                                </p:cTn>
                              </p:par>
                              <p:par>
                                <p:cTn id="41" presetID="12" presetClass="entr" presetSubtype="8"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 calcmode="lin" valueType="num">
                                      <p:cBhvr additive="base">
                                        <p:cTn id="43" dur="500"/>
                                        <p:tgtEl>
                                          <p:spTgt spid="43"/>
                                        </p:tgtEl>
                                        <p:attrNameLst>
                                          <p:attrName>ppt_x</p:attrName>
                                        </p:attrNameLst>
                                      </p:cBhvr>
                                      <p:tavLst>
                                        <p:tav tm="0">
                                          <p:val>
                                            <p:strVal val="#ppt_x-#ppt_w*1.125000"/>
                                          </p:val>
                                        </p:tav>
                                        <p:tav tm="100000">
                                          <p:val>
                                            <p:strVal val="#ppt_x"/>
                                          </p:val>
                                        </p:tav>
                                      </p:tavLst>
                                    </p:anim>
                                    <p:animEffect transition="in" filter="wipe(right)">
                                      <p:cBhvr>
                                        <p:cTn id="44" dur="500"/>
                                        <p:tgtEl>
                                          <p:spTgt spid="43"/>
                                        </p:tgtEl>
                                      </p:cBhvr>
                                    </p:animEffect>
                                  </p:childTnLst>
                                </p:cTn>
                              </p:par>
                              <p:par>
                                <p:cTn id="45" presetID="12" presetClass="entr" presetSubtype="8"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500"/>
                                        <p:tgtEl>
                                          <p:spTgt spid="44"/>
                                        </p:tgtEl>
                                        <p:attrNameLst>
                                          <p:attrName>ppt_x</p:attrName>
                                        </p:attrNameLst>
                                      </p:cBhvr>
                                      <p:tavLst>
                                        <p:tav tm="0">
                                          <p:val>
                                            <p:strVal val="#ppt_x-#ppt_w*1.125000"/>
                                          </p:val>
                                        </p:tav>
                                        <p:tav tm="100000">
                                          <p:val>
                                            <p:strVal val="#ppt_x"/>
                                          </p:val>
                                        </p:tav>
                                      </p:tavLst>
                                    </p:anim>
                                    <p:animEffect transition="in" filter="wipe(right)">
                                      <p:cBhvr>
                                        <p:cTn id="48" dur="500"/>
                                        <p:tgtEl>
                                          <p:spTgt spid="44"/>
                                        </p:tgtEl>
                                      </p:cBhvr>
                                    </p:animEffect>
                                  </p:childTnLst>
                                </p:cTn>
                              </p:par>
                              <p:par>
                                <p:cTn id="49" presetID="12" presetClass="entr" presetSubtype="8"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500"/>
                                        <p:tgtEl>
                                          <p:spTgt spid="45"/>
                                        </p:tgtEl>
                                        <p:attrNameLst>
                                          <p:attrName>ppt_x</p:attrName>
                                        </p:attrNameLst>
                                      </p:cBhvr>
                                      <p:tavLst>
                                        <p:tav tm="0">
                                          <p:val>
                                            <p:strVal val="#ppt_x-#ppt_w*1.125000"/>
                                          </p:val>
                                        </p:tav>
                                        <p:tav tm="100000">
                                          <p:val>
                                            <p:strVal val="#ppt_x"/>
                                          </p:val>
                                        </p:tav>
                                      </p:tavLst>
                                    </p:anim>
                                    <p:animEffect transition="in" filter="wipe(right)">
                                      <p:cBhvr>
                                        <p:cTn id="52" dur="500"/>
                                        <p:tgtEl>
                                          <p:spTgt spid="45"/>
                                        </p:tgtEl>
                                      </p:cBhvr>
                                    </p:animEffect>
                                  </p:childTnLst>
                                </p:cTn>
                              </p:par>
                              <p:par>
                                <p:cTn id="53" presetID="12" presetClass="entr" presetSubtype="8"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 calcmode="lin" valueType="num">
                                      <p:cBhvr additive="base">
                                        <p:cTn id="55" dur="500"/>
                                        <p:tgtEl>
                                          <p:spTgt spid="48"/>
                                        </p:tgtEl>
                                        <p:attrNameLst>
                                          <p:attrName>ppt_x</p:attrName>
                                        </p:attrNameLst>
                                      </p:cBhvr>
                                      <p:tavLst>
                                        <p:tav tm="0">
                                          <p:val>
                                            <p:strVal val="#ppt_x-#ppt_w*1.125000"/>
                                          </p:val>
                                        </p:tav>
                                        <p:tav tm="100000">
                                          <p:val>
                                            <p:strVal val="#ppt_x"/>
                                          </p:val>
                                        </p:tav>
                                      </p:tavLst>
                                    </p:anim>
                                    <p:animEffect transition="in" filter="wipe(right)">
                                      <p:cBhvr>
                                        <p:cTn id="56" dur="500"/>
                                        <p:tgtEl>
                                          <p:spTgt spid="48"/>
                                        </p:tgtEl>
                                      </p:cBhvr>
                                    </p:animEffect>
                                  </p:childTnLst>
                                </p:cTn>
                              </p:par>
                              <p:par>
                                <p:cTn id="57" presetID="12" presetClass="entr" presetSubtype="8"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500"/>
                                        <p:tgtEl>
                                          <p:spTgt spid="51"/>
                                        </p:tgtEl>
                                        <p:attrNameLst>
                                          <p:attrName>ppt_x</p:attrName>
                                        </p:attrNameLst>
                                      </p:cBhvr>
                                      <p:tavLst>
                                        <p:tav tm="0">
                                          <p:val>
                                            <p:strVal val="#ppt_x-#ppt_w*1.125000"/>
                                          </p:val>
                                        </p:tav>
                                        <p:tav tm="100000">
                                          <p:val>
                                            <p:strVal val="#ppt_x"/>
                                          </p:val>
                                        </p:tav>
                                      </p:tavLst>
                                    </p:anim>
                                    <p:animEffect transition="in" filter="wipe(right)">
                                      <p:cBhvr>
                                        <p:cTn id="60" dur="500"/>
                                        <p:tgtEl>
                                          <p:spTgt spid="51"/>
                                        </p:tgtEl>
                                      </p:cBhvr>
                                    </p:animEffect>
                                  </p:childTnLst>
                                </p:cTn>
                              </p:par>
                              <p:par>
                                <p:cTn id="61" presetID="12" presetClass="entr" presetSubtype="8"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anim calcmode="lin" valueType="num">
                                      <p:cBhvr additive="base">
                                        <p:cTn id="63" dur="500"/>
                                        <p:tgtEl>
                                          <p:spTgt spid="55"/>
                                        </p:tgtEl>
                                        <p:attrNameLst>
                                          <p:attrName>ppt_x</p:attrName>
                                        </p:attrNameLst>
                                      </p:cBhvr>
                                      <p:tavLst>
                                        <p:tav tm="0">
                                          <p:val>
                                            <p:strVal val="#ppt_x-#ppt_w*1.125000"/>
                                          </p:val>
                                        </p:tav>
                                        <p:tav tm="100000">
                                          <p:val>
                                            <p:strVal val="#ppt_x"/>
                                          </p:val>
                                        </p:tav>
                                      </p:tavLst>
                                    </p:anim>
                                    <p:animEffect transition="in" filter="wipe(right)">
                                      <p:cBhvr>
                                        <p:cTn id="6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5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6938962" y="-114726"/>
            <a:ext cx="14377504" cy="10287000"/>
          </a:xfrm>
          <a:custGeom>
            <a:avLst/>
            <a:gdLst/>
            <a:ahLst/>
            <a:cxnLst/>
            <a:rect l="l" t="t" r="r" b="b"/>
            <a:pathLst>
              <a:path w="14377504" h="10287000">
                <a:moveTo>
                  <a:pt x="0" y="0"/>
                </a:moveTo>
                <a:lnTo>
                  <a:pt x="14377504" y="0"/>
                </a:lnTo>
                <a:lnTo>
                  <a:pt x="14377504" y="10287000"/>
                </a:lnTo>
                <a:lnTo>
                  <a:pt x="0" y="10287000"/>
                </a:lnTo>
                <a:lnTo>
                  <a:pt x="0" y="0"/>
                </a:lnTo>
                <a:close/>
              </a:path>
            </a:pathLst>
          </a:custGeom>
          <a:blipFill>
            <a:blip r:embed="rId3">
              <a:alphaModFix amt="17000"/>
            </a:blip>
            <a:stretch>
              <a:fillRect t="-19881" b="-19881"/>
            </a:stretch>
          </a:blipFill>
        </p:spPr>
      </p:sp>
      <p:grpSp>
        <p:nvGrpSpPr>
          <p:cNvPr id="3" name="Group 3"/>
          <p:cNvGrpSpPr/>
          <p:nvPr/>
        </p:nvGrpSpPr>
        <p:grpSpPr>
          <a:xfrm>
            <a:off x="17310915" y="423242"/>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310915" y="515345"/>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5958642" y="375281"/>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10" name="TextBox 10"/>
          <p:cNvSpPr txBox="1"/>
          <p:nvPr/>
        </p:nvSpPr>
        <p:spPr>
          <a:xfrm>
            <a:off x="14402845" y="375281"/>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1" name="TextBox 11"/>
          <p:cNvSpPr txBox="1"/>
          <p:nvPr/>
        </p:nvSpPr>
        <p:spPr>
          <a:xfrm>
            <a:off x="13172088" y="375281"/>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12" name="TextBox 12"/>
          <p:cNvSpPr txBox="1"/>
          <p:nvPr/>
        </p:nvSpPr>
        <p:spPr>
          <a:xfrm>
            <a:off x="11916329" y="375281"/>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13" name="Group 13"/>
          <p:cNvGrpSpPr/>
          <p:nvPr/>
        </p:nvGrpSpPr>
        <p:grpSpPr>
          <a:xfrm>
            <a:off x="17760014" y="7375563"/>
            <a:ext cx="47625" cy="1740345"/>
            <a:chOff x="0" y="0"/>
            <a:chExt cx="12543" cy="458362"/>
          </a:xfrm>
        </p:grpSpPr>
        <p:sp>
          <p:nvSpPr>
            <p:cNvPr id="14" name="Freeform 14"/>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5" name="TextBox 15"/>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7510094" y="9425721"/>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06</a:t>
            </a:r>
          </a:p>
        </p:txBody>
      </p:sp>
      <p:sp>
        <p:nvSpPr>
          <p:cNvPr id="17" name="Freeform 17" descr="preencoded.png"/>
          <p:cNvSpPr/>
          <p:nvPr/>
        </p:nvSpPr>
        <p:spPr>
          <a:xfrm>
            <a:off x="338396" y="247984"/>
            <a:ext cx="563718" cy="563718"/>
          </a:xfrm>
          <a:custGeom>
            <a:avLst/>
            <a:gdLst/>
            <a:ahLst/>
            <a:cxnLst/>
            <a:rect l="l" t="t" r="r" b="b"/>
            <a:pathLst>
              <a:path w="563718" h="563718">
                <a:moveTo>
                  <a:pt x="0" y="0"/>
                </a:moveTo>
                <a:lnTo>
                  <a:pt x="563718" y="0"/>
                </a:lnTo>
                <a:lnTo>
                  <a:pt x="563718" y="563718"/>
                </a:lnTo>
                <a:lnTo>
                  <a:pt x="0" y="563718"/>
                </a:lnTo>
                <a:lnTo>
                  <a:pt x="0" y="0"/>
                </a:lnTo>
                <a:close/>
              </a:path>
            </a:pathLst>
          </a:custGeom>
          <a:blipFill>
            <a:blip r:embed="rId4"/>
            <a:stretch>
              <a:fillRect/>
            </a:stretch>
          </a:blipFill>
        </p:spPr>
      </p:sp>
      <p:sp>
        <p:nvSpPr>
          <p:cNvPr id="18" name="TextBox 18"/>
          <p:cNvSpPr txBox="1"/>
          <p:nvPr/>
        </p:nvSpPr>
        <p:spPr>
          <a:xfrm>
            <a:off x="1056907" y="365756"/>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sp>
        <p:nvSpPr>
          <p:cNvPr id="19" name="Freeform 19"/>
          <p:cNvSpPr/>
          <p:nvPr/>
        </p:nvSpPr>
        <p:spPr>
          <a:xfrm>
            <a:off x="-11071735" y="-1449311"/>
            <a:ext cx="11600207" cy="11009651"/>
          </a:xfrm>
          <a:custGeom>
            <a:avLst/>
            <a:gdLst/>
            <a:ahLst/>
            <a:cxnLst/>
            <a:rect l="l" t="t" r="r" b="b"/>
            <a:pathLst>
              <a:path w="11600207" h="11009651">
                <a:moveTo>
                  <a:pt x="0" y="0"/>
                </a:moveTo>
                <a:lnTo>
                  <a:pt x="11600207" y="0"/>
                </a:lnTo>
                <a:lnTo>
                  <a:pt x="11600207" y="11009652"/>
                </a:lnTo>
                <a:lnTo>
                  <a:pt x="0" y="11009652"/>
                </a:lnTo>
                <a:lnTo>
                  <a:pt x="0" y="0"/>
                </a:lnTo>
                <a:close/>
              </a:path>
            </a:pathLst>
          </a:custGeom>
          <a:blipFill>
            <a:blip r:embed="rId5">
              <a:alphaModFix amt="14000"/>
              <a:extLst>
                <a:ext uri="{96DAC541-7B7A-43D3-8B79-37D633B846F1}">
                  <asvg:svgBlip xmlns:asvg="http://schemas.microsoft.com/office/drawing/2016/SVG/main" r:embed="rId6"/>
                </a:ext>
              </a:extLst>
            </a:blip>
            <a:stretch>
              <a:fillRect/>
            </a:stretch>
          </a:blipFill>
        </p:spPr>
      </p:sp>
      <p:sp>
        <p:nvSpPr>
          <p:cNvPr id="20" name="Freeform 20"/>
          <p:cNvSpPr/>
          <p:nvPr/>
        </p:nvSpPr>
        <p:spPr>
          <a:xfrm>
            <a:off x="747547" y="1595949"/>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1723828" y="4755555"/>
            <a:ext cx="4312063" cy="1463293"/>
          </a:xfrm>
          <a:prstGeom prst="rect">
            <a:avLst/>
          </a:prstGeom>
        </p:spPr>
        <p:txBody>
          <a:bodyPr lIns="0" tIns="0" rIns="0" bIns="0" rtlCol="0" anchor="t">
            <a:spAutoFit/>
          </a:bodyPr>
          <a:lstStyle/>
          <a:p>
            <a:pPr algn="just">
              <a:lnSpc>
                <a:spcPts val="2983"/>
              </a:lnSpc>
            </a:pPr>
            <a:r>
              <a:rPr lang="en-US" sz="1900" i="1" dirty="0" err="1">
                <a:solidFill>
                  <a:srgbClr val="FFFCFC"/>
                </a:solidFill>
                <a:latin typeface="Open Sans Italics"/>
                <a:ea typeface="Open Sans Italics"/>
                <a:cs typeface="Open Sans Italics"/>
                <a:sym typeface="Open Sans Italics"/>
              </a:rPr>
              <a:t>Giúp</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mọi</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người</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liên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lạc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dễ</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dàng</a:t>
            </a:r>
            <a:r>
              <a:rPr lang="en-US" sz="1900" i="1" dirty="0">
                <a:solidFill>
                  <a:srgbClr val="FFFCFC"/>
                </a:solidFill>
                <a:latin typeface="Open Sans Italics"/>
                <a:ea typeface="Open Sans Italics"/>
                <a:cs typeface="Open Sans Italics"/>
                <a:sym typeface="Open Sans Italics"/>
              </a:rPr>
              <a:t> qua email, tin </a:t>
            </a:r>
            <a:r>
              <a:rPr lang="en-US" sz="1900" i="1" dirty="0" err="1">
                <a:solidFill>
                  <a:srgbClr val="FFFCFC"/>
                </a:solidFill>
                <a:latin typeface="Open Sans Italics"/>
                <a:ea typeface="Open Sans Italics"/>
                <a:cs typeface="Open Sans Italics"/>
                <a:sym typeface="Open Sans Italics"/>
              </a:rPr>
              <a:t>nhắn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gọi</a:t>
            </a:r>
            <a:r>
              <a:rPr lang="en-US" sz="1900" i="1" dirty="0">
                <a:solidFill>
                  <a:srgbClr val="FFFCFC"/>
                </a:solidFill>
                <a:latin typeface="Open Sans Italics"/>
                <a:ea typeface="Open Sans Italics"/>
                <a:cs typeface="Open Sans Italics"/>
                <a:sym typeface="Open Sans Italics"/>
              </a:rPr>
              <a:t> video </a:t>
            </a:r>
            <a:r>
              <a:rPr lang="en-US" sz="1900" i="1" dirty="0" err="1">
                <a:solidFill>
                  <a:srgbClr val="FFFCFC"/>
                </a:solidFill>
                <a:latin typeface="Open Sans Italics"/>
                <a:ea typeface="Open Sans Italics"/>
                <a:cs typeface="Open Sans Italics"/>
                <a:sym typeface="Open Sans Italics"/>
              </a:rPr>
              <a:t>và</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họp</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trực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tuyến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phục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vụ</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tốt</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cho</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học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tập</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công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việc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và</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giữ</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liên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lạc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cá</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nhân</a:t>
            </a:r>
            <a:r>
              <a:rPr lang="en-US" sz="1900" i="1" dirty="0">
                <a:solidFill>
                  <a:srgbClr val="FFFCFC"/>
                </a:solidFill>
                <a:latin typeface="Open Sans Italics"/>
                <a:ea typeface="Open Sans Italics"/>
                <a:cs typeface="Open Sans Italics"/>
                <a:sym typeface="Open Sans Italics"/>
              </a:rPr>
              <a:t>.</a:t>
            </a:r>
          </a:p>
        </p:txBody>
      </p:sp>
      <p:grpSp>
        <p:nvGrpSpPr>
          <p:cNvPr id="22" name="Group 22"/>
          <p:cNvGrpSpPr/>
          <p:nvPr/>
        </p:nvGrpSpPr>
        <p:grpSpPr>
          <a:xfrm>
            <a:off x="902114" y="3940542"/>
            <a:ext cx="703443" cy="769258"/>
            <a:chOff x="0" y="0"/>
            <a:chExt cx="812800" cy="888846"/>
          </a:xfrm>
        </p:grpSpPr>
        <p:sp>
          <p:nvSpPr>
            <p:cNvPr id="23" name="Freeform 23"/>
            <p:cNvSpPr/>
            <p:nvPr/>
          </p:nvSpPr>
          <p:spPr>
            <a:xfrm>
              <a:off x="32222" y="48494"/>
              <a:ext cx="748356" cy="791859"/>
            </a:xfrm>
            <a:custGeom>
              <a:avLst/>
              <a:gdLst/>
              <a:ahLst/>
              <a:cxnLst/>
              <a:rect l="l" t="t" r="r" b="b"/>
              <a:pathLst>
                <a:path w="748356" h="791859">
                  <a:moveTo>
                    <a:pt x="448448" y="32725"/>
                  </a:moveTo>
                  <a:lnTo>
                    <a:pt x="706308" y="314710"/>
                  </a:lnTo>
                  <a:cubicBezTo>
                    <a:pt x="748356" y="360693"/>
                    <a:pt x="748356" y="431166"/>
                    <a:pt x="706308" y="477148"/>
                  </a:cubicBezTo>
                  <a:lnTo>
                    <a:pt x="448448" y="759133"/>
                  </a:lnTo>
                  <a:cubicBezTo>
                    <a:pt x="429383" y="779983"/>
                    <a:pt x="402431" y="791858"/>
                    <a:pt x="374178" y="791858"/>
                  </a:cubicBezTo>
                  <a:cubicBezTo>
                    <a:pt x="345925" y="791858"/>
                    <a:pt x="318973" y="779983"/>
                    <a:pt x="299908" y="759133"/>
                  </a:cubicBezTo>
                  <a:lnTo>
                    <a:pt x="42048" y="477148"/>
                  </a:lnTo>
                  <a:cubicBezTo>
                    <a:pt x="0" y="431166"/>
                    <a:pt x="0" y="360693"/>
                    <a:pt x="42048" y="314710"/>
                  </a:cubicBezTo>
                  <a:lnTo>
                    <a:pt x="299908" y="32725"/>
                  </a:lnTo>
                  <a:cubicBezTo>
                    <a:pt x="318973" y="11876"/>
                    <a:pt x="345925" y="0"/>
                    <a:pt x="374178" y="0"/>
                  </a:cubicBezTo>
                  <a:cubicBezTo>
                    <a:pt x="402431" y="0"/>
                    <a:pt x="429383" y="11876"/>
                    <a:pt x="448448" y="32725"/>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24" name="TextBox 24"/>
            <p:cNvSpPr txBox="1"/>
            <p:nvPr/>
          </p:nvSpPr>
          <p:spPr>
            <a:xfrm>
              <a:off x="139700" y="114670"/>
              <a:ext cx="533400" cy="621405"/>
            </a:xfrm>
            <a:prstGeom prst="rect">
              <a:avLst/>
            </a:prstGeom>
          </p:spPr>
          <p:txBody>
            <a:bodyPr lIns="50800" tIns="50800" rIns="50800" bIns="50800" rtlCol="0" anchor="ctr"/>
            <a:lstStyle/>
            <a:p>
              <a:pPr algn="ctr">
                <a:lnSpc>
                  <a:spcPts val="2800"/>
                </a:lnSpc>
              </a:pPr>
              <a:r>
                <a:rPr lang="en-US" sz="2000" b="1">
                  <a:solidFill>
                    <a:srgbClr val="000000"/>
                  </a:solidFill>
                  <a:latin typeface="Lora Bold"/>
                  <a:ea typeface="Lora Bold"/>
                  <a:cs typeface="Lora Bold"/>
                  <a:sym typeface="Lora Bold"/>
                </a:rPr>
                <a:t>01</a:t>
              </a:r>
            </a:p>
          </p:txBody>
        </p:sp>
      </p:grpSp>
      <p:sp>
        <p:nvSpPr>
          <p:cNvPr id="25" name="TextBox 25"/>
          <p:cNvSpPr txBox="1"/>
          <p:nvPr/>
        </p:nvSpPr>
        <p:spPr>
          <a:xfrm>
            <a:off x="1056907" y="4144513"/>
            <a:ext cx="4590281" cy="323215"/>
          </a:xfrm>
          <a:prstGeom prst="rect">
            <a:avLst/>
          </a:prstGeom>
        </p:spPr>
        <p:txBody>
          <a:bodyPr lIns="0" tIns="0" rIns="0" bIns="0" rtlCol="0" anchor="t">
            <a:spAutoFit/>
          </a:bodyPr>
          <a:lstStyle/>
          <a:p>
            <a:pPr algn="ctr">
              <a:lnSpc>
                <a:spcPts val="2659"/>
              </a:lnSpc>
              <a:spcBef>
                <a:spcPct val="0"/>
              </a:spcBef>
            </a:pPr>
            <a:r>
              <a:rPr lang="en-US" sz="1899" b="1">
                <a:solidFill>
                  <a:srgbClr val="29E2F9"/>
                </a:solidFill>
                <a:latin typeface="Open Sans Bold"/>
                <a:ea typeface="Open Sans Bold"/>
                <a:cs typeface="Open Sans Bold"/>
                <a:sym typeface="Open Sans Bold"/>
              </a:rPr>
              <a:t>Kết nối và giao tiếp toàn cầu</a:t>
            </a:r>
          </a:p>
        </p:txBody>
      </p:sp>
      <p:sp>
        <p:nvSpPr>
          <p:cNvPr id="26" name="TextBox 26"/>
          <p:cNvSpPr txBox="1"/>
          <p:nvPr/>
        </p:nvSpPr>
        <p:spPr>
          <a:xfrm>
            <a:off x="1666808" y="7983710"/>
            <a:ext cx="4243454" cy="1091818"/>
          </a:xfrm>
          <a:prstGeom prst="rect">
            <a:avLst/>
          </a:prstGeom>
        </p:spPr>
        <p:txBody>
          <a:bodyPr lIns="0" tIns="0" rIns="0" bIns="0" rtlCol="0" anchor="t">
            <a:spAutoFit/>
          </a:bodyPr>
          <a:lstStyle/>
          <a:p>
            <a:pPr algn="just">
              <a:lnSpc>
                <a:spcPts val="2983"/>
              </a:lnSpc>
            </a:pPr>
            <a:r>
              <a:rPr lang="en-US" sz="1900" i="1">
                <a:solidFill>
                  <a:srgbClr val="FFFCFC"/>
                </a:solidFill>
                <a:latin typeface="Open Sans Italics"/>
                <a:ea typeface="Open Sans Italics"/>
                <a:cs typeface="Open Sans Italics"/>
                <a:sym typeface="Open Sans Italics"/>
              </a:rPr>
              <a:t>Người dùng có thể nghe nhạc, xem phim, đọc báo, chơi game, lướt mạng xã hội,... ngay trên thiết bị kết nối mạng</a:t>
            </a:r>
          </a:p>
        </p:txBody>
      </p:sp>
      <p:grpSp>
        <p:nvGrpSpPr>
          <p:cNvPr id="27" name="Group 27"/>
          <p:cNvGrpSpPr/>
          <p:nvPr/>
        </p:nvGrpSpPr>
        <p:grpSpPr>
          <a:xfrm>
            <a:off x="902114" y="7170774"/>
            <a:ext cx="703443" cy="769258"/>
            <a:chOff x="0" y="0"/>
            <a:chExt cx="812800" cy="888846"/>
          </a:xfrm>
        </p:grpSpPr>
        <p:sp>
          <p:nvSpPr>
            <p:cNvPr id="28" name="Freeform 28"/>
            <p:cNvSpPr/>
            <p:nvPr/>
          </p:nvSpPr>
          <p:spPr>
            <a:xfrm>
              <a:off x="32222" y="48494"/>
              <a:ext cx="748356" cy="791859"/>
            </a:xfrm>
            <a:custGeom>
              <a:avLst/>
              <a:gdLst/>
              <a:ahLst/>
              <a:cxnLst/>
              <a:rect l="l" t="t" r="r" b="b"/>
              <a:pathLst>
                <a:path w="748356" h="791859">
                  <a:moveTo>
                    <a:pt x="448448" y="32725"/>
                  </a:moveTo>
                  <a:lnTo>
                    <a:pt x="706308" y="314710"/>
                  </a:lnTo>
                  <a:cubicBezTo>
                    <a:pt x="748356" y="360693"/>
                    <a:pt x="748356" y="431166"/>
                    <a:pt x="706308" y="477148"/>
                  </a:cubicBezTo>
                  <a:lnTo>
                    <a:pt x="448448" y="759133"/>
                  </a:lnTo>
                  <a:cubicBezTo>
                    <a:pt x="429383" y="779983"/>
                    <a:pt x="402431" y="791858"/>
                    <a:pt x="374178" y="791858"/>
                  </a:cubicBezTo>
                  <a:cubicBezTo>
                    <a:pt x="345925" y="791858"/>
                    <a:pt x="318973" y="779983"/>
                    <a:pt x="299908" y="759133"/>
                  </a:cubicBezTo>
                  <a:lnTo>
                    <a:pt x="42048" y="477148"/>
                  </a:lnTo>
                  <a:cubicBezTo>
                    <a:pt x="0" y="431166"/>
                    <a:pt x="0" y="360693"/>
                    <a:pt x="42048" y="314710"/>
                  </a:cubicBezTo>
                  <a:lnTo>
                    <a:pt x="299908" y="32725"/>
                  </a:lnTo>
                  <a:cubicBezTo>
                    <a:pt x="318973" y="11876"/>
                    <a:pt x="345925" y="0"/>
                    <a:pt x="374178" y="0"/>
                  </a:cubicBezTo>
                  <a:cubicBezTo>
                    <a:pt x="402431" y="0"/>
                    <a:pt x="429383" y="11876"/>
                    <a:pt x="448448" y="32725"/>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29" name="TextBox 29"/>
            <p:cNvSpPr txBox="1"/>
            <p:nvPr/>
          </p:nvSpPr>
          <p:spPr>
            <a:xfrm>
              <a:off x="139700" y="114670"/>
              <a:ext cx="533400" cy="621405"/>
            </a:xfrm>
            <a:prstGeom prst="rect">
              <a:avLst/>
            </a:prstGeom>
          </p:spPr>
          <p:txBody>
            <a:bodyPr lIns="50800" tIns="50800" rIns="50800" bIns="50800" rtlCol="0" anchor="ctr"/>
            <a:lstStyle/>
            <a:p>
              <a:pPr algn="ctr">
                <a:lnSpc>
                  <a:spcPts val="2800"/>
                </a:lnSpc>
              </a:pPr>
              <a:r>
                <a:rPr lang="en-US" sz="2000" b="1">
                  <a:solidFill>
                    <a:srgbClr val="000000"/>
                  </a:solidFill>
                  <a:latin typeface="Lora Bold"/>
                  <a:ea typeface="Lora Bold"/>
                  <a:cs typeface="Lora Bold"/>
                  <a:sym typeface="Lora Bold"/>
                </a:rPr>
                <a:t>04</a:t>
              </a:r>
            </a:p>
          </p:txBody>
        </p:sp>
      </p:grpSp>
      <p:sp>
        <p:nvSpPr>
          <p:cNvPr id="30" name="TextBox 30"/>
          <p:cNvSpPr txBox="1"/>
          <p:nvPr/>
        </p:nvSpPr>
        <p:spPr>
          <a:xfrm>
            <a:off x="1666808" y="7374745"/>
            <a:ext cx="3672476" cy="323215"/>
          </a:xfrm>
          <a:prstGeom prst="rect">
            <a:avLst/>
          </a:prstGeom>
        </p:spPr>
        <p:txBody>
          <a:bodyPr lIns="0" tIns="0" rIns="0" bIns="0" rtlCol="0" anchor="t">
            <a:spAutoFit/>
          </a:bodyPr>
          <a:lstStyle/>
          <a:p>
            <a:pPr algn="just">
              <a:lnSpc>
                <a:spcPts val="2659"/>
              </a:lnSpc>
              <a:spcBef>
                <a:spcPct val="0"/>
              </a:spcBef>
            </a:pPr>
            <a:r>
              <a:rPr lang="en-US" sz="1899" b="1">
                <a:solidFill>
                  <a:srgbClr val="29E2F9"/>
                </a:solidFill>
                <a:latin typeface="Canva Sans Bold"/>
                <a:ea typeface="Canva Sans Bold"/>
                <a:cs typeface="Canva Sans Bold"/>
                <a:sym typeface="Canva Sans Bold"/>
              </a:rPr>
              <a:t>Giải trí</a:t>
            </a:r>
          </a:p>
        </p:txBody>
      </p:sp>
      <p:sp>
        <p:nvSpPr>
          <p:cNvPr id="31" name="TextBox 31"/>
          <p:cNvSpPr txBox="1"/>
          <p:nvPr/>
        </p:nvSpPr>
        <p:spPr>
          <a:xfrm>
            <a:off x="7666263" y="4732191"/>
            <a:ext cx="4312063" cy="1091818"/>
          </a:xfrm>
          <a:prstGeom prst="rect">
            <a:avLst/>
          </a:prstGeom>
        </p:spPr>
        <p:txBody>
          <a:bodyPr lIns="0" tIns="0" rIns="0" bIns="0" rtlCol="0" anchor="t">
            <a:spAutoFit/>
          </a:bodyPr>
          <a:lstStyle/>
          <a:p>
            <a:pPr algn="just">
              <a:lnSpc>
                <a:spcPts val="2983"/>
              </a:lnSpc>
            </a:pPr>
            <a:r>
              <a:rPr lang="en-US" sz="1900" i="1">
                <a:solidFill>
                  <a:srgbClr val="FFFCFC"/>
                </a:solidFill>
                <a:latin typeface="Open Sans Italics"/>
                <a:ea typeface="Open Sans Italics"/>
                <a:cs typeface="Open Sans Italics"/>
                <a:sym typeface="Open Sans Italics"/>
              </a:rPr>
              <a:t>Người dùng có thể tra cứu bất kỳ thông tin nào trong vài giây, từ tin tức, kiến thức học thuật.</a:t>
            </a:r>
          </a:p>
        </p:txBody>
      </p:sp>
      <p:grpSp>
        <p:nvGrpSpPr>
          <p:cNvPr id="32" name="Group 32"/>
          <p:cNvGrpSpPr/>
          <p:nvPr/>
        </p:nvGrpSpPr>
        <p:grpSpPr>
          <a:xfrm>
            <a:off x="6797891" y="3940542"/>
            <a:ext cx="703443" cy="746768"/>
            <a:chOff x="0" y="0"/>
            <a:chExt cx="812800" cy="862861"/>
          </a:xfrm>
        </p:grpSpPr>
        <p:sp>
          <p:nvSpPr>
            <p:cNvPr id="33" name="Freeform 33"/>
            <p:cNvSpPr/>
            <p:nvPr/>
          </p:nvSpPr>
          <p:spPr>
            <a:xfrm>
              <a:off x="33077" y="47525"/>
              <a:ext cx="746646" cy="767811"/>
            </a:xfrm>
            <a:custGeom>
              <a:avLst/>
              <a:gdLst/>
              <a:ahLst/>
              <a:cxnLst/>
              <a:rect l="l" t="t" r="r" b="b"/>
              <a:pathLst>
                <a:path w="746646" h="767811">
                  <a:moveTo>
                    <a:pt x="448787" y="32587"/>
                  </a:moveTo>
                  <a:lnTo>
                    <a:pt x="704259" y="303794"/>
                  </a:lnTo>
                  <a:cubicBezTo>
                    <a:pt x="746646" y="348791"/>
                    <a:pt x="746646" y="419019"/>
                    <a:pt x="704259" y="464017"/>
                  </a:cubicBezTo>
                  <a:lnTo>
                    <a:pt x="448787" y="735224"/>
                  </a:lnTo>
                  <a:cubicBezTo>
                    <a:pt x="429197" y="756020"/>
                    <a:pt x="401893" y="767811"/>
                    <a:pt x="373323" y="767811"/>
                  </a:cubicBezTo>
                  <a:cubicBezTo>
                    <a:pt x="344753" y="767811"/>
                    <a:pt x="317449" y="756020"/>
                    <a:pt x="297859" y="735224"/>
                  </a:cubicBezTo>
                  <a:lnTo>
                    <a:pt x="42387" y="464017"/>
                  </a:lnTo>
                  <a:cubicBezTo>
                    <a:pt x="0" y="419019"/>
                    <a:pt x="0" y="348791"/>
                    <a:pt x="42387" y="303794"/>
                  </a:cubicBezTo>
                  <a:lnTo>
                    <a:pt x="297859" y="32587"/>
                  </a:lnTo>
                  <a:cubicBezTo>
                    <a:pt x="317449" y="11790"/>
                    <a:pt x="344753" y="0"/>
                    <a:pt x="373323" y="0"/>
                  </a:cubicBezTo>
                  <a:cubicBezTo>
                    <a:pt x="401893" y="0"/>
                    <a:pt x="429197" y="11790"/>
                    <a:pt x="448787" y="32587"/>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34" name="TextBox 34"/>
            <p:cNvSpPr txBox="1"/>
            <p:nvPr/>
          </p:nvSpPr>
          <p:spPr>
            <a:xfrm>
              <a:off x="139700" y="100679"/>
              <a:ext cx="533400" cy="613877"/>
            </a:xfrm>
            <a:prstGeom prst="rect">
              <a:avLst/>
            </a:prstGeom>
          </p:spPr>
          <p:txBody>
            <a:bodyPr lIns="50800" tIns="50800" rIns="50800" bIns="50800" rtlCol="0" anchor="ctr"/>
            <a:lstStyle/>
            <a:p>
              <a:pPr algn="ctr">
                <a:lnSpc>
                  <a:spcPts val="2800"/>
                </a:lnSpc>
              </a:pPr>
              <a:r>
                <a:rPr lang="en-US" sz="2000" b="1">
                  <a:solidFill>
                    <a:srgbClr val="000000"/>
                  </a:solidFill>
                  <a:latin typeface="Open Sans Bold"/>
                  <a:ea typeface="Open Sans Bold"/>
                  <a:cs typeface="Open Sans Bold"/>
                  <a:sym typeface="Open Sans Bold"/>
                </a:rPr>
                <a:t>02</a:t>
              </a:r>
            </a:p>
          </p:txBody>
        </p:sp>
      </p:grpSp>
      <p:sp>
        <p:nvSpPr>
          <p:cNvPr id="35" name="TextBox 35"/>
          <p:cNvSpPr txBox="1"/>
          <p:nvPr/>
        </p:nvSpPr>
        <p:spPr>
          <a:xfrm>
            <a:off x="7204251" y="4159935"/>
            <a:ext cx="4590281" cy="323215"/>
          </a:xfrm>
          <a:prstGeom prst="rect">
            <a:avLst/>
          </a:prstGeom>
        </p:spPr>
        <p:txBody>
          <a:bodyPr lIns="0" tIns="0" rIns="0" bIns="0" rtlCol="0" anchor="t">
            <a:spAutoFit/>
          </a:bodyPr>
          <a:lstStyle/>
          <a:p>
            <a:pPr algn="ctr">
              <a:lnSpc>
                <a:spcPts val="2659"/>
              </a:lnSpc>
              <a:spcBef>
                <a:spcPct val="0"/>
              </a:spcBef>
            </a:pPr>
            <a:r>
              <a:rPr lang="en-US" sz="1899" b="1">
                <a:solidFill>
                  <a:srgbClr val="29E2F9"/>
                </a:solidFill>
                <a:latin typeface="Open Sans Bold"/>
                <a:ea typeface="Open Sans Bold"/>
                <a:cs typeface="Open Sans Bold"/>
                <a:sym typeface="Open Sans Bold"/>
              </a:rPr>
              <a:t>Truy cập thông tin nhanh chóng</a:t>
            </a:r>
          </a:p>
        </p:txBody>
      </p:sp>
      <p:sp>
        <p:nvSpPr>
          <p:cNvPr id="36" name="TextBox 36"/>
          <p:cNvSpPr txBox="1"/>
          <p:nvPr/>
        </p:nvSpPr>
        <p:spPr>
          <a:xfrm>
            <a:off x="7609244" y="8010414"/>
            <a:ext cx="4312063" cy="720343"/>
          </a:xfrm>
          <a:prstGeom prst="rect">
            <a:avLst/>
          </a:prstGeom>
        </p:spPr>
        <p:txBody>
          <a:bodyPr lIns="0" tIns="0" rIns="0" bIns="0" rtlCol="0" anchor="t">
            <a:spAutoFit/>
          </a:bodyPr>
          <a:lstStyle/>
          <a:p>
            <a:pPr algn="just">
              <a:lnSpc>
                <a:spcPts val="2983"/>
              </a:lnSpc>
            </a:pPr>
            <a:r>
              <a:rPr lang="en-US" sz="1900" i="1">
                <a:solidFill>
                  <a:srgbClr val="FFFCFC"/>
                </a:solidFill>
                <a:latin typeface="Open Sans Italics"/>
                <a:ea typeface="Open Sans Italics"/>
                <a:cs typeface="Open Sans Italics"/>
                <a:sym typeface="Open Sans Italics"/>
              </a:rPr>
              <a:t>Mua sắm, đặt dịch vụ, thanh toán trực tuyến đều dễ dàng hơn nhờ Internet. </a:t>
            </a:r>
          </a:p>
        </p:txBody>
      </p:sp>
      <p:grpSp>
        <p:nvGrpSpPr>
          <p:cNvPr id="37" name="Group 37"/>
          <p:cNvGrpSpPr/>
          <p:nvPr/>
        </p:nvGrpSpPr>
        <p:grpSpPr>
          <a:xfrm>
            <a:off x="6797891" y="7170774"/>
            <a:ext cx="703443" cy="746768"/>
            <a:chOff x="0" y="0"/>
            <a:chExt cx="812800" cy="862861"/>
          </a:xfrm>
        </p:grpSpPr>
        <p:sp>
          <p:nvSpPr>
            <p:cNvPr id="38" name="Freeform 38"/>
            <p:cNvSpPr/>
            <p:nvPr/>
          </p:nvSpPr>
          <p:spPr>
            <a:xfrm>
              <a:off x="33077" y="47525"/>
              <a:ext cx="746646" cy="767811"/>
            </a:xfrm>
            <a:custGeom>
              <a:avLst/>
              <a:gdLst/>
              <a:ahLst/>
              <a:cxnLst/>
              <a:rect l="l" t="t" r="r" b="b"/>
              <a:pathLst>
                <a:path w="746646" h="767811">
                  <a:moveTo>
                    <a:pt x="448787" y="32587"/>
                  </a:moveTo>
                  <a:lnTo>
                    <a:pt x="704259" y="303794"/>
                  </a:lnTo>
                  <a:cubicBezTo>
                    <a:pt x="746646" y="348791"/>
                    <a:pt x="746646" y="419019"/>
                    <a:pt x="704259" y="464017"/>
                  </a:cubicBezTo>
                  <a:lnTo>
                    <a:pt x="448787" y="735224"/>
                  </a:lnTo>
                  <a:cubicBezTo>
                    <a:pt x="429197" y="756020"/>
                    <a:pt x="401893" y="767811"/>
                    <a:pt x="373323" y="767811"/>
                  </a:cubicBezTo>
                  <a:cubicBezTo>
                    <a:pt x="344753" y="767811"/>
                    <a:pt x="317449" y="756020"/>
                    <a:pt x="297859" y="735224"/>
                  </a:cubicBezTo>
                  <a:lnTo>
                    <a:pt x="42387" y="464017"/>
                  </a:lnTo>
                  <a:cubicBezTo>
                    <a:pt x="0" y="419019"/>
                    <a:pt x="0" y="348791"/>
                    <a:pt x="42387" y="303794"/>
                  </a:cubicBezTo>
                  <a:lnTo>
                    <a:pt x="297859" y="32587"/>
                  </a:lnTo>
                  <a:cubicBezTo>
                    <a:pt x="317449" y="11790"/>
                    <a:pt x="344753" y="0"/>
                    <a:pt x="373323" y="0"/>
                  </a:cubicBezTo>
                  <a:cubicBezTo>
                    <a:pt x="401893" y="0"/>
                    <a:pt x="429197" y="11790"/>
                    <a:pt x="448787" y="32587"/>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39" name="TextBox 39"/>
            <p:cNvSpPr txBox="1"/>
            <p:nvPr/>
          </p:nvSpPr>
          <p:spPr>
            <a:xfrm>
              <a:off x="139700" y="100679"/>
              <a:ext cx="533400" cy="613877"/>
            </a:xfrm>
            <a:prstGeom prst="rect">
              <a:avLst/>
            </a:prstGeom>
          </p:spPr>
          <p:txBody>
            <a:bodyPr lIns="50800" tIns="50800" rIns="50800" bIns="50800" rtlCol="0" anchor="ctr"/>
            <a:lstStyle/>
            <a:p>
              <a:pPr algn="ctr">
                <a:lnSpc>
                  <a:spcPts val="2800"/>
                </a:lnSpc>
              </a:pPr>
              <a:r>
                <a:rPr lang="en-US" sz="2000" b="1">
                  <a:solidFill>
                    <a:srgbClr val="000000"/>
                  </a:solidFill>
                  <a:latin typeface="Open Sans Bold"/>
                  <a:ea typeface="Open Sans Bold"/>
                  <a:cs typeface="Open Sans Bold"/>
                  <a:sym typeface="Open Sans Bold"/>
                </a:rPr>
                <a:t>05</a:t>
              </a:r>
            </a:p>
          </p:txBody>
        </p:sp>
      </p:grpSp>
      <p:sp>
        <p:nvSpPr>
          <p:cNvPr id="40" name="TextBox 40"/>
          <p:cNvSpPr txBox="1"/>
          <p:nvPr/>
        </p:nvSpPr>
        <p:spPr>
          <a:xfrm>
            <a:off x="7609244" y="7374745"/>
            <a:ext cx="2661992" cy="989965"/>
          </a:xfrm>
          <a:prstGeom prst="rect">
            <a:avLst/>
          </a:prstGeom>
        </p:spPr>
        <p:txBody>
          <a:bodyPr lIns="0" tIns="0" rIns="0" bIns="0" rtlCol="0" anchor="t">
            <a:spAutoFit/>
          </a:bodyPr>
          <a:lstStyle/>
          <a:p>
            <a:pPr algn="ctr">
              <a:lnSpc>
                <a:spcPts val="2659"/>
              </a:lnSpc>
              <a:spcBef>
                <a:spcPct val="0"/>
              </a:spcBef>
            </a:pPr>
            <a:r>
              <a:rPr lang="en-US" sz="1899" b="1">
                <a:solidFill>
                  <a:srgbClr val="29E2F9"/>
                </a:solidFill>
                <a:latin typeface="Open Sans Bold"/>
                <a:ea typeface="Open Sans Bold"/>
                <a:cs typeface="Open Sans Bold"/>
                <a:sym typeface="Open Sans Bold"/>
              </a:rPr>
              <a:t>Thương mại điện tử</a:t>
            </a:r>
          </a:p>
          <a:p>
            <a:pPr algn="ctr">
              <a:lnSpc>
                <a:spcPts val="2659"/>
              </a:lnSpc>
              <a:spcBef>
                <a:spcPct val="0"/>
              </a:spcBef>
            </a:pPr>
            <a:endParaRPr lang="en-US" sz="1899" b="1">
              <a:solidFill>
                <a:srgbClr val="29E2F9"/>
              </a:solidFill>
              <a:latin typeface="Open Sans Bold"/>
              <a:ea typeface="Open Sans Bold"/>
              <a:cs typeface="Open Sans Bold"/>
              <a:sym typeface="Open Sans Bold"/>
            </a:endParaRPr>
          </a:p>
          <a:p>
            <a:pPr algn="ctr">
              <a:lnSpc>
                <a:spcPts val="2659"/>
              </a:lnSpc>
              <a:spcBef>
                <a:spcPct val="0"/>
              </a:spcBef>
            </a:pPr>
            <a:endParaRPr lang="en-US" sz="1899" b="1">
              <a:solidFill>
                <a:srgbClr val="29E2F9"/>
              </a:solidFill>
              <a:latin typeface="Open Sans Bold"/>
              <a:ea typeface="Open Sans Bold"/>
              <a:cs typeface="Open Sans Bold"/>
              <a:sym typeface="Open Sans Bold"/>
            </a:endParaRPr>
          </a:p>
        </p:txBody>
      </p:sp>
      <p:sp>
        <p:nvSpPr>
          <p:cNvPr id="41" name="TextBox 41"/>
          <p:cNvSpPr txBox="1"/>
          <p:nvPr/>
        </p:nvSpPr>
        <p:spPr>
          <a:xfrm>
            <a:off x="13005711" y="4732191"/>
            <a:ext cx="4312063" cy="1091818"/>
          </a:xfrm>
          <a:prstGeom prst="rect">
            <a:avLst/>
          </a:prstGeom>
        </p:spPr>
        <p:txBody>
          <a:bodyPr lIns="0" tIns="0" rIns="0" bIns="0" rtlCol="0" anchor="t">
            <a:spAutoFit/>
          </a:bodyPr>
          <a:lstStyle/>
          <a:p>
            <a:pPr algn="just">
              <a:lnSpc>
                <a:spcPts val="2983"/>
              </a:lnSpc>
            </a:pPr>
            <a:r>
              <a:rPr lang="en-US" sz="1900" i="1" dirty="0" err="1">
                <a:solidFill>
                  <a:srgbClr val="FFFCFC"/>
                </a:solidFill>
                <a:latin typeface="Open Sans Italics"/>
                <a:ea typeface="Open Sans Italics"/>
                <a:cs typeface="Open Sans Italics"/>
                <a:sym typeface="Open Sans Italics"/>
              </a:rPr>
              <a:t>Cung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cấp</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kho</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tài</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liệu</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lớn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các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khóa</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học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trực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tuyến</a:t>
            </a:r>
            <a:r>
              <a:rPr lang="en-US" sz="1900" i="1" dirty="0">
                <a:solidFill>
                  <a:srgbClr val="FFFCFC"/>
                </a:solidFill>
                <a:latin typeface="Open Sans Italics"/>
                <a:ea typeface="Open Sans Italics"/>
                <a:cs typeface="Open Sans Italics"/>
                <a:sym typeface="Open Sans Italics"/>
              </a:rPr>
              <a:t>, video </a:t>
            </a:r>
            <a:r>
              <a:rPr lang="en-US" sz="1900" i="1" dirty="0" err="1">
                <a:solidFill>
                  <a:srgbClr val="FFFCFC"/>
                </a:solidFill>
                <a:latin typeface="Open Sans Italics"/>
                <a:ea typeface="Open Sans Italics"/>
                <a:cs typeface="Open Sans Italics"/>
                <a:sym typeface="Open Sans Italics"/>
              </a:rPr>
              <a:t>hướng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dẫn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bài</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giảng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miễn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phí</a:t>
            </a:r>
            <a:r>
              <a:rPr lang="en-US" sz="1900" i="1" dirty="0">
                <a:solidFill>
                  <a:srgbClr val="FFFCFC"/>
                </a:solidFill>
                <a:latin typeface="Open Sans Italics"/>
                <a:ea typeface="Open Sans Italics"/>
                <a:cs typeface="Open Sans Italics"/>
                <a:sym typeface="Open Sans Italics"/>
              </a:rPr>
              <a:t>,...</a:t>
            </a:r>
          </a:p>
        </p:txBody>
      </p:sp>
      <p:grpSp>
        <p:nvGrpSpPr>
          <p:cNvPr id="42" name="Group 42"/>
          <p:cNvGrpSpPr/>
          <p:nvPr/>
        </p:nvGrpSpPr>
        <p:grpSpPr>
          <a:xfrm>
            <a:off x="12137339" y="3940542"/>
            <a:ext cx="703443" cy="746768"/>
            <a:chOff x="0" y="0"/>
            <a:chExt cx="812800" cy="862861"/>
          </a:xfrm>
        </p:grpSpPr>
        <p:sp>
          <p:nvSpPr>
            <p:cNvPr id="43" name="Freeform 43"/>
            <p:cNvSpPr/>
            <p:nvPr/>
          </p:nvSpPr>
          <p:spPr>
            <a:xfrm>
              <a:off x="33077" y="47525"/>
              <a:ext cx="746646" cy="767811"/>
            </a:xfrm>
            <a:custGeom>
              <a:avLst/>
              <a:gdLst/>
              <a:ahLst/>
              <a:cxnLst/>
              <a:rect l="l" t="t" r="r" b="b"/>
              <a:pathLst>
                <a:path w="746646" h="767811">
                  <a:moveTo>
                    <a:pt x="448787" y="32587"/>
                  </a:moveTo>
                  <a:lnTo>
                    <a:pt x="704259" y="303794"/>
                  </a:lnTo>
                  <a:cubicBezTo>
                    <a:pt x="746646" y="348791"/>
                    <a:pt x="746646" y="419019"/>
                    <a:pt x="704259" y="464017"/>
                  </a:cubicBezTo>
                  <a:lnTo>
                    <a:pt x="448787" y="735224"/>
                  </a:lnTo>
                  <a:cubicBezTo>
                    <a:pt x="429197" y="756020"/>
                    <a:pt x="401893" y="767811"/>
                    <a:pt x="373323" y="767811"/>
                  </a:cubicBezTo>
                  <a:cubicBezTo>
                    <a:pt x="344753" y="767811"/>
                    <a:pt x="317449" y="756020"/>
                    <a:pt x="297859" y="735224"/>
                  </a:cubicBezTo>
                  <a:lnTo>
                    <a:pt x="42387" y="464017"/>
                  </a:lnTo>
                  <a:cubicBezTo>
                    <a:pt x="0" y="419019"/>
                    <a:pt x="0" y="348791"/>
                    <a:pt x="42387" y="303794"/>
                  </a:cubicBezTo>
                  <a:lnTo>
                    <a:pt x="297859" y="32587"/>
                  </a:lnTo>
                  <a:cubicBezTo>
                    <a:pt x="317449" y="11790"/>
                    <a:pt x="344753" y="0"/>
                    <a:pt x="373323" y="0"/>
                  </a:cubicBezTo>
                  <a:cubicBezTo>
                    <a:pt x="401893" y="0"/>
                    <a:pt x="429197" y="11790"/>
                    <a:pt x="448787" y="32587"/>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44" name="TextBox 44"/>
            <p:cNvSpPr txBox="1"/>
            <p:nvPr/>
          </p:nvSpPr>
          <p:spPr>
            <a:xfrm>
              <a:off x="139700" y="100679"/>
              <a:ext cx="533400" cy="613877"/>
            </a:xfrm>
            <a:prstGeom prst="rect">
              <a:avLst/>
            </a:prstGeom>
          </p:spPr>
          <p:txBody>
            <a:bodyPr lIns="50800" tIns="50800" rIns="50800" bIns="50800" rtlCol="0" anchor="ctr"/>
            <a:lstStyle/>
            <a:p>
              <a:pPr algn="ctr">
                <a:lnSpc>
                  <a:spcPts val="2800"/>
                </a:lnSpc>
              </a:pPr>
              <a:r>
                <a:rPr lang="en-US" sz="2000" b="1">
                  <a:solidFill>
                    <a:srgbClr val="000000"/>
                  </a:solidFill>
                  <a:latin typeface="Open Sans Bold"/>
                  <a:ea typeface="Open Sans Bold"/>
                  <a:cs typeface="Open Sans Bold"/>
                  <a:sym typeface="Open Sans Bold"/>
                </a:rPr>
                <a:t>03</a:t>
              </a:r>
            </a:p>
          </p:txBody>
        </p:sp>
      </p:grpSp>
      <p:sp>
        <p:nvSpPr>
          <p:cNvPr id="45" name="TextBox 45"/>
          <p:cNvSpPr txBox="1"/>
          <p:nvPr/>
        </p:nvSpPr>
        <p:spPr>
          <a:xfrm>
            <a:off x="12321209" y="4144513"/>
            <a:ext cx="3940169" cy="323215"/>
          </a:xfrm>
          <a:prstGeom prst="rect">
            <a:avLst/>
          </a:prstGeom>
        </p:spPr>
        <p:txBody>
          <a:bodyPr lIns="0" tIns="0" rIns="0" bIns="0" rtlCol="0" anchor="t">
            <a:spAutoFit/>
          </a:bodyPr>
          <a:lstStyle/>
          <a:p>
            <a:pPr algn="ctr">
              <a:lnSpc>
                <a:spcPts val="2659"/>
              </a:lnSpc>
              <a:spcBef>
                <a:spcPct val="0"/>
              </a:spcBef>
            </a:pPr>
            <a:r>
              <a:rPr lang="en-US" sz="1899" b="1">
                <a:solidFill>
                  <a:srgbClr val="29E2F9"/>
                </a:solidFill>
                <a:latin typeface="Open Sans Bold"/>
                <a:ea typeface="Open Sans Bold"/>
                <a:cs typeface="Open Sans Bold"/>
                <a:sym typeface="Open Sans Bold"/>
              </a:rPr>
              <a:t>Học tập và nghiên cứu</a:t>
            </a:r>
          </a:p>
        </p:txBody>
      </p:sp>
      <p:sp>
        <p:nvSpPr>
          <p:cNvPr id="46" name="TextBox 46"/>
          <p:cNvSpPr txBox="1"/>
          <p:nvPr/>
        </p:nvSpPr>
        <p:spPr>
          <a:xfrm>
            <a:off x="12948691" y="8010414"/>
            <a:ext cx="4312063" cy="1091818"/>
          </a:xfrm>
          <a:prstGeom prst="rect">
            <a:avLst/>
          </a:prstGeom>
        </p:spPr>
        <p:txBody>
          <a:bodyPr lIns="0" tIns="0" rIns="0" bIns="0" rtlCol="0" anchor="t">
            <a:spAutoFit/>
          </a:bodyPr>
          <a:lstStyle/>
          <a:p>
            <a:pPr algn="just">
              <a:lnSpc>
                <a:spcPts val="2983"/>
              </a:lnSpc>
            </a:pPr>
            <a:r>
              <a:rPr lang="en-US" sz="1900" i="1" dirty="0" err="1">
                <a:solidFill>
                  <a:srgbClr val="FFFCFC"/>
                </a:solidFill>
                <a:latin typeface="Open Sans Italics"/>
                <a:ea typeface="Open Sans Italics"/>
                <a:cs typeface="Open Sans Italics"/>
                <a:sym typeface="Open Sans Italics"/>
              </a:rPr>
              <a:t>Hỗ</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trợ</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làm</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việc</a:t>
            </a:r>
            <a:r>
              <a:rPr lang="en-US" sz="1900" i="1" dirty="0">
                <a:solidFill>
                  <a:srgbClr val="FFFCFC"/>
                </a:solidFill>
                <a:latin typeface="Open Sans Italics"/>
                <a:ea typeface="Open Sans Italics"/>
                <a:cs typeface="Open Sans Italics"/>
                <a:sym typeface="Open Sans Italics"/>
              </a:rPr>
              <a:t> online qua </a:t>
            </a:r>
            <a:r>
              <a:rPr lang="en-US" sz="1900" i="1" dirty="0" err="1">
                <a:solidFill>
                  <a:srgbClr val="FFFCFC"/>
                </a:solidFill>
                <a:latin typeface="Open Sans Italics"/>
                <a:ea typeface="Open Sans Italics"/>
                <a:cs typeface="Open Sans Italics"/>
                <a:sym typeface="Open Sans Italics"/>
              </a:rPr>
              <a:t>các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công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cụ</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như</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họp</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trực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tuyến</a:t>
            </a:r>
            <a:r>
              <a:rPr lang="en-US" sz="1900" i="1" dirty="0">
                <a:solidFill>
                  <a:srgbClr val="FFFCFC"/>
                </a:solidFill>
                <a:latin typeface="Open Sans Italics"/>
                <a:ea typeface="Open Sans Italics"/>
                <a:cs typeface="Open Sans Italics"/>
                <a:sym typeface="Open Sans Italics"/>
              </a:rPr>
              <a:t>, chia </a:t>
            </a:r>
            <a:r>
              <a:rPr lang="en-US" sz="1900" i="1" dirty="0" err="1">
                <a:solidFill>
                  <a:srgbClr val="FFFCFC"/>
                </a:solidFill>
                <a:latin typeface="Open Sans Italics"/>
                <a:ea typeface="Open Sans Italics"/>
                <a:cs typeface="Open Sans Italics"/>
                <a:sym typeface="Open Sans Italics"/>
              </a:rPr>
              <a:t>sẻ</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tài</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liệu</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giao</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việc</a:t>
            </a:r>
            <a:r>
              <a:rPr lang="en-US" sz="1900" i="1" dirty="0">
                <a:solidFill>
                  <a:srgbClr val="FFFCFC"/>
                </a:solidFill>
                <a:latin typeface="Open Sans Italics"/>
                <a:ea typeface="Open Sans Italics"/>
                <a:cs typeface="Open Sans Italics"/>
                <a:sym typeface="Open Sans Italics"/>
              </a:rPr>
              <a:t>,...</a:t>
            </a:r>
          </a:p>
        </p:txBody>
      </p:sp>
      <p:grpSp>
        <p:nvGrpSpPr>
          <p:cNvPr id="47" name="Group 47"/>
          <p:cNvGrpSpPr/>
          <p:nvPr/>
        </p:nvGrpSpPr>
        <p:grpSpPr>
          <a:xfrm>
            <a:off x="12137339" y="7170774"/>
            <a:ext cx="703443" cy="746768"/>
            <a:chOff x="0" y="0"/>
            <a:chExt cx="812800" cy="862861"/>
          </a:xfrm>
        </p:grpSpPr>
        <p:sp>
          <p:nvSpPr>
            <p:cNvPr id="48" name="Freeform 48"/>
            <p:cNvSpPr/>
            <p:nvPr/>
          </p:nvSpPr>
          <p:spPr>
            <a:xfrm>
              <a:off x="33077" y="47525"/>
              <a:ext cx="746646" cy="767811"/>
            </a:xfrm>
            <a:custGeom>
              <a:avLst/>
              <a:gdLst/>
              <a:ahLst/>
              <a:cxnLst/>
              <a:rect l="l" t="t" r="r" b="b"/>
              <a:pathLst>
                <a:path w="746646" h="767811">
                  <a:moveTo>
                    <a:pt x="448787" y="32587"/>
                  </a:moveTo>
                  <a:lnTo>
                    <a:pt x="704259" y="303794"/>
                  </a:lnTo>
                  <a:cubicBezTo>
                    <a:pt x="746646" y="348791"/>
                    <a:pt x="746646" y="419019"/>
                    <a:pt x="704259" y="464017"/>
                  </a:cubicBezTo>
                  <a:lnTo>
                    <a:pt x="448787" y="735224"/>
                  </a:lnTo>
                  <a:cubicBezTo>
                    <a:pt x="429197" y="756020"/>
                    <a:pt x="401893" y="767811"/>
                    <a:pt x="373323" y="767811"/>
                  </a:cubicBezTo>
                  <a:cubicBezTo>
                    <a:pt x="344753" y="767811"/>
                    <a:pt x="317449" y="756020"/>
                    <a:pt x="297859" y="735224"/>
                  </a:cubicBezTo>
                  <a:lnTo>
                    <a:pt x="42387" y="464017"/>
                  </a:lnTo>
                  <a:cubicBezTo>
                    <a:pt x="0" y="419019"/>
                    <a:pt x="0" y="348791"/>
                    <a:pt x="42387" y="303794"/>
                  </a:cubicBezTo>
                  <a:lnTo>
                    <a:pt x="297859" y="32587"/>
                  </a:lnTo>
                  <a:cubicBezTo>
                    <a:pt x="317449" y="11790"/>
                    <a:pt x="344753" y="0"/>
                    <a:pt x="373323" y="0"/>
                  </a:cubicBezTo>
                  <a:cubicBezTo>
                    <a:pt x="401893" y="0"/>
                    <a:pt x="429197" y="11790"/>
                    <a:pt x="448787" y="32587"/>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49" name="TextBox 49"/>
            <p:cNvSpPr txBox="1"/>
            <p:nvPr/>
          </p:nvSpPr>
          <p:spPr>
            <a:xfrm>
              <a:off x="139700" y="100679"/>
              <a:ext cx="533400" cy="613877"/>
            </a:xfrm>
            <a:prstGeom prst="rect">
              <a:avLst/>
            </a:prstGeom>
          </p:spPr>
          <p:txBody>
            <a:bodyPr lIns="50800" tIns="50800" rIns="50800" bIns="50800" rtlCol="0" anchor="ctr"/>
            <a:lstStyle/>
            <a:p>
              <a:pPr algn="ctr">
                <a:lnSpc>
                  <a:spcPts val="2800"/>
                </a:lnSpc>
              </a:pPr>
              <a:r>
                <a:rPr lang="en-US" sz="2000" b="1">
                  <a:solidFill>
                    <a:srgbClr val="000000"/>
                  </a:solidFill>
                  <a:latin typeface="Open Sans Bold"/>
                  <a:ea typeface="Open Sans Bold"/>
                  <a:cs typeface="Open Sans Bold"/>
                  <a:sym typeface="Open Sans Bold"/>
                </a:rPr>
                <a:t>06</a:t>
              </a:r>
            </a:p>
          </p:txBody>
        </p:sp>
      </p:grpSp>
      <p:sp>
        <p:nvSpPr>
          <p:cNvPr id="50" name="TextBox 50"/>
          <p:cNvSpPr txBox="1"/>
          <p:nvPr/>
        </p:nvSpPr>
        <p:spPr>
          <a:xfrm>
            <a:off x="12945556" y="7374745"/>
            <a:ext cx="1987537" cy="323215"/>
          </a:xfrm>
          <a:prstGeom prst="rect">
            <a:avLst/>
          </a:prstGeom>
        </p:spPr>
        <p:txBody>
          <a:bodyPr lIns="0" tIns="0" rIns="0" bIns="0" rtlCol="0" anchor="t">
            <a:spAutoFit/>
          </a:bodyPr>
          <a:lstStyle/>
          <a:p>
            <a:pPr algn="ctr">
              <a:lnSpc>
                <a:spcPts val="2659"/>
              </a:lnSpc>
              <a:spcBef>
                <a:spcPct val="0"/>
              </a:spcBef>
            </a:pPr>
            <a:r>
              <a:rPr lang="en-US" sz="1899" b="1">
                <a:solidFill>
                  <a:srgbClr val="29E2F9"/>
                </a:solidFill>
                <a:latin typeface="Open Sans Bold"/>
                <a:ea typeface="Open Sans Bold"/>
                <a:cs typeface="Open Sans Bold"/>
                <a:sym typeface="Open Sans Bold"/>
              </a:rPr>
              <a:t>Làm việc từ xa</a:t>
            </a:r>
          </a:p>
        </p:txBody>
      </p:sp>
      <p:sp>
        <p:nvSpPr>
          <p:cNvPr id="52" name="Freeform 52"/>
          <p:cNvSpPr/>
          <p:nvPr/>
        </p:nvSpPr>
        <p:spPr>
          <a:xfrm>
            <a:off x="276194" y="137537"/>
            <a:ext cx="3783955" cy="3783955"/>
          </a:xfrm>
          <a:custGeom>
            <a:avLst/>
            <a:gdLst/>
            <a:ahLst/>
            <a:cxnLst/>
            <a:rect l="l" t="t" r="r" b="b"/>
            <a:pathLst>
              <a:path w="3783955" h="3783955">
                <a:moveTo>
                  <a:pt x="0" y="0"/>
                </a:moveTo>
                <a:lnTo>
                  <a:pt x="3783955" y="0"/>
                </a:lnTo>
                <a:lnTo>
                  <a:pt x="3783955" y="3783955"/>
                </a:lnTo>
                <a:lnTo>
                  <a:pt x="0" y="37839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3" name="TextBox 53"/>
          <p:cNvSpPr txBox="1"/>
          <p:nvPr/>
        </p:nvSpPr>
        <p:spPr>
          <a:xfrm>
            <a:off x="3682726" y="1318252"/>
            <a:ext cx="12104260" cy="1484180"/>
          </a:xfrm>
          <a:prstGeom prst="rect">
            <a:avLst/>
          </a:prstGeom>
        </p:spPr>
        <p:txBody>
          <a:bodyPr lIns="0" tIns="0" rIns="0" bIns="0" rtlCol="0" anchor="t">
            <a:spAutoFit/>
          </a:bodyPr>
          <a:lstStyle/>
          <a:p>
            <a:pPr algn="l">
              <a:lnSpc>
                <a:spcPts val="11678"/>
              </a:lnSpc>
            </a:pPr>
            <a:r>
              <a:rPr lang="en-US" sz="9813" dirty="0">
                <a:solidFill>
                  <a:srgbClr val="9AF7FF"/>
                </a:solidFill>
                <a:latin typeface="Anton"/>
                <a:ea typeface="Anton"/>
                <a:cs typeface="Anton"/>
                <a:sym typeface="Anton"/>
              </a:rPr>
              <a:t>    LỢI ÍCH CỦA INTERNET</a:t>
            </a:r>
          </a:p>
        </p:txBody>
      </p:sp>
      <p:sp>
        <p:nvSpPr>
          <p:cNvPr id="54" name="Freeform 51">
            <a:extLst>
              <a:ext uri="{FF2B5EF4-FFF2-40B4-BE49-F238E27FC236}">
                <a16:creationId xmlns:a16="http://schemas.microsoft.com/office/drawing/2014/main" id="{506CA989-C5A2-C544-96C4-E1D4A0F3F4F4}"/>
              </a:ext>
            </a:extLst>
          </p:cNvPr>
          <p:cNvSpPr/>
          <p:nvPr/>
        </p:nvSpPr>
        <p:spPr>
          <a:xfrm>
            <a:off x="-7540058" y="-1179655"/>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5">
              <a:alphaModFix amt="14000"/>
              <a:extLst>
                <a:ext uri="{96DAC541-7B7A-43D3-8B79-37D633B846F1}">
                  <asvg:svgBlip xmlns:asvg="http://schemas.microsoft.com/office/drawing/2016/SVG/main" r:embed="rId6"/>
                </a:ext>
              </a:extLst>
            </a:blip>
            <a:stretch>
              <a:fillRect/>
            </a:stretch>
          </a:blipFill>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p:tgtEl>
                                          <p:spTgt spid="53"/>
                                        </p:tgtEl>
                                        <p:attrNameLst>
                                          <p:attrName>ppt_x</p:attrName>
                                        </p:attrNameLst>
                                      </p:cBhvr>
                                      <p:tavLst>
                                        <p:tav tm="0">
                                          <p:val>
                                            <p:strVal val="#ppt_x-#ppt_w*1.125000"/>
                                          </p:val>
                                        </p:tav>
                                        <p:tav tm="100000">
                                          <p:val>
                                            <p:strVal val="#ppt_x"/>
                                          </p:val>
                                        </p:tav>
                                      </p:tavLst>
                                    </p:anim>
                                    <p:animEffect transition="in" filter="wipe(right)">
                                      <p:cBhvr>
                                        <p:cTn id="8" dur="500"/>
                                        <p:tgtEl>
                                          <p:spTgt spid="5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p:tgtEl>
                                          <p:spTgt spid="22"/>
                                        </p:tgtEl>
                                        <p:attrNameLst>
                                          <p:attrName>ppt_y</p:attrName>
                                        </p:attrNameLst>
                                      </p:cBhvr>
                                      <p:tavLst>
                                        <p:tav tm="0">
                                          <p:val>
                                            <p:strVal val="#ppt_y+#ppt_h*1.125000"/>
                                          </p:val>
                                        </p:tav>
                                        <p:tav tm="100000">
                                          <p:val>
                                            <p:strVal val="#ppt_y"/>
                                          </p:val>
                                        </p:tav>
                                      </p:tavLst>
                                    </p:anim>
                                    <p:animEffect transition="in" filter="wipe(up)">
                                      <p:cBhvr>
                                        <p:cTn id="14" dur="500"/>
                                        <p:tgtEl>
                                          <p:spTgt spid="22"/>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p:tgtEl>
                                          <p:spTgt spid="25"/>
                                        </p:tgtEl>
                                        <p:attrNameLst>
                                          <p:attrName>ppt_y</p:attrName>
                                        </p:attrNameLst>
                                      </p:cBhvr>
                                      <p:tavLst>
                                        <p:tav tm="0">
                                          <p:val>
                                            <p:strVal val="#ppt_y+#ppt_h*1.125000"/>
                                          </p:val>
                                        </p:tav>
                                        <p:tav tm="100000">
                                          <p:val>
                                            <p:strVal val="#ppt_y"/>
                                          </p:val>
                                        </p:tav>
                                      </p:tavLst>
                                    </p:anim>
                                    <p:animEffect transition="in" filter="wipe(up)">
                                      <p:cBhvr>
                                        <p:cTn id="18" dur="500"/>
                                        <p:tgtEl>
                                          <p:spTgt spid="25"/>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p:tgtEl>
                                          <p:spTgt spid="26"/>
                                        </p:tgtEl>
                                        <p:attrNameLst>
                                          <p:attrName>ppt_y</p:attrName>
                                        </p:attrNameLst>
                                      </p:cBhvr>
                                      <p:tavLst>
                                        <p:tav tm="0">
                                          <p:val>
                                            <p:strVal val="#ppt_y+#ppt_h*1.125000"/>
                                          </p:val>
                                        </p:tav>
                                        <p:tav tm="100000">
                                          <p:val>
                                            <p:strVal val="#ppt_y"/>
                                          </p:val>
                                        </p:tav>
                                      </p:tavLst>
                                    </p:anim>
                                    <p:animEffect transition="in" filter="wipe(up)">
                                      <p:cBhvr>
                                        <p:cTn id="22" dur="500"/>
                                        <p:tgtEl>
                                          <p:spTgt spid="26"/>
                                        </p:tgtEl>
                                      </p:cBhvr>
                                    </p:animEffect>
                                  </p:childTnLst>
                                </p:cTn>
                              </p:par>
                              <p:par>
                                <p:cTn id="23" presetID="12" presetClass="entr" presetSubtype="4"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p:tgtEl>
                                          <p:spTgt spid="27"/>
                                        </p:tgtEl>
                                        <p:attrNameLst>
                                          <p:attrName>ppt_y</p:attrName>
                                        </p:attrNameLst>
                                      </p:cBhvr>
                                      <p:tavLst>
                                        <p:tav tm="0">
                                          <p:val>
                                            <p:strVal val="#ppt_y+#ppt_h*1.125000"/>
                                          </p:val>
                                        </p:tav>
                                        <p:tav tm="100000">
                                          <p:val>
                                            <p:strVal val="#ppt_y"/>
                                          </p:val>
                                        </p:tav>
                                      </p:tavLst>
                                    </p:anim>
                                    <p:animEffect transition="in" filter="wipe(up)">
                                      <p:cBhvr>
                                        <p:cTn id="26" dur="500"/>
                                        <p:tgtEl>
                                          <p:spTgt spid="27"/>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p:tgtEl>
                                          <p:spTgt spid="30"/>
                                        </p:tgtEl>
                                        <p:attrNameLst>
                                          <p:attrName>ppt_y</p:attrName>
                                        </p:attrNameLst>
                                      </p:cBhvr>
                                      <p:tavLst>
                                        <p:tav tm="0">
                                          <p:val>
                                            <p:strVal val="#ppt_y+#ppt_h*1.125000"/>
                                          </p:val>
                                        </p:tav>
                                        <p:tav tm="100000">
                                          <p:val>
                                            <p:strVal val="#ppt_y"/>
                                          </p:val>
                                        </p:tav>
                                      </p:tavLst>
                                    </p:anim>
                                    <p:animEffect transition="in" filter="wipe(up)">
                                      <p:cBhvr>
                                        <p:cTn id="30" dur="500"/>
                                        <p:tgtEl>
                                          <p:spTgt spid="30"/>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additive="base">
                                        <p:cTn id="33" dur="500"/>
                                        <p:tgtEl>
                                          <p:spTgt spid="31"/>
                                        </p:tgtEl>
                                        <p:attrNameLst>
                                          <p:attrName>ppt_y</p:attrName>
                                        </p:attrNameLst>
                                      </p:cBhvr>
                                      <p:tavLst>
                                        <p:tav tm="0">
                                          <p:val>
                                            <p:strVal val="#ppt_y+#ppt_h*1.125000"/>
                                          </p:val>
                                        </p:tav>
                                        <p:tav tm="100000">
                                          <p:val>
                                            <p:strVal val="#ppt_y"/>
                                          </p:val>
                                        </p:tav>
                                      </p:tavLst>
                                    </p:anim>
                                    <p:animEffect transition="in" filter="wipe(up)">
                                      <p:cBhvr>
                                        <p:cTn id="34" dur="500"/>
                                        <p:tgtEl>
                                          <p:spTgt spid="31"/>
                                        </p:tgtEl>
                                      </p:cBhvr>
                                    </p:animEffect>
                                  </p:childTnLst>
                                </p:cTn>
                              </p:par>
                              <p:par>
                                <p:cTn id="35" presetID="12" presetClass="entr" presetSubtype="4"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500"/>
                                        <p:tgtEl>
                                          <p:spTgt spid="35"/>
                                        </p:tgtEl>
                                        <p:attrNameLst>
                                          <p:attrName>ppt_y</p:attrName>
                                        </p:attrNameLst>
                                      </p:cBhvr>
                                      <p:tavLst>
                                        <p:tav tm="0">
                                          <p:val>
                                            <p:strVal val="#ppt_y+#ppt_h*1.125000"/>
                                          </p:val>
                                        </p:tav>
                                        <p:tav tm="100000">
                                          <p:val>
                                            <p:strVal val="#ppt_y"/>
                                          </p:val>
                                        </p:tav>
                                      </p:tavLst>
                                    </p:anim>
                                    <p:animEffect transition="in" filter="wipe(up)">
                                      <p:cBhvr>
                                        <p:cTn id="42" dur="500"/>
                                        <p:tgtEl>
                                          <p:spTgt spid="35"/>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 calcmode="lin" valueType="num">
                                      <p:cBhvr additive="base">
                                        <p:cTn id="45" dur="500"/>
                                        <p:tgtEl>
                                          <p:spTgt spid="36"/>
                                        </p:tgtEl>
                                        <p:attrNameLst>
                                          <p:attrName>ppt_y</p:attrName>
                                        </p:attrNameLst>
                                      </p:cBhvr>
                                      <p:tavLst>
                                        <p:tav tm="0">
                                          <p:val>
                                            <p:strVal val="#ppt_y+#ppt_h*1.125000"/>
                                          </p:val>
                                        </p:tav>
                                        <p:tav tm="100000">
                                          <p:val>
                                            <p:strVal val="#ppt_y"/>
                                          </p:val>
                                        </p:tav>
                                      </p:tavLst>
                                    </p:anim>
                                    <p:animEffect transition="in" filter="wipe(up)">
                                      <p:cBhvr>
                                        <p:cTn id="46" dur="500"/>
                                        <p:tgtEl>
                                          <p:spTgt spid="36"/>
                                        </p:tgtEl>
                                      </p:cBhvr>
                                    </p:animEffect>
                                  </p:childTnLst>
                                </p:cTn>
                              </p:par>
                              <p:par>
                                <p:cTn id="47" presetID="12" presetClass="entr" presetSubtype="4"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p:tgtEl>
                                          <p:spTgt spid="37"/>
                                        </p:tgtEl>
                                        <p:attrNameLst>
                                          <p:attrName>ppt_y</p:attrName>
                                        </p:attrNameLst>
                                      </p:cBhvr>
                                      <p:tavLst>
                                        <p:tav tm="0">
                                          <p:val>
                                            <p:strVal val="#ppt_y+#ppt_h*1.125000"/>
                                          </p:val>
                                        </p:tav>
                                        <p:tav tm="100000">
                                          <p:val>
                                            <p:strVal val="#ppt_y"/>
                                          </p:val>
                                        </p:tav>
                                      </p:tavLst>
                                    </p:anim>
                                    <p:animEffect transition="in" filter="wipe(up)">
                                      <p:cBhvr>
                                        <p:cTn id="50" dur="500"/>
                                        <p:tgtEl>
                                          <p:spTgt spid="37"/>
                                        </p:tgtEl>
                                      </p:cBhvr>
                                    </p:animEffect>
                                  </p:childTnLst>
                                </p:cTn>
                              </p:par>
                              <p:par>
                                <p:cTn id="51" presetID="12" presetClass="entr" presetSubtype="4"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additive="base">
                                        <p:cTn id="53" dur="500"/>
                                        <p:tgtEl>
                                          <p:spTgt spid="40"/>
                                        </p:tgtEl>
                                        <p:attrNameLst>
                                          <p:attrName>ppt_y</p:attrName>
                                        </p:attrNameLst>
                                      </p:cBhvr>
                                      <p:tavLst>
                                        <p:tav tm="0">
                                          <p:val>
                                            <p:strVal val="#ppt_y+#ppt_h*1.125000"/>
                                          </p:val>
                                        </p:tav>
                                        <p:tav tm="100000">
                                          <p:val>
                                            <p:strVal val="#ppt_y"/>
                                          </p:val>
                                        </p:tav>
                                      </p:tavLst>
                                    </p:anim>
                                    <p:animEffect transition="in" filter="wipe(up)">
                                      <p:cBhvr>
                                        <p:cTn id="54" dur="500"/>
                                        <p:tgtEl>
                                          <p:spTgt spid="40"/>
                                        </p:tgtEl>
                                      </p:cBhvr>
                                    </p:animEffect>
                                  </p:childTnLst>
                                </p:cTn>
                              </p:par>
                              <p:par>
                                <p:cTn id="55" presetID="12" presetClass="entr" presetSubtype="4"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anim calcmode="lin" valueType="num">
                                      <p:cBhvr additive="base">
                                        <p:cTn id="57" dur="500"/>
                                        <p:tgtEl>
                                          <p:spTgt spid="42"/>
                                        </p:tgtEl>
                                        <p:attrNameLst>
                                          <p:attrName>ppt_y</p:attrName>
                                        </p:attrNameLst>
                                      </p:cBhvr>
                                      <p:tavLst>
                                        <p:tav tm="0">
                                          <p:val>
                                            <p:strVal val="#ppt_y+#ppt_h*1.125000"/>
                                          </p:val>
                                        </p:tav>
                                        <p:tav tm="100000">
                                          <p:val>
                                            <p:strVal val="#ppt_y"/>
                                          </p:val>
                                        </p:tav>
                                      </p:tavLst>
                                    </p:anim>
                                    <p:animEffect transition="in" filter="wipe(up)">
                                      <p:cBhvr>
                                        <p:cTn id="58" dur="500"/>
                                        <p:tgtEl>
                                          <p:spTgt spid="42"/>
                                        </p:tgtEl>
                                      </p:cBhvr>
                                    </p:animEffect>
                                  </p:childTnLst>
                                </p:cTn>
                              </p:par>
                              <p:par>
                                <p:cTn id="59" presetID="12" presetClass="entr" presetSubtype="4" fill="hold" grpId="0" nodeType="withEffect">
                                  <p:stCondLst>
                                    <p:cond delay="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p:tgtEl>
                                          <p:spTgt spid="45"/>
                                        </p:tgtEl>
                                        <p:attrNameLst>
                                          <p:attrName>ppt_y</p:attrName>
                                        </p:attrNameLst>
                                      </p:cBhvr>
                                      <p:tavLst>
                                        <p:tav tm="0">
                                          <p:val>
                                            <p:strVal val="#ppt_y+#ppt_h*1.125000"/>
                                          </p:val>
                                        </p:tav>
                                        <p:tav tm="100000">
                                          <p:val>
                                            <p:strVal val="#ppt_y"/>
                                          </p:val>
                                        </p:tav>
                                      </p:tavLst>
                                    </p:anim>
                                    <p:animEffect transition="in" filter="wipe(up)">
                                      <p:cBhvr>
                                        <p:cTn id="62" dur="500"/>
                                        <p:tgtEl>
                                          <p:spTgt spid="45"/>
                                        </p:tgtEl>
                                      </p:cBhvr>
                                    </p:animEffect>
                                  </p:childTnLst>
                                </p:cTn>
                              </p:par>
                              <p:par>
                                <p:cTn id="63" presetID="12" presetClass="entr" presetSubtype="4"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anim calcmode="lin" valueType="num">
                                      <p:cBhvr additive="base">
                                        <p:cTn id="65" dur="500"/>
                                        <p:tgtEl>
                                          <p:spTgt spid="47"/>
                                        </p:tgtEl>
                                        <p:attrNameLst>
                                          <p:attrName>ppt_y</p:attrName>
                                        </p:attrNameLst>
                                      </p:cBhvr>
                                      <p:tavLst>
                                        <p:tav tm="0">
                                          <p:val>
                                            <p:strVal val="#ppt_y+#ppt_h*1.125000"/>
                                          </p:val>
                                        </p:tav>
                                        <p:tav tm="100000">
                                          <p:val>
                                            <p:strVal val="#ppt_y"/>
                                          </p:val>
                                        </p:tav>
                                      </p:tavLst>
                                    </p:anim>
                                    <p:animEffect transition="in" filter="wipe(up)">
                                      <p:cBhvr>
                                        <p:cTn id="66" dur="500"/>
                                        <p:tgtEl>
                                          <p:spTgt spid="47"/>
                                        </p:tgtEl>
                                      </p:cBhvr>
                                    </p:animEffect>
                                  </p:childTnLst>
                                </p:cTn>
                              </p:par>
                              <p:par>
                                <p:cTn id="67" presetID="12" presetClass="entr" presetSubtype="4"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anim calcmode="lin" valueType="num">
                                      <p:cBhvr additive="base">
                                        <p:cTn id="69" dur="500"/>
                                        <p:tgtEl>
                                          <p:spTgt spid="50"/>
                                        </p:tgtEl>
                                        <p:attrNameLst>
                                          <p:attrName>ppt_y</p:attrName>
                                        </p:attrNameLst>
                                      </p:cBhvr>
                                      <p:tavLst>
                                        <p:tav tm="0">
                                          <p:val>
                                            <p:strVal val="#ppt_y+#ppt_h*1.125000"/>
                                          </p:val>
                                        </p:tav>
                                        <p:tav tm="100000">
                                          <p:val>
                                            <p:strVal val="#ppt_y"/>
                                          </p:val>
                                        </p:tav>
                                      </p:tavLst>
                                    </p:anim>
                                    <p:animEffect transition="in" filter="wipe(up)">
                                      <p:cBhvr>
                                        <p:cTn id="70" dur="500"/>
                                        <p:tgtEl>
                                          <p:spTgt spid="50"/>
                                        </p:tgtEl>
                                      </p:cBhvr>
                                    </p:animEffect>
                                  </p:childTnLst>
                                </p:cTn>
                              </p:par>
                              <p:par>
                                <p:cTn id="71" presetID="12" presetClass="entr" presetSubtype="4"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additive="base">
                                        <p:cTn id="73" dur="500"/>
                                        <p:tgtEl>
                                          <p:spTgt spid="46"/>
                                        </p:tgtEl>
                                        <p:attrNameLst>
                                          <p:attrName>ppt_y</p:attrName>
                                        </p:attrNameLst>
                                      </p:cBhvr>
                                      <p:tavLst>
                                        <p:tav tm="0">
                                          <p:val>
                                            <p:strVal val="#ppt_y+#ppt_h*1.125000"/>
                                          </p:val>
                                        </p:tav>
                                        <p:tav tm="100000">
                                          <p:val>
                                            <p:strVal val="#ppt_y"/>
                                          </p:val>
                                        </p:tav>
                                      </p:tavLst>
                                    </p:anim>
                                    <p:animEffect transition="in" filter="wipe(up)">
                                      <p:cBhvr>
                                        <p:cTn id="74" dur="500"/>
                                        <p:tgtEl>
                                          <p:spTgt spid="46"/>
                                        </p:tgtEl>
                                      </p:cBhvr>
                                    </p:animEffect>
                                  </p:childTnLst>
                                </p:cTn>
                              </p:par>
                              <p:par>
                                <p:cTn id="75" presetID="12" presetClass="entr" presetSubtype="4"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p:tgtEl>
                                          <p:spTgt spid="21"/>
                                        </p:tgtEl>
                                        <p:attrNameLst>
                                          <p:attrName>ppt_y</p:attrName>
                                        </p:attrNameLst>
                                      </p:cBhvr>
                                      <p:tavLst>
                                        <p:tav tm="0">
                                          <p:val>
                                            <p:strVal val="#ppt_y+#ppt_h*1.125000"/>
                                          </p:val>
                                        </p:tav>
                                        <p:tav tm="100000">
                                          <p:val>
                                            <p:strVal val="#ppt_y"/>
                                          </p:val>
                                        </p:tav>
                                      </p:tavLst>
                                    </p:anim>
                                    <p:animEffect transition="in" filter="wipe(up)">
                                      <p:cBhvr>
                                        <p:cTn id="78" dur="500"/>
                                        <p:tgtEl>
                                          <p:spTgt spid="21"/>
                                        </p:tgtEl>
                                      </p:cBhvr>
                                    </p:animEffect>
                                  </p:childTnLst>
                                </p:cTn>
                              </p:par>
                              <p:par>
                                <p:cTn id="79" presetID="12" presetClass="entr" presetSubtype="4"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anim calcmode="lin" valueType="num">
                                      <p:cBhvr additive="base">
                                        <p:cTn id="81" dur="500"/>
                                        <p:tgtEl>
                                          <p:spTgt spid="41"/>
                                        </p:tgtEl>
                                        <p:attrNameLst>
                                          <p:attrName>ppt_y</p:attrName>
                                        </p:attrNameLst>
                                      </p:cBhvr>
                                      <p:tavLst>
                                        <p:tav tm="0">
                                          <p:val>
                                            <p:strVal val="#ppt_y+#ppt_h*1.125000"/>
                                          </p:val>
                                        </p:tav>
                                        <p:tav tm="100000">
                                          <p:val>
                                            <p:strVal val="#ppt_y"/>
                                          </p:val>
                                        </p:tav>
                                      </p:tavLst>
                                    </p:anim>
                                    <p:animEffect transition="in" filter="wipe(up)">
                                      <p:cBhvr>
                                        <p:cTn id="8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p:bldP spid="30" grpId="0"/>
      <p:bldP spid="31" grpId="0"/>
      <p:bldP spid="35" grpId="0"/>
      <p:bldP spid="36" grpId="0"/>
      <p:bldP spid="40" grpId="0"/>
      <p:bldP spid="41" grpId="0"/>
      <p:bldP spid="45" grpId="0"/>
      <p:bldP spid="46" grpId="0"/>
      <p:bldP spid="50" grpId="0"/>
      <p:bldP spid="5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6938962" y="-114726"/>
            <a:ext cx="14377504" cy="10287000"/>
          </a:xfrm>
          <a:custGeom>
            <a:avLst/>
            <a:gdLst/>
            <a:ahLst/>
            <a:cxnLst/>
            <a:rect l="l" t="t" r="r" b="b"/>
            <a:pathLst>
              <a:path w="14377504" h="10287000">
                <a:moveTo>
                  <a:pt x="0" y="0"/>
                </a:moveTo>
                <a:lnTo>
                  <a:pt x="14377504" y="0"/>
                </a:lnTo>
                <a:lnTo>
                  <a:pt x="14377504" y="10287000"/>
                </a:lnTo>
                <a:lnTo>
                  <a:pt x="0" y="10287000"/>
                </a:lnTo>
                <a:lnTo>
                  <a:pt x="0" y="0"/>
                </a:lnTo>
                <a:close/>
              </a:path>
            </a:pathLst>
          </a:custGeom>
          <a:blipFill>
            <a:blip r:embed="rId3">
              <a:alphaModFix amt="17000"/>
            </a:blip>
            <a:stretch>
              <a:fillRect t="-19881" b="-19881"/>
            </a:stretch>
          </a:blipFill>
        </p:spPr>
      </p:sp>
      <p:grpSp>
        <p:nvGrpSpPr>
          <p:cNvPr id="3" name="Group 3"/>
          <p:cNvGrpSpPr/>
          <p:nvPr/>
        </p:nvGrpSpPr>
        <p:grpSpPr>
          <a:xfrm>
            <a:off x="17310915" y="423242"/>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310915" y="515345"/>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5958642" y="375281"/>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10" name="TextBox 10"/>
          <p:cNvSpPr txBox="1"/>
          <p:nvPr/>
        </p:nvSpPr>
        <p:spPr>
          <a:xfrm>
            <a:off x="14402845" y="375281"/>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1" name="TextBox 11"/>
          <p:cNvSpPr txBox="1"/>
          <p:nvPr/>
        </p:nvSpPr>
        <p:spPr>
          <a:xfrm>
            <a:off x="13172088" y="375281"/>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12" name="TextBox 12"/>
          <p:cNvSpPr txBox="1"/>
          <p:nvPr/>
        </p:nvSpPr>
        <p:spPr>
          <a:xfrm>
            <a:off x="11916329" y="375281"/>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grpSp>
        <p:nvGrpSpPr>
          <p:cNvPr id="13" name="Group 13"/>
          <p:cNvGrpSpPr/>
          <p:nvPr/>
        </p:nvGrpSpPr>
        <p:grpSpPr>
          <a:xfrm>
            <a:off x="17760014" y="7375563"/>
            <a:ext cx="47625" cy="1740345"/>
            <a:chOff x="0" y="0"/>
            <a:chExt cx="12543" cy="458362"/>
          </a:xfrm>
        </p:grpSpPr>
        <p:sp>
          <p:nvSpPr>
            <p:cNvPr id="14" name="Freeform 14"/>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5" name="TextBox 15"/>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7510094" y="9425721"/>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07</a:t>
            </a:r>
          </a:p>
        </p:txBody>
      </p:sp>
      <p:sp>
        <p:nvSpPr>
          <p:cNvPr id="17" name="Freeform 17"/>
          <p:cNvSpPr/>
          <p:nvPr/>
        </p:nvSpPr>
        <p:spPr>
          <a:xfrm>
            <a:off x="747547" y="1595949"/>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3682726" y="1318252"/>
            <a:ext cx="12104260" cy="1479314"/>
          </a:xfrm>
          <a:prstGeom prst="rect">
            <a:avLst/>
          </a:prstGeom>
        </p:spPr>
        <p:txBody>
          <a:bodyPr lIns="0" tIns="0" rIns="0" bIns="0" rtlCol="0" anchor="t">
            <a:spAutoFit/>
          </a:bodyPr>
          <a:lstStyle/>
          <a:p>
            <a:pPr algn="ctr">
              <a:lnSpc>
                <a:spcPts val="11678"/>
              </a:lnSpc>
            </a:pPr>
            <a:r>
              <a:rPr lang="en-US" sz="9813" dirty="0">
                <a:solidFill>
                  <a:srgbClr val="9AF7FF"/>
                </a:solidFill>
                <a:latin typeface="Anton"/>
                <a:ea typeface="Anton"/>
                <a:cs typeface="Anton"/>
                <a:sym typeface="Anton"/>
              </a:rPr>
              <a:t>HẠN CHẾ CỦA INTERNET</a:t>
            </a:r>
          </a:p>
        </p:txBody>
      </p:sp>
      <p:sp>
        <p:nvSpPr>
          <p:cNvPr id="20" name="Freeform 20" descr="preencoded.png"/>
          <p:cNvSpPr/>
          <p:nvPr/>
        </p:nvSpPr>
        <p:spPr>
          <a:xfrm>
            <a:off x="338396" y="247984"/>
            <a:ext cx="563718" cy="563718"/>
          </a:xfrm>
          <a:custGeom>
            <a:avLst/>
            <a:gdLst/>
            <a:ahLst/>
            <a:cxnLst/>
            <a:rect l="l" t="t" r="r" b="b"/>
            <a:pathLst>
              <a:path w="563718" h="563718">
                <a:moveTo>
                  <a:pt x="0" y="0"/>
                </a:moveTo>
                <a:lnTo>
                  <a:pt x="563718" y="0"/>
                </a:lnTo>
                <a:lnTo>
                  <a:pt x="563718" y="563718"/>
                </a:lnTo>
                <a:lnTo>
                  <a:pt x="0" y="563718"/>
                </a:lnTo>
                <a:lnTo>
                  <a:pt x="0" y="0"/>
                </a:lnTo>
                <a:close/>
              </a:path>
            </a:pathLst>
          </a:custGeom>
          <a:blipFill>
            <a:blip r:embed="rId6"/>
            <a:stretch>
              <a:fillRect/>
            </a:stretch>
          </a:blipFill>
        </p:spPr>
      </p:sp>
      <p:sp>
        <p:nvSpPr>
          <p:cNvPr id="21" name="TextBox 21"/>
          <p:cNvSpPr txBox="1"/>
          <p:nvPr/>
        </p:nvSpPr>
        <p:spPr>
          <a:xfrm>
            <a:off x="1056907" y="365756"/>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sp>
        <p:nvSpPr>
          <p:cNvPr id="22" name="Freeform 22"/>
          <p:cNvSpPr/>
          <p:nvPr/>
        </p:nvSpPr>
        <p:spPr>
          <a:xfrm>
            <a:off x="-11071735" y="-1449311"/>
            <a:ext cx="11600207" cy="11009651"/>
          </a:xfrm>
          <a:custGeom>
            <a:avLst/>
            <a:gdLst/>
            <a:ahLst/>
            <a:cxnLst/>
            <a:rect l="l" t="t" r="r" b="b"/>
            <a:pathLst>
              <a:path w="11600207" h="11009651">
                <a:moveTo>
                  <a:pt x="0" y="0"/>
                </a:moveTo>
                <a:lnTo>
                  <a:pt x="11600207" y="0"/>
                </a:lnTo>
                <a:lnTo>
                  <a:pt x="11600207" y="11009652"/>
                </a:lnTo>
                <a:lnTo>
                  <a:pt x="0" y="11009652"/>
                </a:lnTo>
                <a:lnTo>
                  <a:pt x="0" y="0"/>
                </a:lnTo>
                <a:close/>
              </a:path>
            </a:pathLst>
          </a:custGeom>
          <a:blipFill>
            <a:blip r:embed="rId7">
              <a:alphaModFix amt="14000"/>
              <a:extLst>
                <a:ext uri="{96DAC541-7B7A-43D3-8B79-37D633B846F1}">
                  <asvg:svgBlip xmlns:asvg="http://schemas.microsoft.com/office/drawing/2016/SVG/main" r:embed="rId8"/>
                </a:ext>
              </a:extLst>
            </a:blip>
            <a:stretch>
              <a:fillRect/>
            </a:stretch>
          </a:blipFill>
        </p:spPr>
      </p:sp>
      <p:sp>
        <p:nvSpPr>
          <p:cNvPr id="23" name="TextBox 23"/>
          <p:cNvSpPr txBox="1"/>
          <p:nvPr/>
        </p:nvSpPr>
        <p:spPr>
          <a:xfrm>
            <a:off x="1876228" y="4907955"/>
            <a:ext cx="4312063" cy="1463293"/>
          </a:xfrm>
          <a:prstGeom prst="rect">
            <a:avLst/>
          </a:prstGeom>
        </p:spPr>
        <p:txBody>
          <a:bodyPr lIns="0" tIns="0" rIns="0" bIns="0" rtlCol="0" anchor="t">
            <a:spAutoFit/>
          </a:bodyPr>
          <a:lstStyle/>
          <a:p>
            <a:pPr algn="just">
              <a:lnSpc>
                <a:spcPts val="2983"/>
              </a:lnSpc>
            </a:pPr>
            <a:r>
              <a:rPr lang="en-US" sz="1900" i="1">
                <a:solidFill>
                  <a:srgbClr val="FFFCFC"/>
                </a:solidFill>
                <a:latin typeface="Open Sans Italics"/>
                <a:ea typeface="Open Sans Italics"/>
                <a:cs typeface="Open Sans Italics"/>
                <a:sym typeface="Open Sans Italics"/>
              </a:rPr>
              <a:t>Dữ liệu cá nhân có thể bị thu thập trái phép hoặc bị tấn công nếu không có các biện pháp bảo mật phù hợp.</a:t>
            </a:r>
          </a:p>
          <a:p>
            <a:pPr algn="just">
              <a:lnSpc>
                <a:spcPts val="2983"/>
              </a:lnSpc>
            </a:pPr>
            <a:endParaRPr lang="en-US" sz="1900" i="1">
              <a:solidFill>
                <a:srgbClr val="FFFCFC"/>
              </a:solidFill>
              <a:latin typeface="Open Sans Italics"/>
              <a:ea typeface="Open Sans Italics"/>
              <a:cs typeface="Open Sans Italics"/>
              <a:sym typeface="Open Sans Italics"/>
            </a:endParaRPr>
          </a:p>
        </p:txBody>
      </p:sp>
      <p:grpSp>
        <p:nvGrpSpPr>
          <p:cNvPr id="24" name="Group 24"/>
          <p:cNvGrpSpPr/>
          <p:nvPr/>
        </p:nvGrpSpPr>
        <p:grpSpPr>
          <a:xfrm>
            <a:off x="1054514" y="4092942"/>
            <a:ext cx="703443" cy="769258"/>
            <a:chOff x="0" y="0"/>
            <a:chExt cx="812800" cy="888846"/>
          </a:xfrm>
        </p:grpSpPr>
        <p:sp>
          <p:nvSpPr>
            <p:cNvPr id="25" name="Freeform 25"/>
            <p:cNvSpPr/>
            <p:nvPr/>
          </p:nvSpPr>
          <p:spPr>
            <a:xfrm>
              <a:off x="32222" y="48494"/>
              <a:ext cx="748356" cy="791859"/>
            </a:xfrm>
            <a:custGeom>
              <a:avLst/>
              <a:gdLst/>
              <a:ahLst/>
              <a:cxnLst/>
              <a:rect l="l" t="t" r="r" b="b"/>
              <a:pathLst>
                <a:path w="748356" h="791859">
                  <a:moveTo>
                    <a:pt x="448448" y="32725"/>
                  </a:moveTo>
                  <a:lnTo>
                    <a:pt x="706308" y="314710"/>
                  </a:lnTo>
                  <a:cubicBezTo>
                    <a:pt x="748356" y="360693"/>
                    <a:pt x="748356" y="431166"/>
                    <a:pt x="706308" y="477148"/>
                  </a:cubicBezTo>
                  <a:lnTo>
                    <a:pt x="448448" y="759133"/>
                  </a:lnTo>
                  <a:cubicBezTo>
                    <a:pt x="429383" y="779983"/>
                    <a:pt x="402431" y="791858"/>
                    <a:pt x="374178" y="791858"/>
                  </a:cubicBezTo>
                  <a:cubicBezTo>
                    <a:pt x="345925" y="791858"/>
                    <a:pt x="318973" y="779983"/>
                    <a:pt x="299908" y="759133"/>
                  </a:cubicBezTo>
                  <a:lnTo>
                    <a:pt x="42048" y="477148"/>
                  </a:lnTo>
                  <a:cubicBezTo>
                    <a:pt x="0" y="431166"/>
                    <a:pt x="0" y="360693"/>
                    <a:pt x="42048" y="314710"/>
                  </a:cubicBezTo>
                  <a:lnTo>
                    <a:pt x="299908" y="32725"/>
                  </a:lnTo>
                  <a:cubicBezTo>
                    <a:pt x="318973" y="11876"/>
                    <a:pt x="345925" y="0"/>
                    <a:pt x="374178" y="0"/>
                  </a:cubicBezTo>
                  <a:cubicBezTo>
                    <a:pt x="402431" y="0"/>
                    <a:pt x="429383" y="11876"/>
                    <a:pt x="448448" y="32725"/>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26" name="TextBox 26"/>
            <p:cNvSpPr txBox="1"/>
            <p:nvPr/>
          </p:nvSpPr>
          <p:spPr>
            <a:xfrm>
              <a:off x="139700" y="114670"/>
              <a:ext cx="533400" cy="621405"/>
            </a:xfrm>
            <a:prstGeom prst="rect">
              <a:avLst/>
            </a:prstGeom>
          </p:spPr>
          <p:txBody>
            <a:bodyPr lIns="50800" tIns="50800" rIns="50800" bIns="50800" rtlCol="0" anchor="ctr"/>
            <a:lstStyle/>
            <a:p>
              <a:pPr algn="ctr">
                <a:lnSpc>
                  <a:spcPts val="2800"/>
                </a:lnSpc>
              </a:pPr>
              <a:r>
                <a:rPr lang="en-US" sz="2000" b="1">
                  <a:solidFill>
                    <a:srgbClr val="000000"/>
                  </a:solidFill>
                  <a:latin typeface="Lora Bold"/>
                  <a:ea typeface="Lora Bold"/>
                  <a:cs typeface="Lora Bold"/>
                  <a:sym typeface="Lora Bold"/>
                </a:rPr>
                <a:t>01</a:t>
              </a:r>
            </a:p>
          </p:txBody>
        </p:sp>
      </p:grpSp>
      <p:sp>
        <p:nvSpPr>
          <p:cNvPr id="27" name="TextBox 27"/>
          <p:cNvSpPr txBox="1"/>
          <p:nvPr/>
        </p:nvSpPr>
        <p:spPr>
          <a:xfrm>
            <a:off x="1876228" y="4296913"/>
            <a:ext cx="2662434" cy="656590"/>
          </a:xfrm>
          <a:prstGeom prst="rect">
            <a:avLst/>
          </a:prstGeom>
        </p:spPr>
        <p:txBody>
          <a:bodyPr lIns="0" tIns="0" rIns="0" bIns="0" rtlCol="0" anchor="t">
            <a:spAutoFit/>
          </a:bodyPr>
          <a:lstStyle/>
          <a:p>
            <a:pPr algn="ctr">
              <a:lnSpc>
                <a:spcPts val="2659"/>
              </a:lnSpc>
              <a:spcBef>
                <a:spcPct val="0"/>
              </a:spcBef>
            </a:pPr>
            <a:r>
              <a:rPr lang="en-US" sz="1899" b="1">
                <a:solidFill>
                  <a:srgbClr val="29E2F9"/>
                </a:solidFill>
                <a:latin typeface="Open Sans Bold"/>
                <a:ea typeface="Open Sans Bold"/>
                <a:cs typeface="Open Sans Bold"/>
                <a:sym typeface="Open Sans Bold"/>
              </a:rPr>
              <a:t>Bảo mật và riêng tư</a:t>
            </a:r>
          </a:p>
          <a:p>
            <a:pPr algn="ctr">
              <a:lnSpc>
                <a:spcPts val="2659"/>
              </a:lnSpc>
              <a:spcBef>
                <a:spcPct val="0"/>
              </a:spcBef>
            </a:pPr>
            <a:endParaRPr lang="en-US" sz="1899" b="1">
              <a:solidFill>
                <a:srgbClr val="29E2F9"/>
              </a:solidFill>
              <a:latin typeface="Open Sans Bold"/>
              <a:ea typeface="Open Sans Bold"/>
              <a:cs typeface="Open Sans Bold"/>
              <a:sym typeface="Open Sans Bold"/>
            </a:endParaRPr>
          </a:p>
        </p:txBody>
      </p:sp>
      <p:sp>
        <p:nvSpPr>
          <p:cNvPr id="28" name="TextBox 28"/>
          <p:cNvSpPr txBox="1"/>
          <p:nvPr/>
        </p:nvSpPr>
        <p:spPr>
          <a:xfrm>
            <a:off x="1819208" y="8186178"/>
            <a:ext cx="4312063" cy="1463293"/>
          </a:xfrm>
          <a:prstGeom prst="rect">
            <a:avLst/>
          </a:prstGeom>
        </p:spPr>
        <p:txBody>
          <a:bodyPr lIns="0" tIns="0" rIns="0" bIns="0" rtlCol="0" anchor="t">
            <a:spAutoFit/>
          </a:bodyPr>
          <a:lstStyle/>
          <a:p>
            <a:pPr algn="just">
              <a:lnSpc>
                <a:spcPts val="2983"/>
              </a:lnSpc>
            </a:pPr>
            <a:r>
              <a:rPr lang="en-US" sz="1900" i="1">
                <a:solidFill>
                  <a:srgbClr val="FFFCFC"/>
                </a:solidFill>
                <a:latin typeface="Open Sans Italics"/>
                <a:ea typeface="Open Sans Italics"/>
                <a:cs typeface="Open Sans Italics"/>
                <a:sym typeface="Open Sans Italics"/>
              </a:rPr>
              <a:t>Các hình thức tội phạm qua mạng như lừa đảo, phát tán mã độc, đánh cắp dữ liệu, hoặc xâm nhập hệ thống ngày càng tinh vi. </a:t>
            </a:r>
          </a:p>
        </p:txBody>
      </p:sp>
      <p:grpSp>
        <p:nvGrpSpPr>
          <p:cNvPr id="29" name="Group 29"/>
          <p:cNvGrpSpPr/>
          <p:nvPr/>
        </p:nvGrpSpPr>
        <p:grpSpPr>
          <a:xfrm>
            <a:off x="1054514" y="7323174"/>
            <a:ext cx="703443" cy="769258"/>
            <a:chOff x="0" y="0"/>
            <a:chExt cx="812800" cy="888846"/>
          </a:xfrm>
        </p:grpSpPr>
        <p:sp>
          <p:nvSpPr>
            <p:cNvPr id="30" name="Freeform 30"/>
            <p:cNvSpPr/>
            <p:nvPr/>
          </p:nvSpPr>
          <p:spPr>
            <a:xfrm>
              <a:off x="32222" y="48494"/>
              <a:ext cx="748356" cy="791859"/>
            </a:xfrm>
            <a:custGeom>
              <a:avLst/>
              <a:gdLst/>
              <a:ahLst/>
              <a:cxnLst/>
              <a:rect l="l" t="t" r="r" b="b"/>
              <a:pathLst>
                <a:path w="748356" h="791859">
                  <a:moveTo>
                    <a:pt x="448448" y="32725"/>
                  </a:moveTo>
                  <a:lnTo>
                    <a:pt x="706308" y="314710"/>
                  </a:lnTo>
                  <a:cubicBezTo>
                    <a:pt x="748356" y="360693"/>
                    <a:pt x="748356" y="431166"/>
                    <a:pt x="706308" y="477148"/>
                  </a:cubicBezTo>
                  <a:lnTo>
                    <a:pt x="448448" y="759133"/>
                  </a:lnTo>
                  <a:cubicBezTo>
                    <a:pt x="429383" y="779983"/>
                    <a:pt x="402431" y="791858"/>
                    <a:pt x="374178" y="791858"/>
                  </a:cubicBezTo>
                  <a:cubicBezTo>
                    <a:pt x="345925" y="791858"/>
                    <a:pt x="318973" y="779983"/>
                    <a:pt x="299908" y="759133"/>
                  </a:cubicBezTo>
                  <a:lnTo>
                    <a:pt x="42048" y="477148"/>
                  </a:lnTo>
                  <a:cubicBezTo>
                    <a:pt x="0" y="431166"/>
                    <a:pt x="0" y="360693"/>
                    <a:pt x="42048" y="314710"/>
                  </a:cubicBezTo>
                  <a:lnTo>
                    <a:pt x="299908" y="32725"/>
                  </a:lnTo>
                  <a:cubicBezTo>
                    <a:pt x="318973" y="11876"/>
                    <a:pt x="345925" y="0"/>
                    <a:pt x="374178" y="0"/>
                  </a:cubicBezTo>
                  <a:cubicBezTo>
                    <a:pt x="402431" y="0"/>
                    <a:pt x="429383" y="11876"/>
                    <a:pt x="448448" y="32725"/>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31" name="TextBox 31"/>
            <p:cNvSpPr txBox="1"/>
            <p:nvPr/>
          </p:nvSpPr>
          <p:spPr>
            <a:xfrm>
              <a:off x="139700" y="114670"/>
              <a:ext cx="533400" cy="621405"/>
            </a:xfrm>
            <a:prstGeom prst="rect">
              <a:avLst/>
            </a:prstGeom>
          </p:spPr>
          <p:txBody>
            <a:bodyPr lIns="50800" tIns="50800" rIns="50800" bIns="50800" rtlCol="0" anchor="ctr"/>
            <a:lstStyle/>
            <a:p>
              <a:pPr algn="ctr">
                <a:lnSpc>
                  <a:spcPts val="2800"/>
                </a:lnSpc>
              </a:pPr>
              <a:r>
                <a:rPr lang="en-US" sz="2000" b="1">
                  <a:solidFill>
                    <a:srgbClr val="000000"/>
                  </a:solidFill>
                  <a:latin typeface="Lora Bold"/>
                  <a:ea typeface="Lora Bold"/>
                  <a:cs typeface="Lora Bold"/>
                  <a:sym typeface="Lora Bold"/>
                </a:rPr>
                <a:t>04</a:t>
              </a:r>
            </a:p>
          </p:txBody>
        </p:sp>
      </p:grpSp>
      <p:sp>
        <p:nvSpPr>
          <p:cNvPr id="32" name="TextBox 32"/>
          <p:cNvSpPr txBox="1"/>
          <p:nvPr/>
        </p:nvSpPr>
        <p:spPr>
          <a:xfrm>
            <a:off x="1819208" y="7527145"/>
            <a:ext cx="3672476" cy="656590"/>
          </a:xfrm>
          <a:prstGeom prst="rect">
            <a:avLst/>
          </a:prstGeom>
        </p:spPr>
        <p:txBody>
          <a:bodyPr lIns="0" tIns="0" rIns="0" bIns="0" rtlCol="0" anchor="t">
            <a:spAutoFit/>
          </a:bodyPr>
          <a:lstStyle/>
          <a:p>
            <a:pPr algn="just">
              <a:lnSpc>
                <a:spcPts val="2659"/>
              </a:lnSpc>
              <a:spcBef>
                <a:spcPct val="0"/>
              </a:spcBef>
            </a:pPr>
            <a:r>
              <a:rPr lang="en-US" sz="1899" b="1">
                <a:solidFill>
                  <a:srgbClr val="29E2F9"/>
                </a:solidFill>
                <a:latin typeface="Open Sans Bold"/>
                <a:ea typeface="Open Sans Bold"/>
                <a:cs typeface="Open Sans Bold"/>
                <a:sym typeface="Open Sans Bold"/>
              </a:rPr>
              <a:t>Tội phạm mạng (Cybercrime)</a:t>
            </a:r>
          </a:p>
          <a:p>
            <a:pPr algn="just">
              <a:lnSpc>
                <a:spcPts val="2659"/>
              </a:lnSpc>
              <a:spcBef>
                <a:spcPct val="0"/>
              </a:spcBef>
            </a:pPr>
            <a:endParaRPr lang="en-US" sz="1899" b="1">
              <a:solidFill>
                <a:srgbClr val="29E2F9"/>
              </a:solidFill>
              <a:latin typeface="Open Sans Bold"/>
              <a:ea typeface="Open Sans Bold"/>
              <a:cs typeface="Open Sans Bold"/>
              <a:sym typeface="Open Sans Bold"/>
            </a:endParaRPr>
          </a:p>
        </p:txBody>
      </p:sp>
      <p:sp>
        <p:nvSpPr>
          <p:cNvPr id="33" name="TextBox 33"/>
          <p:cNvSpPr txBox="1"/>
          <p:nvPr/>
        </p:nvSpPr>
        <p:spPr>
          <a:xfrm>
            <a:off x="7818663" y="4884591"/>
            <a:ext cx="4312063" cy="1463293"/>
          </a:xfrm>
          <a:prstGeom prst="rect">
            <a:avLst/>
          </a:prstGeom>
        </p:spPr>
        <p:txBody>
          <a:bodyPr lIns="0" tIns="0" rIns="0" bIns="0" rtlCol="0" anchor="t">
            <a:spAutoFit/>
          </a:bodyPr>
          <a:lstStyle/>
          <a:p>
            <a:pPr algn="just">
              <a:lnSpc>
                <a:spcPts val="2983"/>
              </a:lnSpc>
            </a:pPr>
            <a:r>
              <a:rPr lang="en-US" sz="1900" i="1">
                <a:solidFill>
                  <a:srgbClr val="FFFCFC"/>
                </a:solidFill>
                <a:latin typeface="Open Sans Italics"/>
                <a:ea typeface="Open Sans Italics"/>
                <a:cs typeface="Open Sans Italics"/>
                <a:sym typeface="Open Sans Italics"/>
              </a:rPr>
              <a:t>Trên Internet có rất nhiều nguồn thông tin khác nhau, không phải tất cả đều đáng tin cậy. </a:t>
            </a:r>
          </a:p>
          <a:p>
            <a:pPr algn="just">
              <a:lnSpc>
                <a:spcPts val="2983"/>
              </a:lnSpc>
            </a:pPr>
            <a:endParaRPr lang="en-US" sz="1900" i="1">
              <a:solidFill>
                <a:srgbClr val="FFFCFC"/>
              </a:solidFill>
              <a:latin typeface="Open Sans Italics"/>
              <a:ea typeface="Open Sans Italics"/>
              <a:cs typeface="Open Sans Italics"/>
              <a:sym typeface="Open Sans Italics"/>
            </a:endParaRPr>
          </a:p>
        </p:txBody>
      </p:sp>
      <p:grpSp>
        <p:nvGrpSpPr>
          <p:cNvPr id="34" name="Group 34"/>
          <p:cNvGrpSpPr/>
          <p:nvPr/>
        </p:nvGrpSpPr>
        <p:grpSpPr>
          <a:xfrm>
            <a:off x="6950291" y="4092942"/>
            <a:ext cx="703443" cy="746768"/>
            <a:chOff x="0" y="0"/>
            <a:chExt cx="812800" cy="862861"/>
          </a:xfrm>
        </p:grpSpPr>
        <p:sp>
          <p:nvSpPr>
            <p:cNvPr id="35" name="Freeform 35"/>
            <p:cNvSpPr/>
            <p:nvPr/>
          </p:nvSpPr>
          <p:spPr>
            <a:xfrm>
              <a:off x="33077" y="47525"/>
              <a:ext cx="746646" cy="767811"/>
            </a:xfrm>
            <a:custGeom>
              <a:avLst/>
              <a:gdLst/>
              <a:ahLst/>
              <a:cxnLst/>
              <a:rect l="l" t="t" r="r" b="b"/>
              <a:pathLst>
                <a:path w="746646" h="767811">
                  <a:moveTo>
                    <a:pt x="448787" y="32587"/>
                  </a:moveTo>
                  <a:lnTo>
                    <a:pt x="704259" y="303794"/>
                  </a:lnTo>
                  <a:cubicBezTo>
                    <a:pt x="746646" y="348791"/>
                    <a:pt x="746646" y="419019"/>
                    <a:pt x="704259" y="464017"/>
                  </a:cubicBezTo>
                  <a:lnTo>
                    <a:pt x="448787" y="735224"/>
                  </a:lnTo>
                  <a:cubicBezTo>
                    <a:pt x="429197" y="756020"/>
                    <a:pt x="401893" y="767811"/>
                    <a:pt x="373323" y="767811"/>
                  </a:cubicBezTo>
                  <a:cubicBezTo>
                    <a:pt x="344753" y="767811"/>
                    <a:pt x="317449" y="756020"/>
                    <a:pt x="297859" y="735224"/>
                  </a:cubicBezTo>
                  <a:lnTo>
                    <a:pt x="42387" y="464017"/>
                  </a:lnTo>
                  <a:cubicBezTo>
                    <a:pt x="0" y="419019"/>
                    <a:pt x="0" y="348791"/>
                    <a:pt x="42387" y="303794"/>
                  </a:cubicBezTo>
                  <a:lnTo>
                    <a:pt x="297859" y="32587"/>
                  </a:lnTo>
                  <a:cubicBezTo>
                    <a:pt x="317449" y="11790"/>
                    <a:pt x="344753" y="0"/>
                    <a:pt x="373323" y="0"/>
                  </a:cubicBezTo>
                  <a:cubicBezTo>
                    <a:pt x="401893" y="0"/>
                    <a:pt x="429197" y="11790"/>
                    <a:pt x="448787" y="32587"/>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36" name="TextBox 36"/>
            <p:cNvSpPr txBox="1"/>
            <p:nvPr/>
          </p:nvSpPr>
          <p:spPr>
            <a:xfrm>
              <a:off x="139700" y="100679"/>
              <a:ext cx="533400" cy="613877"/>
            </a:xfrm>
            <a:prstGeom prst="rect">
              <a:avLst/>
            </a:prstGeom>
          </p:spPr>
          <p:txBody>
            <a:bodyPr lIns="50800" tIns="50800" rIns="50800" bIns="50800" rtlCol="0" anchor="ctr"/>
            <a:lstStyle/>
            <a:p>
              <a:pPr algn="ctr">
                <a:lnSpc>
                  <a:spcPts val="2800"/>
                </a:lnSpc>
              </a:pPr>
              <a:r>
                <a:rPr lang="en-US" sz="2000" b="1">
                  <a:solidFill>
                    <a:srgbClr val="000000"/>
                  </a:solidFill>
                  <a:latin typeface="Open Sans Bold"/>
                  <a:ea typeface="Open Sans Bold"/>
                  <a:cs typeface="Open Sans Bold"/>
                  <a:sym typeface="Open Sans Bold"/>
                </a:rPr>
                <a:t>02</a:t>
              </a:r>
            </a:p>
          </p:txBody>
        </p:sp>
      </p:grpSp>
      <p:sp>
        <p:nvSpPr>
          <p:cNvPr id="37" name="TextBox 37"/>
          <p:cNvSpPr txBox="1"/>
          <p:nvPr/>
        </p:nvSpPr>
        <p:spPr>
          <a:xfrm>
            <a:off x="7818663" y="4312335"/>
            <a:ext cx="2577284" cy="656590"/>
          </a:xfrm>
          <a:prstGeom prst="rect">
            <a:avLst/>
          </a:prstGeom>
        </p:spPr>
        <p:txBody>
          <a:bodyPr lIns="0" tIns="0" rIns="0" bIns="0" rtlCol="0" anchor="t">
            <a:spAutoFit/>
          </a:bodyPr>
          <a:lstStyle/>
          <a:p>
            <a:pPr algn="ctr">
              <a:lnSpc>
                <a:spcPts val="2659"/>
              </a:lnSpc>
            </a:pPr>
            <a:r>
              <a:rPr lang="en-US" sz="1899" b="1">
                <a:solidFill>
                  <a:srgbClr val="29E2F9"/>
                </a:solidFill>
                <a:latin typeface="Open Sans Bold"/>
                <a:ea typeface="Open Sans Bold"/>
                <a:cs typeface="Open Sans Bold"/>
                <a:sym typeface="Open Sans Bold"/>
              </a:rPr>
              <a:t>Thông tin sai lệch</a:t>
            </a:r>
          </a:p>
          <a:p>
            <a:pPr algn="ctr">
              <a:lnSpc>
                <a:spcPts val="2659"/>
              </a:lnSpc>
              <a:spcBef>
                <a:spcPct val="0"/>
              </a:spcBef>
            </a:pPr>
            <a:endParaRPr lang="en-US" sz="1899" b="1">
              <a:solidFill>
                <a:srgbClr val="29E2F9"/>
              </a:solidFill>
              <a:latin typeface="Open Sans Bold"/>
              <a:ea typeface="Open Sans Bold"/>
              <a:cs typeface="Open Sans Bold"/>
              <a:sym typeface="Open Sans Bold"/>
            </a:endParaRPr>
          </a:p>
        </p:txBody>
      </p:sp>
      <p:sp>
        <p:nvSpPr>
          <p:cNvPr id="38" name="TextBox 38"/>
          <p:cNvSpPr txBox="1"/>
          <p:nvPr/>
        </p:nvSpPr>
        <p:spPr>
          <a:xfrm>
            <a:off x="7761644" y="8162814"/>
            <a:ext cx="4312063" cy="1834768"/>
          </a:xfrm>
          <a:prstGeom prst="rect">
            <a:avLst/>
          </a:prstGeom>
        </p:spPr>
        <p:txBody>
          <a:bodyPr lIns="0" tIns="0" rIns="0" bIns="0" rtlCol="0" anchor="t">
            <a:spAutoFit/>
          </a:bodyPr>
          <a:lstStyle/>
          <a:p>
            <a:pPr algn="just">
              <a:lnSpc>
                <a:spcPts val="2983"/>
              </a:lnSpc>
            </a:pPr>
            <a:r>
              <a:rPr lang="en-US" sz="1900" i="1" dirty="0" err="1">
                <a:solidFill>
                  <a:srgbClr val="FFFCFC"/>
                </a:solidFill>
                <a:latin typeface="Open Sans Italics"/>
                <a:ea typeface="Open Sans Italics"/>
                <a:cs typeface="Open Sans Italics"/>
                <a:sym typeface="Open Sans Italics"/>
              </a:rPr>
              <a:t>Sử</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dụng</a:t>
            </a:r>
            <a:r>
              <a:rPr lang="en-US" sz="1900" i="1" dirty="0">
                <a:solidFill>
                  <a:srgbClr val="FFFCFC"/>
                </a:solidFill>
                <a:latin typeface="Open Sans Italics"/>
                <a:ea typeface="Open Sans Italics"/>
                <a:cs typeface="Open Sans Italics"/>
                <a:sym typeface="Open Sans Italics"/>
              </a:rPr>
              <a:t> Internet </a:t>
            </a:r>
            <a:r>
              <a:rPr lang="en-US" sz="1900" i="1" dirty="0" err="1">
                <a:solidFill>
                  <a:srgbClr val="FFFCFC"/>
                </a:solidFill>
                <a:latin typeface="Open Sans Italics"/>
                <a:ea typeface="Open Sans Italics"/>
                <a:cs typeface="Open Sans Italics"/>
                <a:sym typeface="Open Sans Italics"/>
              </a:rPr>
              <a:t>quá</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nhiều</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dễ</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dẫn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đến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lệ</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thuộc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giảm</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giao</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tiếp</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thực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tế</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tư</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duy</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độc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lập</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và</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kỹ</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năng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sống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ảnh</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hưởng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đến</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chất</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lượng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cuộc</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sống</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lâu</a:t>
            </a:r>
            <a:r>
              <a:rPr lang="en-US" sz="1900" i="1" dirty="0">
                <a:solidFill>
                  <a:srgbClr val="FFFCFC"/>
                </a:solidFill>
                <a:latin typeface="Open Sans Italics"/>
                <a:ea typeface="Open Sans Italics"/>
                <a:cs typeface="Open Sans Italics"/>
                <a:sym typeface="Open Sans Italics"/>
              </a:rPr>
              <a:t> </a:t>
            </a:r>
            <a:r>
              <a:rPr lang="en-US" sz="1900" i="1" dirty="0" err="1">
                <a:solidFill>
                  <a:srgbClr val="FFFCFC"/>
                </a:solidFill>
                <a:latin typeface="Open Sans Italics"/>
                <a:ea typeface="Open Sans Italics"/>
                <a:cs typeface="Open Sans Italics"/>
                <a:sym typeface="Open Sans Italics"/>
              </a:rPr>
              <a:t>dài</a:t>
            </a:r>
            <a:r>
              <a:rPr lang="en-US" sz="1900" i="1" dirty="0">
                <a:solidFill>
                  <a:srgbClr val="FFFCFC"/>
                </a:solidFill>
                <a:latin typeface="Open Sans Italics"/>
                <a:ea typeface="Open Sans Italics"/>
                <a:cs typeface="Open Sans Italics"/>
                <a:sym typeface="Open Sans Italics"/>
              </a:rPr>
              <a:t>.</a:t>
            </a:r>
          </a:p>
          <a:p>
            <a:pPr algn="just">
              <a:lnSpc>
                <a:spcPts val="2983"/>
              </a:lnSpc>
            </a:pPr>
            <a:endParaRPr lang="en-US" sz="1900" i="1" dirty="0">
              <a:solidFill>
                <a:srgbClr val="FFFCFC"/>
              </a:solidFill>
              <a:latin typeface="Open Sans Italics"/>
              <a:ea typeface="Open Sans Italics"/>
              <a:cs typeface="Open Sans Italics"/>
              <a:sym typeface="Open Sans Italics"/>
            </a:endParaRPr>
          </a:p>
        </p:txBody>
      </p:sp>
      <p:grpSp>
        <p:nvGrpSpPr>
          <p:cNvPr id="39" name="Group 39"/>
          <p:cNvGrpSpPr/>
          <p:nvPr/>
        </p:nvGrpSpPr>
        <p:grpSpPr>
          <a:xfrm>
            <a:off x="6950291" y="7323174"/>
            <a:ext cx="703443" cy="746768"/>
            <a:chOff x="0" y="0"/>
            <a:chExt cx="812800" cy="862861"/>
          </a:xfrm>
        </p:grpSpPr>
        <p:sp>
          <p:nvSpPr>
            <p:cNvPr id="40" name="Freeform 40"/>
            <p:cNvSpPr/>
            <p:nvPr/>
          </p:nvSpPr>
          <p:spPr>
            <a:xfrm>
              <a:off x="33077" y="47525"/>
              <a:ext cx="746646" cy="767811"/>
            </a:xfrm>
            <a:custGeom>
              <a:avLst/>
              <a:gdLst/>
              <a:ahLst/>
              <a:cxnLst/>
              <a:rect l="l" t="t" r="r" b="b"/>
              <a:pathLst>
                <a:path w="746646" h="767811">
                  <a:moveTo>
                    <a:pt x="448787" y="32587"/>
                  </a:moveTo>
                  <a:lnTo>
                    <a:pt x="704259" y="303794"/>
                  </a:lnTo>
                  <a:cubicBezTo>
                    <a:pt x="746646" y="348791"/>
                    <a:pt x="746646" y="419019"/>
                    <a:pt x="704259" y="464017"/>
                  </a:cubicBezTo>
                  <a:lnTo>
                    <a:pt x="448787" y="735224"/>
                  </a:lnTo>
                  <a:cubicBezTo>
                    <a:pt x="429197" y="756020"/>
                    <a:pt x="401893" y="767811"/>
                    <a:pt x="373323" y="767811"/>
                  </a:cubicBezTo>
                  <a:cubicBezTo>
                    <a:pt x="344753" y="767811"/>
                    <a:pt x="317449" y="756020"/>
                    <a:pt x="297859" y="735224"/>
                  </a:cubicBezTo>
                  <a:lnTo>
                    <a:pt x="42387" y="464017"/>
                  </a:lnTo>
                  <a:cubicBezTo>
                    <a:pt x="0" y="419019"/>
                    <a:pt x="0" y="348791"/>
                    <a:pt x="42387" y="303794"/>
                  </a:cubicBezTo>
                  <a:lnTo>
                    <a:pt x="297859" y="32587"/>
                  </a:lnTo>
                  <a:cubicBezTo>
                    <a:pt x="317449" y="11790"/>
                    <a:pt x="344753" y="0"/>
                    <a:pt x="373323" y="0"/>
                  </a:cubicBezTo>
                  <a:cubicBezTo>
                    <a:pt x="401893" y="0"/>
                    <a:pt x="429197" y="11790"/>
                    <a:pt x="448787" y="32587"/>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41" name="TextBox 41"/>
            <p:cNvSpPr txBox="1"/>
            <p:nvPr/>
          </p:nvSpPr>
          <p:spPr>
            <a:xfrm>
              <a:off x="139700" y="100679"/>
              <a:ext cx="533400" cy="613877"/>
            </a:xfrm>
            <a:prstGeom prst="rect">
              <a:avLst/>
            </a:prstGeom>
          </p:spPr>
          <p:txBody>
            <a:bodyPr lIns="50800" tIns="50800" rIns="50800" bIns="50800" rtlCol="0" anchor="ctr"/>
            <a:lstStyle/>
            <a:p>
              <a:pPr algn="ctr">
                <a:lnSpc>
                  <a:spcPts val="2800"/>
                </a:lnSpc>
              </a:pPr>
              <a:r>
                <a:rPr lang="en-US" sz="2000" b="1">
                  <a:solidFill>
                    <a:srgbClr val="000000"/>
                  </a:solidFill>
                  <a:latin typeface="Open Sans Bold"/>
                  <a:ea typeface="Open Sans Bold"/>
                  <a:cs typeface="Open Sans Bold"/>
                  <a:sym typeface="Open Sans Bold"/>
                </a:rPr>
                <a:t>05</a:t>
              </a:r>
            </a:p>
          </p:txBody>
        </p:sp>
      </p:grpSp>
      <p:sp>
        <p:nvSpPr>
          <p:cNvPr id="42" name="TextBox 42"/>
          <p:cNvSpPr txBox="1"/>
          <p:nvPr/>
        </p:nvSpPr>
        <p:spPr>
          <a:xfrm>
            <a:off x="7761644" y="7527145"/>
            <a:ext cx="2372250" cy="656590"/>
          </a:xfrm>
          <a:prstGeom prst="rect">
            <a:avLst/>
          </a:prstGeom>
        </p:spPr>
        <p:txBody>
          <a:bodyPr lIns="0" tIns="0" rIns="0" bIns="0" rtlCol="0" anchor="t">
            <a:spAutoFit/>
          </a:bodyPr>
          <a:lstStyle/>
          <a:p>
            <a:pPr algn="ctr">
              <a:lnSpc>
                <a:spcPts val="2659"/>
              </a:lnSpc>
              <a:spcBef>
                <a:spcPct val="0"/>
              </a:spcBef>
            </a:pPr>
            <a:r>
              <a:rPr lang="en-US" sz="1899" b="1">
                <a:solidFill>
                  <a:srgbClr val="29E2F9"/>
                </a:solidFill>
                <a:latin typeface="Open Sans Bold"/>
                <a:ea typeface="Open Sans Bold"/>
                <a:cs typeface="Open Sans Bold"/>
                <a:sym typeface="Open Sans Bold"/>
              </a:rPr>
              <a:t>Phụ thuộc quá mức</a:t>
            </a:r>
          </a:p>
          <a:p>
            <a:pPr algn="ctr">
              <a:lnSpc>
                <a:spcPts val="2659"/>
              </a:lnSpc>
              <a:spcBef>
                <a:spcPct val="0"/>
              </a:spcBef>
            </a:pPr>
            <a:endParaRPr lang="en-US" sz="1899" b="1">
              <a:solidFill>
                <a:srgbClr val="29E2F9"/>
              </a:solidFill>
              <a:latin typeface="Open Sans Bold"/>
              <a:ea typeface="Open Sans Bold"/>
              <a:cs typeface="Open Sans Bold"/>
              <a:sym typeface="Open Sans Bold"/>
            </a:endParaRPr>
          </a:p>
        </p:txBody>
      </p:sp>
      <p:sp>
        <p:nvSpPr>
          <p:cNvPr id="43" name="TextBox 43"/>
          <p:cNvSpPr txBox="1"/>
          <p:nvPr/>
        </p:nvSpPr>
        <p:spPr>
          <a:xfrm>
            <a:off x="13158111" y="4884591"/>
            <a:ext cx="4312063" cy="720343"/>
          </a:xfrm>
          <a:prstGeom prst="rect">
            <a:avLst/>
          </a:prstGeom>
        </p:spPr>
        <p:txBody>
          <a:bodyPr lIns="0" tIns="0" rIns="0" bIns="0" rtlCol="0" anchor="t">
            <a:spAutoFit/>
          </a:bodyPr>
          <a:lstStyle/>
          <a:p>
            <a:pPr algn="just">
              <a:lnSpc>
                <a:spcPts val="2983"/>
              </a:lnSpc>
            </a:pPr>
            <a:r>
              <a:rPr lang="en-US" sz="1900" i="1">
                <a:solidFill>
                  <a:srgbClr val="FFFCFC"/>
                </a:solidFill>
                <a:latin typeface="Open Sans Italics"/>
                <a:ea typeface="Open Sans Italics"/>
                <a:cs typeface="Open Sans Italics"/>
                <a:sym typeface="Open Sans Italics"/>
              </a:rPr>
              <a:t>Dễ dẫn đến nghiện, đặc biệt là mạng xã hội, trò chơi điện tử và video trực tuyến. </a:t>
            </a:r>
          </a:p>
        </p:txBody>
      </p:sp>
      <p:grpSp>
        <p:nvGrpSpPr>
          <p:cNvPr id="44" name="Group 44"/>
          <p:cNvGrpSpPr/>
          <p:nvPr/>
        </p:nvGrpSpPr>
        <p:grpSpPr>
          <a:xfrm>
            <a:off x="12289739" y="4092942"/>
            <a:ext cx="703443" cy="746768"/>
            <a:chOff x="0" y="0"/>
            <a:chExt cx="812800" cy="862861"/>
          </a:xfrm>
        </p:grpSpPr>
        <p:sp>
          <p:nvSpPr>
            <p:cNvPr id="45" name="Freeform 45"/>
            <p:cNvSpPr/>
            <p:nvPr/>
          </p:nvSpPr>
          <p:spPr>
            <a:xfrm>
              <a:off x="33077" y="47525"/>
              <a:ext cx="746646" cy="767811"/>
            </a:xfrm>
            <a:custGeom>
              <a:avLst/>
              <a:gdLst/>
              <a:ahLst/>
              <a:cxnLst/>
              <a:rect l="l" t="t" r="r" b="b"/>
              <a:pathLst>
                <a:path w="746646" h="767811">
                  <a:moveTo>
                    <a:pt x="448787" y="32587"/>
                  </a:moveTo>
                  <a:lnTo>
                    <a:pt x="704259" y="303794"/>
                  </a:lnTo>
                  <a:cubicBezTo>
                    <a:pt x="746646" y="348791"/>
                    <a:pt x="746646" y="419019"/>
                    <a:pt x="704259" y="464017"/>
                  </a:cubicBezTo>
                  <a:lnTo>
                    <a:pt x="448787" y="735224"/>
                  </a:lnTo>
                  <a:cubicBezTo>
                    <a:pt x="429197" y="756020"/>
                    <a:pt x="401893" y="767811"/>
                    <a:pt x="373323" y="767811"/>
                  </a:cubicBezTo>
                  <a:cubicBezTo>
                    <a:pt x="344753" y="767811"/>
                    <a:pt x="317449" y="756020"/>
                    <a:pt x="297859" y="735224"/>
                  </a:cubicBezTo>
                  <a:lnTo>
                    <a:pt x="42387" y="464017"/>
                  </a:lnTo>
                  <a:cubicBezTo>
                    <a:pt x="0" y="419019"/>
                    <a:pt x="0" y="348791"/>
                    <a:pt x="42387" y="303794"/>
                  </a:cubicBezTo>
                  <a:lnTo>
                    <a:pt x="297859" y="32587"/>
                  </a:lnTo>
                  <a:cubicBezTo>
                    <a:pt x="317449" y="11790"/>
                    <a:pt x="344753" y="0"/>
                    <a:pt x="373323" y="0"/>
                  </a:cubicBezTo>
                  <a:cubicBezTo>
                    <a:pt x="401893" y="0"/>
                    <a:pt x="429197" y="11790"/>
                    <a:pt x="448787" y="32587"/>
                  </a:cubicBezTo>
                  <a:close/>
                </a:path>
              </a:pathLst>
            </a:custGeom>
            <a:gradFill rotWithShape="1">
              <a:gsLst>
                <a:gs pos="0">
                  <a:srgbClr val="5DE0E6">
                    <a:alpha val="100000"/>
                  </a:srgbClr>
                </a:gs>
                <a:gs pos="100000">
                  <a:srgbClr val="004AAD">
                    <a:alpha val="100000"/>
                  </a:srgbClr>
                </a:gs>
              </a:gsLst>
              <a:lin ang="0"/>
            </a:gradFill>
            <a:ln cap="sq">
              <a:noFill/>
              <a:prstDash val="solid"/>
              <a:miter/>
            </a:ln>
          </p:spPr>
        </p:sp>
        <p:sp>
          <p:nvSpPr>
            <p:cNvPr id="46" name="TextBox 46"/>
            <p:cNvSpPr txBox="1"/>
            <p:nvPr/>
          </p:nvSpPr>
          <p:spPr>
            <a:xfrm>
              <a:off x="139700" y="100679"/>
              <a:ext cx="533400" cy="613877"/>
            </a:xfrm>
            <a:prstGeom prst="rect">
              <a:avLst/>
            </a:prstGeom>
          </p:spPr>
          <p:txBody>
            <a:bodyPr lIns="50800" tIns="50800" rIns="50800" bIns="50800" rtlCol="0" anchor="ctr"/>
            <a:lstStyle/>
            <a:p>
              <a:pPr algn="ctr">
                <a:lnSpc>
                  <a:spcPts val="2800"/>
                </a:lnSpc>
              </a:pPr>
              <a:r>
                <a:rPr lang="en-US" sz="2000" b="1">
                  <a:solidFill>
                    <a:srgbClr val="000000"/>
                  </a:solidFill>
                  <a:latin typeface="Open Sans Bold"/>
                  <a:ea typeface="Open Sans Bold"/>
                  <a:cs typeface="Open Sans Bold"/>
                  <a:sym typeface="Open Sans Bold"/>
                </a:rPr>
                <a:t>03</a:t>
              </a:r>
            </a:p>
          </p:txBody>
        </p:sp>
      </p:grpSp>
      <p:sp>
        <p:nvSpPr>
          <p:cNvPr id="47" name="TextBox 47"/>
          <p:cNvSpPr txBox="1"/>
          <p:nvPr/>
        </p:nvSpPr>
        <p:spPr>
          <a:xfrm>
            <a:off x="13158111" y="4296913"/>
            <a:ext cx="2305231" cy="656590"/>
          </a:xfrm>
          <a:prstGeom prst="rect">
            <a:avLst/>
          </a:prstGeom>
        </p:spPr>
        <p:txBody>
          <a:bodyPr lIns="0" tIns="0" rIns="0" bIns="0" rtlCol="0" anchor="t">
            <a:spAutoFit/>
          </a:bodyPr>
          <a:lstStyle/>
          <a:p>
            <a:pPr algn="ctr">
              <a:lnSpc>
                <a:spcPts val="2659"/>
              </a:lnSpc>
            </a:pPr>
            <a:r>
              <a:rPr lang="en-US" sz="1899" b="1">
                <a:solidFill>
                  <a:srgbClr val="29E2F9"/>
                </a:solidFill>
                <a:latin typeface="Open Sans Bold"/>
                <a:ea typeface="Open Sans Bold"/>
                <a:cs typeface="Open Sans Bold"/>
                <a:sym typeface="Open Sans Bold"/>
              </a:rPr>
              <a:t>Nghiện Internet</a:t>
            </a:r>
          </a:p>
          <a:p>
            <a:pPr algn="ctr">
              <a:lnSpc>
                <a:spcPts val="2659"/>
              </a:lnSpc>
              <a:spcBef>
                <a:spcPct val="0"/>
              </a:spcBef>
            </a:pPr>
            <a:endParaRPr lang="en-US" sz="1899" b="1">
              <a:solidFill>
                <a:srgbClr val="29E2F9"/>
              </a:solidFill>
              <a:latin typeface="Open Sans Bold"/>
              <a:ea typeface="Open Sans Bold"/>
              <a:cs typeface="Open Sans Bold"/>
              <a:sym typeface="Open Sans Bold"/>
            </a:endParaRPr>
          </a:p>
        </p:txBody>
      </p:sp>
      <p:sp>
        <p:nvSpPr>
          <p:cNvPr id="48" name="Freeform 48"/>
          <p:cNvSpPr/>
          <p:nvPr/>
        </p:nvSpPr>
        <p:spPr>
          <a:xfrm>
            <a:off x="266669" y="137537"/>
            <a:ext cx="3783955" cy="3783955"/>
          </a:xfrm>
          <a:custGeom>
            <a:avLst/>
            <a:gdLst/>
            <a:ahLst/>
            <a:cxnLst/>
            <a:rect l="l" t="t" r="r" b="b"/>
            <a:pathLst>
              <a:path w="3783955" h="3783955">
                <a:moveTo>
                  <a:pt x="0" y="0"/>
                </a:moveTo>
                <a:lnTo>
                  <a:pt x="3783955" y="0"/>
                </a:lnTo>
                <a:lnTo>
                  <a:pt x="3783955" y="3783955"/>
                </a:lnTo>
                <a:lnTo>
                  <a:pt x="0" y="37839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9" name="Freeform 18">
            <a:extLst>
              <a:ext uri="{FF2B5EF4-FFF2-40B4-BE49-F238E27FC236}">
                <a16:creationId xmlns:a16="http://schemas.microsoft.com/office/drawing/2014/main" id="{4EAFAF57-D347-DB43-93EA-0F144A66B4E4}"/>
              </a:ext>
            </a:extLst>
          </p:cNvPr>
          <p:cNvSpPr/>
          <p:nvPr/>
        </p:nvSpPr>
        <p:spPr>
          <a:xfrm>
            <a:off x="-7540058" y="-1179655"/>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7">
              <a:alphaModFix amt="14000"/>
              <a:extLst>
                <a:ext uri="{96DAC541-7B7A-43D3-8B79-37D633B846F1}">
                  <asvg:svgBlip xmlns:asvg="http://schemas.microsoft.com/office/drawing/2016/SVG/main" r:embed="rId8"/>
                </a:ext>
              </a:extLst>
            </a:blip>
            <a:stretch>
              <a:fillRect/>
            </a:stretch>
          </a:blipFill>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p:tgtEl>
                                          <p:spTgt spid="19"/>
                                        </p:tgtEl>
                                        <p:attrNameLst>
                                          <p:attrName>ppt_x</p:attrName>
                                        </p:attrNameLst>
                                      </p:cBhvr>
                                      <p:tavLst>
                                        <p:tav tm="0">
                                          <p:val>
                                            <p:strVal val="#ppt_x-#ppt_w*1.125000"/>
                                          </p:val>
                                        </p:tav>
                                        <p:tav tm="100000">
                                          <p:val>
                                            <p:strVal val="#ppt_x"/>
                                          </p:val>
                                        </p:tav>
                                      </p:tavLst>
                                    </p:anim>
                                    <p:animEffect transition="in" filter="wipe(right)">
                                      <p:cBhvr>
                                        <p:cTn id="8" dur="500"/>
                                        <p:tgtEl>
                                          <p:spTgt spid="19"/>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p:tgtEl>
                                          <p:spTgt spid="23"/>
                                        </p:tgtEl>
                                        <p:attrNameLst>
                                          <p:attrName>ppt_y</p:attrName>
                                        </p:attrNameLst>
                                      </p:cBhvr>
                                      <p:tavLst>
                                        <p:tav tm="0">
                                          <p:val>
                                            <p:strVal val="#ppt_y+#ppt_h*1.125000"/>
                                          </p:val>
                                        </p:tav>
                                        <p:tav tm="100000">
                                          <p:val>
                                            <p:strVal val="#ppt_y"/>
                                          </p:val>
                                        </p:tav>
                                      </p:tavLst>
                                    </p:anim>
                                    <p:animEffect transition="in" filter="wipe(up)">
                                      <p:cBhvr>
                                        <p:cTn id="14" dur="500"/>
                                        <p:tgtEl>
                                          <p:spTgt spid="23"/>
                                        </p:tgtEl>
                                      </p:cBhvr>
                                    </p:animEffect>
                                  </p:childTnLst>
                                </p:cTn>
                              </p:par>
                              <p:par>
                                <p:cTn id="15" presetID="12" presetClass="entr" presetSubtype="4"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p:tgtEl>
                                          <p:spTgt spid="24"/>
                                        </p:tgtEl>
                                        <p:attrNameLst>
                                          <p:attrName>ppt_y</p:attrName>
                                        </p:attrNameLst>
                                      </p:cBhvr>
                                      <p:tavLst>
                                        <p:tav tm="0">
                                          <p:val>
                                            <p:strVal val="#ppt_y+#ppt_h*1.125000"/>
                                          </p:val>
                                        </p:tav>
                                        <p:tav tm="100000">
                                          <p:val>
                                            <p:strVal val="#ppt_y"/>
                                          </p:val>
                                        </p:tav>
                                      </p:tavLst>
                                    </p:anim>
                                    <p:animEffect transition="in" filter="wipe(up)">
                                      <p:cBhvr>
                                        <p:cTn id="18" dur="500"/>
                                        <p:tgtEl>
                                          <p:spTgt spid="24"/>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p:tgtEl>
                                          <p:spTgt spid="27"/>
                                        </p:tgtEl>
                                        <p:attrNameLst>
                                          <p:attrName>ppt_y</p:attrName>
                                        </p:attrNameLst>
                                      </p:cBhvr>
                                      <p:tavLst>
                                        <p:tav tm="0">
                                          <p:val>
                                            <p:strVal val="#ppt_y+#ppt_h*1.125000"/>
                                          </p:val>
                                        </p:tav>
                                        <p:tav tm="100000">
                                          <p:val>
                                            <p:strVal val="#ppt_y"/>
                                          </p:val>
                                        </p:tav>
                                      </p:tavLst>
                                    </p:anim>
                                    <p:animEffect transition="in" filter="wipe(up)">
                                      <p:cBhvr>
                                        <p:cTn id="22" dur="500"/>
                                        <p:tgtEl>
                                          <p:spTgt spid="27"/>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p:tgtEl>
                                          <p:spTgt spid="28"/>
                                        </p:tgtEl>
                                        <p:attrNameLst>
                                          <p:attrName>ppt_y</p:attrName>
                                        </p:attrNameLst>
                                      </p:cBhvr>
                                      <p:tavLst>
                                        <p:tav tm="0">
                                          <p:val>
                                            <p:strVal val="#ppt_y+#ppt_h*1.125000"/>
                                          </p:val>
                                        </p:tav>
                                        <p:tav tm="100000">
                                          <p:val>
                                            <p:strVal val="#ppt_y"/>
                                          </p:val>
                                        </p:tav>
                                      </p:tavLst>
                                    </p:anim>
                                    <p:animEffect transition="in" filter="wipe(up)">
                                      <p:cBhvr>
                                        <p:cTn id="26" dur="500"/>
                                        <p:tgtEl>
                                          <p:spTgt spid="28"/>
                                        </p:tgtEl>
                                      </p:cBhvr>
                                    </p:animEffect>
                                  </p:childTnLst>
                                </p:cTn>
                              </p:par>
                              <p:par>
                                <p:cTn id="27" presetID="12" presetClass="entr" presetSubtype="4"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p:tgtEl>
                                          <p:spTgt spid="29"/>
                                        </p:tgtEl>
                                        <p:attrNameLst>
                                          <p:attrName>ppt_y</p:attrName>
                                        </p:attrNameLst>
                                      </p:cBhvr>
                                      <p:tavLst>
                                        <p:tav tm="0">
                                          <p:val>
                                            <p:strVal val="#ppt_y+#ppt_h*1.125000"/>
                                          </p:val>
                                        </p:tav>
                                        <p:tav tm="100000">
                                          <p:val>
                                            <p:strVal val="#ppt_y"/>
                                          </p:val>
                                        </p:tav>
                                      </p:tavLst>
                                    </p:anim>
                                    <p:animEffect transition="in" filter="wipe(up)">
                                      <p:cBhvr>
                                        <p:cTn id="30" dur="500"/>
                                        <p:tgtEl>
                                          <p:spTgt spid="29"/>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additive="base">
                                        <p:cTn id="33" dur="500"/>
                                        <p:tgtEl>
                                          <p:spTgt spid="32"/>
                                        </p:tgtEl>
                                        <p:attrNameLst>
                                          <p:attrName>ppt_y</p:attrName>
                                        </p:attrNameLst>
                                      </p:cBhvr>
                                      <p:tavLst>
                                        <p:tav tm="0">
                                          <p:val>
                                            <p:strVal val="#ppt_y+#ppt_h*1.125000"/>
                                          </p:val>
                                        </p:tav>
                                        <p:tav tm="100000">
                                          <p:val>
                                            <p:strVal val="#ppt_y"/>
                                          </p:val>
                                        </p:tav>
                                      </p:tavLst>
                                    </p:anim>
                                    <p:animEffect transition="in" filter="wipe(up)">
                                      <p:cBhvr>
                                        <p:cTn id="34" dur="500"/>
                                        <p:tgtEl>
                                          <p:spTgt spid="32"/>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p:tgtEl>
                                          <p:spTgt spid="33"/>
                                        </p:tgtEl>
                                        <p:attrNameLst>
                                          <p:attrName>ppt_y</p:attrName>
                                        </p:attrNameLst>
                                      </p:cBhvr>
                                      <p:tavLst>
                                        <p:tav tm="0">
                                          <p:val>
                                            <p:strVal val="#ppt_y+#ppt_h*1.125000"/>
                                          </p:val>
                                        </p:tav>
                                        <p:tav tm="100000">
                                          <p:val>
                                            <p:strVal val="#ppt_y"/>
                                          </p:val>
                                        </p:tav>
                                      </p:tavLst>
                                    </p:anim>
                                    <p:animEffect transition="in" filter="wipe(up)">
                                      <p:cBhvr>
                                        <p:cTn id="38" dur="500"/>
                                        <p:tgtEl>
                                          <p:spTgt spid="33"/>
                                        </p:tgtEl>
                                      </p:cBhvr>
                                    </p:animEffect>
                                  </p:childTnLst>
                                </p:cTn>
                              </p:par>
                              <p:par>
                                <p:cTn id="39" presetID="12" presetClass="entr" presetSubtype="4"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anim calcmode="lin" valueType="num">
                                      <p:cBhvr additive="base">
                                        <p:cTn id="41" dur="500"/>
                                        <p:tgtEl>
                                          <p:spTgt spid="34"/>
                                        </p:tgtEl>
                                        <p:attrNameLst>
                                          <p:attrName>ppt_y</p:attrName>
                                        </p:attrNameLst>
                                      </p:cBhvr>
                                      <p:tavLst>
                                        <p:tav tm="0">
                                          <p:val>
                                            <p:strVal val="#ppt_y+#ppt_h*1.125000"/>
                                          </p:val>
                                        </p:tav>
                                        <p:tav tm="100000">
                                          <p:val>
                                            <p:strVal val="#ppt_y"/>
                                          </p:val>
                                        </p:tav>
                                      </p:tavLst>
                                    </p:anim>
                                    <p:animEffect transition="in" filter="wipe(up)">
                                      <p:cBhvr>
                                        <p:cTn id="42" dur="500"/>
                                        <p:tgtEl>
                                          <p:spTgt spid="34"/>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500"/>
                                        <p:tgtEl>
                                          <p:spTgt spid="37"/>
                                        </p:tgtEl>
                                        <p:attrNameLst>
                                          <p:attrName>ppt_y</p:attrName>
                                        </p:attrNameLst>
                                      </p:cBhvr>
                                      <p:tavLst>
                                        <p:tav tm="0">
                                          <p:val>
                                            <p:strVal val="#ppt_y+#ppt_h*1.125000"/>
                                          </p:val>
                                        </p:tav>
                                        <p:tav tm="100000">
                                          <p:val>
                                            <p:strVal val="#ppt_y"/>
                                          </p:val>
                                        </p:tav>
                                      </p:tavLst>
                                    </p:anim>
                                    <p:animEffect transition="in" filter="wipe(up)">
                                      <p:cBhvr>
                                        <p:cTn id="46" dur="500"/>
                                        <p:tgtEl>
                                          <p:spTgt spid="37"/>
                                        </p:tgtEl>
                                      </p:cBhvr>
                                    </p:animEffect>
                                  </p:childTnLst>
                                </p:cTn>
                              </p:par>
                              <p:par>
                                <p:cTn id="47" presetID="12" presetClass="entr" presetSubtype="4"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additive="base">
                                        <p:cTn id="49" dur="500"/>
                                        <p:tgtEl>
                                          <p:spTgt spid="39"/>
                                        </p:tgtEl>
                                        <p:attrNameLst>
                                          <p:attrName>ppt_y</p:attrName>
                                        </p:attrNameLst>
                                      </p:cBhvr>
                                      <p:tavLst>
                                        <p:tav tm="0">
                                          <p:val>
                                            <p:strVal val="#ppt_y+#ppt_h*1.125000"/>
                                          </p:val>
                                        </p:tav>
                                        <p:tav tm="100000">
                                          <p:val>
                                            <p:strVal val="#ppt_y"/>
                                          </p:val>
                                        </p:tav>
                                      </p:tavLst>
                                    </p:anim>
                                    <p:animEffect transition="in" filter="wipe(up)">
                                      <p:cBhvr>
                                        <p:cTn id="50" dur="500"/>
                                        <p:tgtEl>
                                          <p:spTgt spid="39"/>
                                        </p:tgtEl>
                                      </p:cBhvr>
                                    </p:animEffect>
                                  </p:childTnLst>
                                </p:cTn>
                              </p:par>
                              <p:par>
                                <p:cTn id="51" presetID="12" presetClass="entr" presetSubtype="4"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anim calcmode="lin" valueType="num">
                                      <p:cBhvr additive="base">
                                        <p:cTn id="53" dur="500"/>
                                        <p:tgtEl>
                                          <p:spTgt spid="42"/>
                                        </p:tgtEl>
                                        <p:attrNameLst>
                                          <p:attrName>ppt_y</p:attrName>
                                        </p:attrNameLst>
                                      </p:cBhvr>
                                      <p:tavLst>
                                        <p:tav tm="0">
                                          <p:val>
                                            <p:strVal val="#ppt_y+#ppt_h*1.125000"/>
                                          </p:val>
                                        </p:tav>
                                        <p:tav tm="100000">
                                          <p:val>
                                            <p:strVal val="#ppt_y"/>
                                          </p:val>
                                        </p:tav>
                                      </p:tavLst>
                                    </p:anim>
                                    <p:animEffect transition="in" filter="wipe(up)">
                                      <p:cBhvr>
                                        <p:cTn id="54" dur="500"/>
                                        <p:tgtEl>
                                          <p:spTgt spid="42"/>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anim calcmode="lin" valueType="num">
                                      <p:cBhvr additive="base">
                                        <p:cTn id="57" dur="500"/>
                                        <p:tgtEl>
                                          <p:spTgt spid="43"/>
                                        </p:tgtEl>
                                        <p:attrNameLst>
                                          <p:attrName>ppt_y</p:attrName>
                                        </p:attrNameLst>
                                      </p:cBhvr>
                                      <p:tavLst>
                                        <p:tav tm="0">
                                          <p:val>
                                            <p:strVal val="#ppt_y+#ppt_h*1.125000"/>
                                          </p:val>
                                        </p:tav>
                                        <p:tav tm="100000">
                                          <p:val>
                                            <p:strVal val="#ppt_y"/>
                                          </p:val>
                                        </p:tav>
                                      </p:tavLst>
                                    </p:anim>
                                    <p:animEffect transition="in" filter="wipe(up)">
                                      <p:cBhvr>
                                        <p:cTn id="58" dur="500"/>
                                        <p:tgtEl>
                                          <p:spTgt spid="43"/>
                                        </p:tgtEl>
                                      </p:cBhvr>
                                    </p:animEffect>
                                  </p:childTnLst>
                                </p:cTn>
                              </p:par>
                              <p:par>
                                <p:cTn id="59" presetID="12" presetClass="entr" presetSubtype="4"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anim calcmode="lin" valueType="num">
                                      <p:cBhvr additive="base">
                                        <p:cTn id="61" dur="500"/>
                                        <p:tgtEl>
                                          <p:spTgt spid="44"/>
                                        </p:tgtEl>
                                        <p:attrNameLst>
                                          <p:attrName>ppt_y</p:attrName>
                                        </p:attrNameLst>
                                      </p:cBhvr>
                                      <p:tavLst>
                                        <p:tav tm="0">
                                          <p:val>
                                            <p:strVal val="#ppt_y+#ppt_h*1.125000"/>
                                          </p:val>
                                        </p:tav>
                                        <p:tav tm="100000">
                                          <p:val>
                                            <p:strVal val="#ppt_y"/>
                                          </p:val>
                                        </p:tav>
                                      </p:tavLst>
                                    </p:anim>
                                    <p:animEffect transition="in" filter="wipe(up)">
                                      <p:cBhvr>
                                        <p:cTn id="62" dur="500"/>
                                        <p:tgtEl>
                                          <p:spTgt spid="44"/>
                                        </p:tgtEl>
                                      </p:cBhvr>
                                    </p:animEffect>
                                  </p:childTnLst>
                                </p:cTn>
                              </p:par>
                              <p:par>
                                <p:cTn id="63" presetID="12" presetClass="entr" presetSubtype="4"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 calcmode="lin" valueType="num">
                                      <p:cBhvr additive="base">
                                        <p:cTn id="65" dur="500"/>
                                        <p:tgtEl>
                                          <p:spTgt spid="47"/>
                                        </p:tgtEl>
                                        <p:attrNameLst>
                                          <p:attrName>ppt_y</p:attrName>
                                        </p:attrNameLst>
                                      </p:cBhvr>
                                      <p:tavLst>
                                        <p:tav tm="0">
                                          <p:val>
                                            <p:strVal val="#ppt_y+#ppt_h*1.125000"/>
                                          </p:val>
                                        </p:tav>
                                        <p:tav tm="100000">
                                          <p:val>
                                            <p:strVal val="#ppt_y"/>
                                          </p:val>
                                        </p:tav>
                                      </p:tavLst>
                                    </p:anim>
                                    <p:animEffect transition="in" filter="wipe(up)">
                                      <p:cBhvr>
                                        <p:cTn id="66" dur="500"/>
                                        <p:tgtEl>
                                          <p:spTgt spid="47"/>
                                        </p:tgtEl>
                                      </p:cBhvr>
                                    </p:animEffect>
                                  </p:childTnLst>
                                </p:cTn>
                              </p:par>
                              <p:par>
                                <p:cTn id="67" presetID="12" presetClass="entr" presetSubtype="4"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additive="base">
                                        <p:cTn id="69" dur="500"/>
                                        <p:tgtEl>
                                          <p:spTgt spid="38"/>
                                        </p:tgtEl>
                                        <p:attrNameLst>
                                          <p:attrName>ppt_y</p:attrName>
                                        </p:attrNameLst>
                                      </p:cBhvr>
                                      <p:tavLst>
                                        <p:tav tm="0">
                                          <p:val>
                                            <p:strVal val="#ppt_y+#ppt_h*1.125000"/>
                                          </p:val>
                                        </p:tav>
                                        <p:tav tm="100000">
                                          <p:val>
                                            <p:strVal val="#ppt_y"/>
                                          </p:val>
                                        </p:tav>
                                      </p:tavLst>
                                    </p:anim>
                                    <p:animEffect transition="in" filter="wipe(up)">
                                      <p:cBhvr>
                                        <p:cTn id="7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7" grpId="0"/>
      <p:bldP spid="28" grpId="0"/>
      <p:bldP spid="32" grpId="0"/>
      <p:bldP spid="33" grpId="0"/>
      <p:bldP spid="37" grpId="0"/>
      <p:bldP spid="38" grpId="0"/>
      <p:bldP spid="42" grpId="0"/>
      <p:bldP spid="43" grpId="0"/>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470741"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alphaModFix amt="17000"/>
            </a:blip>
            <a:stretch>
              <a:fillRect/>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7742214" y="7517955"/>
            <a:ext cx="47625" cy="1740345"/>
            <a:chOff x="0" y="0"/>
            <a:chExt cx="12543" cy="458362"/>
          </a:xfrm>
        </p:grpSpPr>
        <p:sp>
          <p:nvSpPr>
            <p:cNvPr id="10" name="Freeform 10"/>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1" name="TextBox 11"/>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353569" y="1825960"/>
            <a:ext cx="3171754" cy="3171754"/>
            <a:chOff x="0" y="0"/>
            <a:chExt cx="812800" cy="812800"/>
          </a:xfrm>
        </p:grpSpPr>
        <p:sp>
          <p:nvSpPr>
            <p:cNvPr id="13" name="Freeform 13"/>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4"/>
              <a:stretch>
                <a:fillRect l="-38105" r="-38105"/>
              </a:stretch>
            </a:blipFill>
          </p:spPr>
        </p:sp>
      </p:grpSp>
      <p:grpSp>
        <p:nvGrpSpPr>
          <p:cNvPr id="14" name="Group 14"/>
          <p:cNvGrpSpPr/>
          <p:nvPr/>
        </p:nvGrpSpPr>
        <p:grpSpPr>
          <a:xfrm>
            <a:off x="9917714" y="1825960"/>
            <a:ext cx="3171754" cy="3171754"/>
            <a:chOff x="0" y="0"/>
            <a:chExt cx="812800" cy="812800"/>
          </a:xfrm>
        </p:grpSpPr>
        <p:sp>
          <p:nvSpPr>
            <p:cNvPr id="15" name="Freeform 15"/>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5"/>
              <a:stretch>
                <a:fillRect l="-25046" r="-25046"/>
              </a:stretch>
            </a:blipFill>
          </p:spPr>
        </p:sp>
      </p:grpSp>
      <p:grpSp>
        <p:nvGrpSpPr>
          <p:cNvPr id="16" name="Group 16"/>
          <p:cNvGrpSpPr/>
          <p:nvPr/>
        </p:nvGrpSpPr>
        <p:grpSpPr>
          <a:xfrm>
            <a:off x="13353569" y="5289286"/>
            <a:ext cx="3171754" cy="3171754"/>
            <a:chOff x="0" y="0"/>
            <a:chExt cx="812800" cy="812800"/>
          </a:xfrm>
        </p:grpSpPr>
        <p:sp>
          <p:nvSpPr>
            <p:cNvPr id="17" name="Freeform 17"/>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6"/>
              <a:stretch>
                <a:fillRect l="-26190" r="-26190"/>
              </a:stretch>
            </a:blipFill>
          </p:spPr>
        </p:sp>
      </p:grpSp>
      <p:grpSp>
        <p:nvGrpSpPr>
          <p:cNvPr id="18" name="Group 18"/>
          <p:cNvGrpSpPr/>
          <p:nvPr/>
        </p:nvGrpSpPr>
        <p:grpSpPr>
          <a:xfrm>
            <a:off x="2046855" y="3268139"/>
            <a:ext cx="597723" cy="597723"/>
            <a:chOff x="0" y="0"/>
            <a:chExt cx="812800" cy="812800"/>
          </a:xfrm>
        </p:grpSpPr>
        <p:sp>
          <p:nvSpPr>
            <p:cNvPr id="19" name="Freeform 1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20" name="TextBox 2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2046855" y="4806538"/>
            <a:ext cx="597723" cy="597723"/>
            <a:chOff x="0" y="0"/>
            <a:chExt cx="812800" cy="812800"/>
          </a:xfrm>
        </p:grpSpPr>
        <p:sp>
          <p:nvSpPr>
            <p:cNvPr id="22" name="Freeform 2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23" name="TextBox 23"/>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4" name="Freeform 24" descr="preencoded.png"/>
          <p:cNvSpPr/>
          <p:nvPr/>
        </p:nvSpPr>
        <p:spPr>
          <a:xfrm>
            <a:off x="320597" y="390377"/>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7"/>
            <a:stretch>
              <a:fillRect/>
            </a:stretch>
          </a:blipFill>
        </p:spPr>
      </p:sp>
      <p:grpSp>
        <p:nvGrpSpPr>
          <p:cNvPr id="25" name="Group 25"/>
          <p:cNvGrpSpPr/>
          <p:nvPr/>
        </p:nvGrpSpPr>
        <p:grpSpPr>
          <a:xfrm>
            <a:off x="5695765" y="3268362"/>
            <a:ext cx="597723" cy="597723"/>
            <a:chOff x="0" y="0"/>
            <a:chExt cx="812800" cy="812800"/>
          </a:xfrm>
        </p:grpSpPr>
        <p:sp>
          <p:nvSpPr>
            <p:cNvPr id="26" name="Freeform 2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27" name="TextBox 27"/>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5695765" y="4806538"/>
            <a:ext cx="597723" cy="597723"/>
            <a:chOff x="0" y="0"/>
            <a:chExt cx="812800" cy="812800"/>
          </a:xfrm>
        </p:grpSpPr>
        <p:sp>
          <p:nvSpPr>
            <p:cNvPr id="29" name="Freeform 2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30" name="TextBox 3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9917714" y="5304155"/>
            <a:ext cx="3171754" cy="3171754"/>
            <a:chOff x="0" y="0"/>
            <a:chExt cx="812800" cy="812800"/>
          </a:xfrm>
        </p:grpSpPr>
        <p:sp>
          <p:nvSpPr>
            <p:cNvPr id="32" name="Freeform 32"/>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8"/>
              <a:stretch>
                <a:fillRect l="-22916" r="-6393"/>
              </a:stretch>
            </a:blipFill>
          </p:spPr>
        </p:sp>
      </p:grpSp>
      <p:sp>
        <p:nvSpPr>
          <p:cNvPr id="33" name="TextBox 33"/>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34" name="TextBox 34"/>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35" name="TextBox 35"/>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36" name="TextBox 36"/>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37" name="TextBox 37"/>
          <p:cNvSpPr txBox="1"/>
          <p:nvPr/>
        </p:nvSpPr>
        <p:spPr>
          <a:xfrm>
            <a:off x="17492295" y="9568113"/>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08</a:t>
            </a:r>
          </a:p>
        </p:txBody>
      </p:sp>
      <p:sp>
        <p:nvSpPr>
          <p:cNvPr id="38" name="TextBox 38"/>
          <p:cNvSpPr txBox="1"/>
          <p:nvPr/>
        </p:nvSpPr>
        <p:spPr>
          <a:xfrm>
            <a:off x="2065905" y="1825960"/>
            <a:ext cx="6931408" cy="989330"/>
          </a:xfrm>
          <a:prstGeom prst="rect">
            <a:avLst/>
          </a:prstGeom>
        </p:spPr>
        <p:txBody>
          <a:bodyPr lIns="0" tIns="0" rIns="0" bIns="0" rtlCol="0" anchor="t">
            <a:spAutoFit/>
          </a:bodyPr>
          <a:lstStyle/>
          <a:p>
            <a:pPr algn="l">
              <a:lnSpc>
                <a:spcPts val="7735"/>
              </a:lnSpc>
            </a:pPr>
            <a:r>
              <a:rPr lang="en-US" sz="6500" dirty="0">
                <a:solidFill>
                  <a:srgbClr val="29E2F9"/>
                </a:solidFill>
                <a:latin typeface="Anton"/>
                <a:ea typeface="Anton"/>
                <a:cs typeface="Anton"/>
                <a:sym typeface="Anton"/>
              </a:rPr>
              <a:t>DỊCH VỤ CỦA INTERNET</a:t>
            </a:r>
          </a:p>
        </p:txBody>
      </p:sp>
      <p:sp>
        <p:nvSpPr>
          <p:cNvPr id="39" name="TextBox 39"/>
          <p:cNvSpPr txBox="1"/>
          <p:nvPr/>
        </p:nvSpPr>
        <p:spPr>
          <a:xfrm>
            <a:off x="2795044" y="3239564"/>
            <a:ext cx="1991194" cy="488315"/>
          </a:xfrm>
          <a:prstGeom prst="rect">
            <a:avLst/>
          </a:prstGeom>
        </p:spPr>
        <p:txBody>
          <a:bodyPr lIns="0" tIns="0" rIns="0" bIns="0" rtlCol="0" anchor="t">
            <a:spAutoFit/>
          </a:bodyPr>
          <a:lstStyle/>
          <a:p>
            <a:pPr algn="l">
              <a:lnSpc>
                <a:spcPts val="1959"/>
              </a:lnSpc>
            </a:pPr>
            <a:r>
              <a:rPr lang="en-US" sz="1399" b="1">
                <a:solidFill>
                  <a:srgbClr val="FFFFFF"/>
                </a:solidFill>
                <a:latin typeface="Open Sans Bold"/>
                <a:ea typeface="Open Sans Bold"/>
                <a:cs typeface="Open Sans Bold"/>
                <a:sym typeface="Open Sans Bold"/>
              </a:rPr>
              <a:t>Thư điện tử (Email)</a:t>
            </a:r>
            <a:r>
              <a:rPr lang="en-US" sz="1399">
                <a:solidFill>
                  <a:srgbClr val="FFFFFF"/>
                </a:solidFill>
                <a:latin typeface="Open Sans"/>
                <a:ea typeface="Open Sans"/>
                <a:cs typeface="Open Sans"/>
                <a:sym typeface="Open Sans"/>
              </a:rPr>
              <a:t> </a:t>
            </a:r>
          </a:p>
          <a:p>
            <a:pPr algn="l">
              <a:lnSpc>
                <a:spcPts val="1959"/>
              </a:lnSpc>
              <a:spcBef>
                <a:spcPct val="0"/>
              </a:spcBef>
            </a:pPr>
            <a:endParaRPr lang="en-US" sz="1399">
              <a:solidFill>
                <a:srgbClr val="FFFFFF"/>
              </a:solidFill>
              <a:latin typeface="Open Sans"/>
              <a:ea typeface="Open Sans"/>
              <a:cs typeface="Open Sans"/>
              <a:sym typeface="Open Sans"/>
            </a:endParaRPr>
          </a:p>
        </p:txBody>
      </p:sp>
      <p:sp>
        <p:nvSpPr>
          <p:cNvPr id="40" name="TextBox 40"/>
          <p:cNvSpPr txBox="1"/>
          <p:nvPr/>
        </p:nvSpPr>
        <p:spPr>
          <a:xfrm>
            <a:off x="6445888" y="3509851"/>
            <a:ext cx="3083633" cy="617220"/>
          </a:xfrm>
          <a:prstGeom prst="rect">
            <a:avLst/>
          </a:prstGeom>
        </p:spPr>
        <p:txBody>
          <a:bodyPr lIns="0" tIns="0" rIns="0" bIns="0" rtlCol="0" anchor="t">
            <a:spAutoFit/>
          </a:bodyPr>
          <a:lstStyle/>
          <a:p>
            <a:pPr algn="l">
              <a:lnSpc>
                <a:spcPts val="1680"/>
              </a:lnSpc>
            </a:pPr>
            <a:r>
              <a:rPr lang="en-US" sz="1200" dirty="0" err="1">
                <a:solidFill>
                  <a:srgbClr val="FFFFFF"/>
                </a:solidFill>
                <a:latin typeface="Open Sans"/>
                <a:ea typeface="Open Sans"/>
                <a:cs typeface="Open Sans"/>
                <a:sym typeface="Open Sans"/>
              </a:rPr>
              <a:t>Hệ</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thống</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các</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trang</a:t>
            </a:r>
            <a:r>
              <a:rPr lang="en-US" sz="1200" dirty="0">
                <a:solidFill>
                  <a:srgbClr val="FFFFFF"/>
                </a:solidFill>
                <a:latin typeface="Open Sans"/>
                <a:ea typeface="Open Sans"/>
                <a:cs typeface="Open Sans"/>
                <a:sym typeface="Open Sans"/>
              </a:rPr>
              <a:t> web </a:t>
            </a:r>
            <a:r>
              <a:rPr lang="en-US" sz="1200" dirty="0" err="1">
                <a:solidFill>
                  <a:srgbClr val="FFFFFF"/>
                </a:solidFill>
                <a:latin typeface="Open Sans"/>
                <a:ea typeface="Open Sans"/>
                <a:cs typeface="Open Sans"/>
                <a:sym typeface="Open Sans"/>
              </a:rPr>
              <a:t>được</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truy</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cập</a:t>
            </a:r>
            <a:r>
              <a:rPr lang="en-US" sz="1200" dirty="0">
                <a:solidFill>
                  <a:srgbClr val="FFFFFF"/>
                </a:solidFill>
                <a:latin typeface="Open Sans"/>
                <a:ea typeface="Open Sans"/>
                <a:cs typeface="Open Sans"/>
                <a:sym typeface="Open Sans"/>
              </a:rPr>
              <a:t> qua </a:t>
            </a:r>
            <a:r>
              <a:rPr lang="en-US" sz="1200" dirty="0" err="1">
                <a:solidFill>
                  <a:srgbClr val="FFFFFF"/>
                </a:solidFill>
                <a:latin typeface="Open Sans"/>
                <a:ea typeface="Open Sans"/>
                <a:cs typeface="Open Sans"/>
                <a:sym typeface="Open Sans"/>
              </a:rPr>
              <a:t>trình</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duyệt</a:t>
            </a:r>
            <a:r>
              <a:rPr lang="en-US" sz="1200" dirty="0">
                <a:solidFill>
                  <a:srgbClr val="FFFFFF"/>
                </a:solidFill>
                <a:latin typeface="Open Sans"/>
                <a:ea typeface="Open Sans"/>
                <a:cs typeface="Open Sans"/>
                <a:sym typeface="Open Sans"/>
              </a:rPr>
              <a:t> (Chrome, Firefox...).</a:t>
            </a:r>
          </a:p>
          <a:p>
            <a:pPr algn="l">
              <a:lnSpc>
                <a:spcPts val="1680"/>
              </a:lnSpc>
              <a:spcBef>
                <a:spcPct val="0"/>
              </a:spcBef>
            </a:pPr>
            <a:endParaRPr lang="en-US" sz="1200" dirty="0">
              <a:solidFill>
                <a:srgbClr val="FFFFFF"/>
              </a:solidFill>
              <a:latin typeface="Open Sans"/>
              <a:ea typeface="Open Sans"/>
              <a:cs typeface="Open Sans"/>
              <a:sym typeface="Open Sans"/>
            </a:endParaRPr>
          </a:p>
        </p:txBody>
      </p:sp>
      <p:sp>
        <p:nvSpPr>
          <p:cNvPr id="41" name="TextBox 41"/>
          <p:cNvSpPr txBox="1"/>
          <p:nvPr/>
        </p:nvSpPr>
        <p:spPr>
          <a:xfrm>
            <a:off x="2795044" y="5124450"/>
            <a:ext cx="2634020" cy="826770"/>
          </a:xfrm>
          <a:prstGeom prst="rect">
            <a:avLst/>
          </a:prstGeom>
        </p:spPr>
        <p:txBody>
          <a:bodyPr lIns="0" tIns="0" rIns="0" bIns="0" rtlCol="0" anchor="t">
            <a:spAutoFit/>
          </a:bodyPr>
          <a:lstStyle/>
          <a:p>
            <a:pPr algn="l">
              <a:lnSpc>
                <a:spcPts val="1680"/>
              </a:lnSpc>
            </a:pPr>
            <a:r>
              <a:rPr lang="en-US" sz="1200">
                <a:solidFill>
                  <a:srgbClr val="FFFFFF"/>
                </a:solidFill>
                <a:latin typeface="Open Sans"/>
                <a:ea typeface="Open Sans"/>
                <a:cs typeface="Open Sans"/>
                <a:sym typeface="Open Sans"/>
              </a:rPr>
              <a:t>Kết nối, chia sẻ thông tin cá nhân và tương tác (Facebook, TikTok, Instagram, Zalo...)</a:t>
            </a:r>
          </a:p>
          <a:p>
            <a:pPr algn="l">
              <a:lnSpc>
                <a:spcPts val="1680"/>
              </a:lnSpc>
              <a:spcBef>
                <a:spcPct val="0"/>
              </a:spcBef>
            </a:pPr>
            <a:endParaRPr lang="en-US" sz="1200">
              <a:solidFill>
                <a:srgbClr val="FFFFFF"/>
              </a:solidFill>
              <a:latin typeface="Open Sans"/>
              <a:ea typeface="Open Sans"/>
              <a:cs typeface="Open Sans"/>
              <a:sym typeface="Open Sans"/>
            </a:endParaRPr>
          </a:p>
        </p:txBody>
      </p:sp>
      <p:sp>
        <p:nvSpPr>
          <p:cNvPr id="42" name="TextBox 42"/>
          <p:cNvSpPr txBox="1"/>
          <p:nvPr/>
        </p:nvSpPr>
        <p:spPr>
          <a:xfrm>
            <a:off x="1039108" y="508149"/>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sp>
        <p:nvSpPr>
          <p:cNvPr id="43" name="TextBox 43"/>
          <p:cNvSpPr txBox="1"/>
          <p:nvPr/>
        </p:nvSpPr>
        <p:spPr>
          <a:xfrm>
            <a:off x="6445888" y="4777963"/>
            <a:ext cx="1935421" cy="488315"/>
          </a:xfrm>
          <a:prstGeom prst="rect">
            <a:avLst/>
          </a:prstGeom>
        </p:spPr>
        <p:txBody>
          <a:bodyPr lIns="0" tIns="0" rIns="0" bIns="0" rtlCol="0" anchor="t">
            <a:spAutoFit/>
          </a:bodyPr>
          <a:lstStyle/>
          <a:p>
            <a:pPr algn="l">
              <a:lnSpc>
                <a:spcPts val="1960"/>
              </a:lnSpc>
            </a:pPr>
            <a:r>
              <a:rPr lang="en-US" sz="1400" b="1">
                <a:solidFill>
                  <a:srgbClr val="FFFFFF"/>
                </a:solidFill>
                <a:latin typeface="Open Sans Bold"/>
                <a:ea typeface="Open Sans Bold"/>
                <a:cs typeface="Open Sans Bold"/>
                <a:sym typeface="Open Sans Bold"/>
              </a:rPr>
              <a:t>Tìm kiếm thông tin</a:t>
            </a:r>
          </a:p>
          <a:p>
            <a:pPr algn="l">
              <a:lnSpc>
                <a:spcPts val="1960"/>
              </a:lnSpc>
              <a:spcBef>
                <a:spcPct val="0"/>
              </a:spcBef>
            </a:pPr>
            <a:endParaRPr lang="en-US" sz="1400" b="1">
              <a:solidFill>
                <a:srgbClr val="FFFFFF"/>
              </a:solidFill>
              <a:latin typeface="Open Sans Bold"/>
              <a:ea typeface="Open Sans Bold"/>
              <a:cs typeface="Open Sans Bold"/>
              <a:sym typeface="Open Sans Bold"/>
            </a:endParaRPr>
          </a:p>
        </p:txBody>
      </p:sp>
      <p:sp>
        <p:nvSpPr>
          <p:cNvPr id="44" name="TextBox 44"/>
          <p:cNvSpPr txBox="1"/>
          <p:nvPr/>
        </p:nvSpPr>
        <p:spPr>
          <a:xfrm>
            <a:off x="2795044" y="3509851"/>
            <a:ext cx="2545430" cy="617220"/>
          </a:xfrm>
          <a:prstGeom prst="rect">
            <a:avLst/>
          </a:prstGeom>
        </p:spPr>
        <p:txBody>
          <a:bodyPr lIns="0" tIns="0" rIns="0" bIns="0" rtlCol="0" anchor="t">
            <a:spAutoFit/>
          </a:bodyPr>
          <a:lstStyle/>
          <a:p>
            <a:pPr algn="l">
              <a:lnSpc>
                <a:spcPts val="1680"/>
              </a:lnSpc>
            </a:pPr>
            <a:r>
              <a:rPr lang="en-US" sz="1200" dirty="0" err="1">
                <a:solidFill>
                  <a:srgbClr val="FFFFFF"/>
                </a:solidFill>
                <a:latin typeface="Open Sans"/>
                <a:ea typeface="Open Sans"/>
                <a:cs typeface="Open Sans"/>
                <a:sym typeface="Open Sans"/>
              </a:rPr>
              <a:t>Dịch</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vụ</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gửi</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và</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nhận</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thư</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trực</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tuyến</a:t>
            </a:r>
            <a:r>
              <a:rPr lang="en-US" sz="1200" dirty="0">
                <a:solidFill>
                  <a:srgbClr val="FFFFFF"/>
                </a:solidFill>
                <a:latin typeface="Open Sans"/>
                <a:ea typeface="Open Sans"/>
                <a:cs typeface="Open Sans"/>
                <a:sym typeface="Open Sans"/>
              </a:rPr>
              <a:t>. (Gmail, Yahoo Mail...)</a:t>
            </a:r>
          </a:p>
          <a:p>
            <a:pPr algn="l">
              <a:lnSpc>
                <a:spcPts val="1680"/>
              </a:lnSpc>
              <a:spcBef>
                <a:spcPct val="0"/>
              </a:spcBef>
            </a:pPr>
            <a:endParaRPr lang="en-US" sz="1200" dirty="0">
              <a:solidFill>
                <a:srgbClr val="FFFFFF"/>
              </a:solidFill>
              <a:latin typeface="Open Sans"/>
              <a:ea typeface="Open Sans"/>
              <a:cs typeface="Open Sans"/>
              <a:sym typeface="Open Sans"/>
            </a:endParaRPr>
          </a:p>
        </p:txBody>
      </p:sp>
      <p:sp>
        <p:nvSpPr>
          <p:cNvPr id="45" name="TextBox 45"/>
          <p:cNvSpPr txBox="1"/>
          <p:nvPr/>
        </p:nvSpPr>
        <p:spPr>
          <a:xfrm>
            <a:off x="6445888" y="3257344"/>
            <a:ext cx="1608801" cy="240665"/>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Bold"/>
                <a:ea typeface="Open Sans Bold"/>
                <a:cs typeface="Open Sans Bold"/>
                <a:sym typeface="Open Sans Bold"/>
              </a:rPr>
              <a:t>World Wide Web</a:t>
            </a:r>
          </a:p>
        </p:txBody>
      </p:sp>
      <p:sp>
        <p:nvSpPr>
          <p:cNvPr id="46" name="TextBox 46"/>
          <p:cNvSpPr txBox="1"/>
          <p:nvPr/>
        </p:nvSpPr>
        <p:spPr>
          <a:xfrm>
            <a:off x="2795044" y="4815840"/>
            <a:ext cx="2634020" cy="488315"/>
          </a:xfrm>
          <a:prstGeom prst="rect">
            <a:avLst/>
          </a:prstGeom>
        </p:spPr>
        <p:txBody>
          <a:bodyPr lIns="0" tIns="0" rIns="0" bIns="0" rtlCol="0" anchor="t">
            <a:spAutoFit/>
          </a:bodyPr>
          <a:lstStyle/>
          <a:p>
            <a:pPr algn="l">
              <a:lnSpc>
                <a:spcPts val="1960"/>
              </a:lnSpc>
            </a:pPr>
            <a:r>
              <a:rPr lang="en-US" sz="1400" b="1">
                <a:solidFill>
                  <a:srgbClr val="FFFFFF"/>
                </a:solidFill>
                <a:latin typeface="Open Sans Bold"/>
                <a:ea typeface="Open Sans Bold"/>
                <a:cs typeface="Open Sans Bold"/>
                <a:sym typeface="Open Sans Bold"/>
              </a:rPr>
              <a:t>Mạng xã hội (Social Media)</a:t>
            </a:r>
          </a:p>
          <a:p>
            <a:pPr algn="l">
              <a:lnSpc>
                <a:spcPts val="1960"/>
              </a:lnSpc>
              <a:spcBef>
                <a:spcPct val="0"/>
              </a:spcBef>
            </a:pPr>
            <a:endParaRPr lang="en-US" sz="1400" b="1">
              <a:solidFill>
                <a:srgbClr val="FFFFFF"/>
              </a:solidFill>
              <a:latin typeface="Open Sans Bold"/>
              <a:ea typeface="Open Sans Bold"/>
              <a:cs typeface="Open Sans Bold"/>
              <a:sym typeface="Open Sans Bold"/>
            </a:endParaRPr>
          </a:p>
        </p:txBody>
      </p:sp>
      <p:sp>
        <p:nvSpPr>
          <p:cNvPr id="47" name="TextBox 47"/>
          <p:cNvSpPr txBox="1"/>
          <p:nvPr/>
        </p:nvSpPr>
        <p:spPr>
          <a:xfrm>
            <a:off x="6445888" y="5124450"/>
            <a:ext cx="3083633" cy="617220"/>
          </a:xfrm>
          <a:prstGeom prst="rect">
            <a:avLst/>
          </a:prstGeom>
        </p:spPr>
        <p:txBody>
          <a:bodyPr lIns="0" tIns="0" rIns="0" bIns="0" rtlCol="0" anchor="t">
            <a:spAutoFit/>
          </a:bodyPr>
          <a:lstStyle/>
          <a:p>
            <a:pPr algn="l">
              <a:lnSpc>
                <a:spcPts val="1680"/>
              </a:lnSpc>
            </a:pPr>
            <a:r>
              <a:rPr lang="en-US" sz="1200">
                <a:solidFill>
                  <a:srgbClr val="FFFFFF"/>
                </a:solidFill>
                <a:latin typeface="Open Sans"/>
                <a:ea typeface="Open Sans"/>
                <a:cs typeface="Open Sans"/>
                <a:sym typeface="Open Sans"/>
              </a:rPr>
              <a:t>Công cụ như Google, Bing, Cốc Cốc giúp người dùng tìm nội dung nhanh chóng.</a:t>
            </a:r>
          </a:p>
          <a:p>
            <a:pPr algn="l">
              <a:lnSpc>
                <a:spcPts val="1680"/>
              </a:lnSpc>
              <a:spcBef>
                <a:spcPct val="0"/>
              </a:spcBef>
            </a:pPr>
            <a:endParaRPr lang="en-US" sz="1200">
              <a:solidFill>
                <a:srgbClr val="FFFFFF"/>
              </a:solidFill>
              <a:latin typeface="Open Sans"/>
              <a:ea typeface="Open Sans"/>
              <a:cs typeface="Open Sans"/>
              <a:sym typeface="Open Sans"/>
            </a:endParaRPr>
          </a:p>
        </p:txBody>
      </p:sp>
      <p:sp>
        <p:nvSpPr>
          <p:cNvPr id="48" name="Freeform 48" descr="preencoded.png"/>
          <p:cNvSpPr/>
          <p:nvPr/>
        </p:nvSpPr>
        <p:spPr>
          <a:xfrm>
            <a:off x="2175368" y="3357278"/>
            <a:ext cx="335491" cy="419446"/>
          </a:xfrm>
          <a:custGeom>
            <a:avLst/>
            <a:gdLst/>
            <a:ahLst/>
            <a:cxnLst/>
            <a:rect l="l" t="t" r="r" b="b"/>
            <a:pathLst>
              <a:path w="335491" h="419446">
                <a:moveTo>
                  <a:pt x="0" y="0"/>
                </a:moveTo>
                <a:lnTo>
                  <a:pt x="335491" y="0"/>
                </a:lnTo>
                <a:lnTo>
                  <a:pt x="335491" y="419446"/>
                </a:lnTo>
                <a:lnTo>
                  <a:pt x="0" y="419446"/>
                </a:lnTo>
                <a:lnTo>
                  <a:pt x="0" y="0"/>
                </a:lnTo>
                <a:close/>
              </a:path>
            </a:pathLst>
          </a:custGeom>
          <a:blipFill>
            <a:blip r:embed="rId9"/>
            <a:stretch>
              <a:fillRect l="-9" r="-9"/>
            </a:stretch>
          </a:blipFill>
        </p:spPr>
      </p:sp>
      <p:sp>
        <p:nvSpPr>
          <p:cNvPr id="49" name="Freeform 49" descr="preencoded.png"/>
          <p:cNvSpPr/>
          <p:nvPr/>
        </p:nvSpPr>
        <p:spPr>
          <a:xfrm>
            <a:off x="5795561" y="3318121"/>
            <a:ext cx="398130" cy="497761"/>
          </a:xfrm>
          <a:custGeom>
            <a:avLst/>
            <a:gdLst/>
            <a:ahLst/>
            <a:cxnLst/>
            <a:rect l="l" t="t" r="r" b="b"/>
            <a:pathLst>
              <a:path w="398130" h="497761">
                <a:moveTo>
                  <a:pt x="0" y="0"/>
                </a:moveTo>
                <a:lnTo>
                  <a:pt x="398130" y="0"/>
                </a:lnTo>
                <a:lnTo>
                  <a:pt x="398130" y="497760"/>
                </a:lnTo>
                <a:lnTo>
                  <a:pt x="0" y="497760"/>
                </a:lnTo>
                <a:lnTo>
                  <a:pt x="0" y="0"/>
                </a:lnTo>
                <a:close/>
              </a:path>
            </a:pathLst>
          </a:custGeom>
          <a:blipFill>
            <a:blip r:embed="rId10"/>
            <a:stretch>
              <a:fillRect l="-9" r="-9"/>
            </a:stretch>
          </a:blipFill>
        </p:spPr>
      </p:sp>
      <p:sp>
        <p:nvSpPr>
          <p:cNvPr id="50" name="Freeform 50" descr="preencoded.png"/>
          <p:cNvSpPr/>
          <p:nvPr/>
        </p:nvSpPr>
        <p:spPr>
          <a:xfrm>
            <a:off x="2137479" y="4844415"/>
            <a:ext cx="411268" cy="514186"/>
          </a:xfrm>
          <a:custGeom>
            <a:avLst/>
            <a:gdLst/>
            <a:ahLst/>
            <a:cxnLst/>
            <a:rect l="l" t="t" r="r" b="b"/>
            <a:pathLst>
              <a:path w="411268" h="514186">
                <a:moveTo>
                  <a:pt x="0" y="0"/>
                </a:moveTo>
                <a:lnTo>
                  <a:pt x="411268" y="0"/>
                </a:lnTo>
                <a:lnTo>
                  <a:pt x="411268" y="514186"/>
                </a:lnTo>
                <a:lnTo>
                  <a:pt x="0" y="514186"/>
                </a:lnTo>
                <a:lnTo>
                  <a:pt x="0" y="0"/>
                </a:lnTo>
                <a:close/>
              </a:path>
            </a:pathLst>
          </a:custGeom>
          <a:blipFill>
            <a:blip r:embed="rId11"/>
            <a:stretch>
              <a:fillRect l="-9" r="-9"/>
            </a:stretch>
          </a:blipFill>
        </p:spPr>
      </p:sp>
      <p:sp>
        <p:nvSpPr>
          <p:cNvPr id="51" name="Freeform 51" descr="preencoded.png"/>
          <p:cNvSpPr/>
          <p:nvPr/>
        </p:nvSpPr>
        <p:spPr>
          <a:xfrm>
            <a:off x="5782973" y="4855974"/>
            <a:ext cx="423307" cy="529237"/>
          </a:xfrm>
          <a:custGeom>
            <a:avLst/>
            <a:gdLst/>
            <a:ahLst/>
            <a:cxnLst/>
            <a:rect l="l" t="t" r="r" b="b"/>
            <a:pathLst>
              <a:path w="423307" h="529237">
                <a:moveTo>
                  <a:pt x="0" y="0"/>
                </a:moveTo>
                <a:lnTo>
                  <a:pt x="423307" y="0"/>
                </a:lnTo>
                <a:lnTo>
                  <a:pt x="423307" y="529238"/>
                </a:lnTo>
                <a:lnTo>
                  <a:pt x="0" y="529238"/>
                </a:lnTo>
                <a:lnTo>
                  <a:pt x="0" y="0"/>
                </a:lnTo>
                <a:close/>
              </a:path>
            </a:pathLst>
          </a:custGeom>
          <a:blipFill>
            <a:blip r:embed="rId12"/>
            <a:stretch>
              <a:fillRect l="-9" r="-9"/>
            </a:stretch>
          </a:blipFill>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ppt_x</p:attrName>
                                        </p:attrNameLst>
                                      </p:cBhvr>
                                      <p:tavLst>
                                        <p:tav tm="0">
                                          <p:val>
                                            <p:strVal val="#ppt_x-#ppt_w*1.125000"/>
                                          </p:val>
                                        </p:tav>
                                        <p:tav tm="100000">
                                          <p:val>
                                            <p:strVal val="#ppt_x"/>
                                          </p:val>
                                        </p:tav>
                                      </p:tavLst>
                                    </p:anim>
                                    <p:animEffect transition="in" filter="wipe(right)">
                                      <p:cBhvr>
                                        <p:cTn id="8" dur="500"/>
                                        <p:tgtEl>
                                          <p:spTgt spid="3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p:tgtEl>
                                          <p:spTgt spid="18"/>
                                        </p:tgtEl>
                                        <p:attrNameLst>
                                          <p:attrName>ppt_x</p:attrName>
                                        </p:attrNameLst>
                                      </p:cBhvr>
                                      <p:tavLst>
                                        <p:tav tm="0">
                                          <p:val>
                                            <p:strVal val="#ppt_x-#ppt_w*1.125000"/>
                                          </p:val>
                                        </p:tav>
                                        <p:tav tm="100000">
                                          <p:val>
                                            <p:strVal val="#ppt_x"/>
                                          </p:val>
                                        </p:tav>
                                      </p:tavLst>
                                    </p:anim>
                                    <p:animEffect transition="in" filter="wipe(right)">
                                      <p:cBhvr>
                                        <p:cTn id="14" dur="500"/>
                                        <p:tgtEl>
                                          <p:spTgt spid="18"/>
                                        </p:tgtEl>
                                      </p:cBhvr>
                                    </p:animEffect>
                                  </p:childTnLst>
                                </p:cTn>
                              </p:par>
                              <p:par>
                                <p:cTn id="15" presetID="12" presetClass="entr" presetSubtype="8"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additive="base">
                                        <p:cTn id="17" dur="500"/>
                                        <p:tgtEl>
                                          <p:spTgt spid="48"/>
                                        </p:tgtEl>
                                        <p:attrNameLst>
                                          <p:attrName>ppt_x</p:attrName>
                                        </p:attrNameLst>
                                      </p:cBhvr>
                                      <p:tavLst>
                                        <p:tav tm="0">
                                          <p:val>
                                            <p:strVal val="#ppt_x-#ppt_w*1.125000"/>
                                          </p:val>
                                        </p:tav>
                                        <p:tav tm="100000">
                                          <p:val>
                                            <p:strVal val="#ppt_x"/>
                                          </p:val>
                                        </p:tav>
                                      </p:tavLst>
                                    </p:anim>
                                    <p:animEffect transition="in" filter="wipe(right)">
                                      <p:cBhvr>
                                        <p:cTn id="18" dur="500"/>
                                        <p:tgtEl>
                                          <p:spTgt spid="48"/>
                                        </p:tgtEl>
                                      </p:cBhvr>
                                    </p:animEffect>
                                  </p:childTnLst>
                                </p:cTn>
                              </p:par>
                            </p:childTnLst>
                          </p:cTn>
                        </p:par>
                        <p:par>
                          <p:cTn id="19" fill="hold">
                            <p:stCondLst>
                              <p:cond delay="500"/>
                            </p:stCondLst>
                            <p:childTnLst>
                              <p:par>
                                <p:cTn id="20" presetID="12" presetClass="entr" presetSubtype="8" fill="hold" grpId="0" nodeType="after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500"/>
                                        <p:tgtEl>
                                          <p:spTgt spid="39"/>
                                        </p:tgtEl>
                                        <p:attrNameLst>
                                          <p:attrName>ppt_x</p:attrName>
                                        </p:attrNameLst>
                                      </p:cBhvr>
                                      <p:tavLst>
                                        <p:tav tm="0">
                                          <p:val>
                                            <p:strVal val="#ppt_x-#ppt_w*1.125000"/>
                                          </p:val>
                                        </p:tav>
                                        <p:tav tm="100000">
                                          <p:val>
                                            <p:strVal val="#ppt_x"/>
                                          </p:val>
                                        </p:tav>
                                      </p:tavLst>
                                    </p:anim>
                                    <p:animEffect transition="in" filter="wipe(right)">
                                      <p:cBhvr>
                                        <p:cTn id="23" dur="500"/>
                                        <p:tgtEl>
                                          <p:spTgt spid="39"/>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4"/>
                                        </p:tgtEl>
                                        <p:attrNameLst>
                                          <p:attrName>style.visibility</p:attrName>
                                        </p:attrNameLst>
                                      </p:cBhvr>
                                      <p:to>
                                        <p:strVal val="visible"/>
                                      </p:to>
                                    </p:set>
                                    <p:anim calcmode="lin" valueType="num">
                                      <p:cBhvr additive="base">
                                        <p:cTn id="26" dur="500"/>
                                        <p:tgtEl>
                                          <p:spTgt spid="44"/>
                                        </p:tgtEl>
                                        <p:attrNameLst>
                                          <p:attrName>ppt_x</p:attrName>
                                        </p:attrNameLst>
                                      </p:cBhvr>
                                      <p:tavLst>
                                        <p:tav tm="0">
                                          <p:val>
                                            <p:strVal val="#ppt_x-#ppt_w*1.125000"/>
                                          </p:val>
                                        </p:tav>
                                        <p:tav tm="100000">
                                          <p:val>
                                            <p:strVal val="#ppt_x"/>
                                          </p:val>
                                        </p:tav>
                                      </p:tavLst>
                                    </p:anim>
                                    <p:animEffect transition="in" filter="wipe(right)">
                                      <p:cBhvr>
                                        <p:cTn id="27" dur="500"/>
                                        <p:tgtEl>
                                          <p:spTgt spid="44"/>
                                        </p:tgtEl>
                                      </p:cBhvr>
                                    </p:animEffect>
                                  </p:childTnLst>
                                </p:cTn>
                              </p:par>
                            </p:childTnLst>
                          </p:cTn>
                        </p:par>
                        <p:par>
                          <p:cTn id="28" fill="hold">
                            <p:stCondLst>
                              <p:cond delay="1000"/>
                            </p:stCondLst>
                            <p:childTnLst>
                              <p:par>
                                <p:cTn id="29" presetID="12" presetClass="entr" presetSubtype="8"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p:tgtEl>
                                          <p:spTgt spid="25"/>
                                        </p:tgtEl>
                                        <p:attrNameLst>
                                          <p:attrName>ppt_x</p:attrName>
                                        </p:attrNameLst>
                                      </p:cBhvr>
                                      <p:tavLst>
                                        <p:tav tm="0">
                                          <p:val>
                                            <p:strVal val="#ppt_x-#ppt_w*1.125000"/>
                                          </p:val>
                                        </p:tav>
                                        <p:tav tm="100000">
                                          <p:val>
                                            <p:strVal val="#ppt_x"/>
                                          </p:val>
                                        </p:tav>
                                      </p:tavLst>
                                    </p:anim>
                                    <p:animEffect transition="in" filter="wipe(right)">
                                      <p:cBhvr>
                                        <p:cTn id="32" dur="500"/>
                                        <p:tgtEl>
                                          <p:spTgt spid="25"/>
                                        </p:tgtEl>
                                      </p:cBhvr>
                                    </p:animEffect>
                                  </p:childTnLst>
                                </p:cTn>
                              </p:par>
                              <p:par>
                                <p:cTn id="33" presetID="12" presetClass="entr" presetSubtype="8" fill="hold" nodeType="with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additive="base">
                                        <p:cTn id="35" dur="500"/>
                                        <p:tgtEl>
                                          <p:spTgt spid="49"/>
                                        </p:tgtEl>
                                        <p:attrNameLst>
                                          <p:attrName>ppt_x</p:attrName>
                                        </p:attrNameLst>
                                      </p:cBhvr>
                                      <p:tavLst>
                                        <p:tav tm="0">
                                          <p:val>
                                            <p:strVal val="#ppt_x-#ppt_w*1.125000"/>
                                          </p:val>
                                        </p:tav>
                                        <p:tav tm="100000">
                                          <p:val>
                                            <p:strVal val="#ppt_x"/>
                                          </p:val>
                                        </p:tav>
                                      </p:tavLst>
                                    </p:anim>
                                    <p:animEffect transition="in" filter="wipe(right)">
                                      <p:cBhvr>
                                        <p:cTn id="36" dur="500"/>
                                        <p:tgtEl>
                                          <p:spTgt spid="49"/>
                                        </p:tgtEl>
                                      </p:cBhvr>
                                    </p:animEffect>
                                  </p:childTnLst>
                                </p:cTn>
                              </p:par>
                            </p:childTnLst>
                          </p:cTn>
                        </p:par>
                        <p:par>
                          <p:cTn id="37" fill="hold">
                            <p:stCondLst>
                              <p:cond delay="1500"/>
                            </p:stCondLst>
                            <p:childTnLst>
                              <p:par>
                                <p:cTn id="38" presetID="12" presetClass="entr" presetSubtype="8" fill="hold" grpId="0" nodeType="afterEffect">
                                  <p:stCondLst>
                                    <p:cond delay="0"/>
                                  </p:stCondLst>
                                  <p:childTnLst>
                                    <p:set>
                                      <p:cBhvr>
                                        <p:cTn id="39" dur="1" fill="hold">
                                          <p:stCondLst>
                                            <p:cond delay="0"/>
                                          </p:stCondLst>
                                        </p:cTn>
                                        <p:tgtEl>
                                          <p:spTgt spid="40"/>
                                        </p:tgtEl>
                                        <p:attrNameLst>
                                          <p:attrName>style.visibility</p:attrName>
                                        </p:attrNameLst>
                                      </p:cBhvr>
                                      <p:to>
                                        <p:strVal val="visible"/>
                                      </p:to>
                                    </p:set>
                                    <p:anim calcmode="lin" valueType="num">
                                      <p:cBhvr additive="base">
                                        <p:cTn id="40" dur="500"/>
                                        <p:tgtEl>
                                          <p:spTgt spid="40"/>
                                        </p:tgtEl>
                                        <p:attrNameLst>
                                          <p:attrName>ppt_x</p:attrName>
                                        </p:attrNameLst>
                                      </p:cBhvr>
                                      <p:tavLst>
                                        <p:tav tm="0">
                                          <p:val>
                                            <p:strVal val="#ppt_x-#ppt_w*1.125000"/>
                                          </p:val>
                                        </p:tav>
                                        <p:tav tm="100000">
                                          <p:val>
                                            <p:strVal val="#ppt_x"/>
                                          </p:val>
                                        </p:tav>
                                      </p:tavLst>
                                    </p:anim>
                                    <p:animEffect transition="in" filter="wipe(right)">
                                      <p:cBhvr>
                                        <p:cTn id="41" dur="500"/>
                                        <p:tgtEl>
                                          <p:spTgt spid="40"/>
                                        </p:tgtEl>
                                      </p:cBhvr>
                                    </p:animEffect>
                                  </p:childTnLst>
                                </p:cTn>
                              </p:par>
                              <p:par>
                                <p:cTn id="42" presetID="12" presetClass="entr" presetSubtype="8" fill="hold" grpId="0" nodeType="withEffect">
                                  <p:stCondLst>
                                    <p:cond delay="0"/>
                                  </p:stCondLst>
                                  <p:childTnLst>
                                    <p:set>
                                      <p:cBhvr>
                                        <p:cTn id="43" dur="1" fill="hold">
                                          <p:stCondLst>
                                            <p:cond delay="0"/>
                                          </p:stCondLst>
                                        </p:cTn>
                                        <p:tgtEl>
                                          <p:spTgt spid="45"/>
                                        </p:tgtEl>
                                        <p:attrNameLst>
                                          <p:attrName>style.visibility</p:attrName>
                                        </p:attrNameLst>
                                      </p:cBhvr>
                                      <p:to>
                                        <p:strVal val="visible"/>
                                      </p:to>
                                    </p:set>
                                    <p:anim calcmode="lin" valueType="num">
                                      <p:cBhvr additive="base">
                                        <p:cTn id="44" dur="500"/>
                                        <p:tgtEl>
                                          <p:spTgt spid="45"/>
                                        </p:tgtEl>
                                        <p:attrNameLst>
                                          <p:attrName>ppt_x</p:attrName>
                                        </p:attrNameLst>
                                      </p:cBhvr>
                                      <p:tavLst>
                                        <p:tav tm="0">
                                          <p:val>
                                            <p:strVal val="#ppt_x-#ppt_w*1.125000"/>
                                          </p:val>
                                        </p:tav>
                                        <p:tav tm="100000">
                                          <p:val>
                                            <p:strVal val="#ppt_x"/>
                                          </p:val>
                                        </p:tav>
                                      </p:tavLst>
                                    </p:anim>
                                    <p:animEffect transition="in" filter="wipe(right)">
                                      <p:cBhvr>
                                        <p:cTn id="45" dur="500"/>
                                        <p:tgtEl>
                                          <p:spTgt spid="45"/>
                                        </p:tgtEl>
                                      </p:cBhvr>
                                    </p:animEffect>
                                  </p:childTnLst>
                                </p:cTn>
                              </p:par>
                            </p:childTnLst>
                          </p:cTn>
                        </p:par>
                        <p:par>
                          <p:cTn id="46" fill="hold">
                            <p:stCondLst>
                              <p:cond delay="2000"/>
                            </p:stCondLst>
                            <p:childTnLst>
                              <p:par>
                                <p:cTn id="47" presetID="12" presetClass="entr" presetSubtype="8" fill="hold" nodeType="after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p:tgtEl>
                                          <p:spTgt spid="21"/>
                                        </p:tgtEl>
                                        <p:attrNameLst>
                                          <p:attrName>ppt_x</p:attrName>
                                        </p:attrNameLst>
                                      </p:cBhvr>
                                      <p:tavLst>
                                        <p:tav tm="0">
                                          <p:val>
                                            <p:strVal val="#ppt_x-#ppt_w*1.125000"/>
                                          </p:val>
                                        </p:tav>
                                        <p:tav tm="100000">
                                          <p:val>
                                            <p:strVal val="#ppt_x"/>
                                          </p:val>
                                        </p:tav>
                                      </p:tavLst>
                                    </p:anim>
                                    <p:animEffect transition="in" filter="wipe(right)">
                                      <p:cBhvr>
                                        <p:cTn id="50" dur="500"/>
                                        <p:tgtEl>
                                          <p:spTgt spid="21"/>
                                        </p:tgtEl>
                                      </p:cBhvr>
                                    </p:animEffect>
                                  </p:childTnLst>
                                </p:cTn>
                              </p:par>
                              <p:par>
                                <p:cTn id="51" presetID="12" presetClass="entr" presetSubtype="8" fill="hold" nodeType="withEffect">
                                  <p:stCondLst>
                                    <p:cond delay="0"/>
                                  </p:stCondLst>
                                  <p:childTnLst>
                                    <p:set>
                                      <p:cBhvr>
                                        <p:cTn id="52" dur="1" fill="hold">
                                          <p:stCondLst>
                                            <p:cond delay="0"/>
                                          </p:stCondLst>
                                        </p:cTn>
                                        <p:tgtEl>
                                          <p:spTgt spid="50"/>
                                        </p:tgtEl>
                                        <p:attrNameLst>
                                          <p:attrName>style.visibility</p:attrName>
                                        </p:attrNameLst>
                                      </p:cBhvr>
                                      <p:to>
                                        <p:strVal val="visible"/>
                                      </p:to>
                                    </p:set>
                                    <p:anim calcmode="lin" valueType="num">
                                      <p:cBhvr additive="base">
                                        <p:cTn id="53" dur="500"/>
                                        <p:tgtEl>
                                          <p:spTgt spid="50"/>
                                        </p:tgtEl>
                                        <p:attrNameLst>
                                          <p:attrName>ppt_x</p:attrName>
                                        </p:attrNameLst>
                                      </p:cBhvr>
                                      <p:tavLst>
                                        <p:tav tm="0">
                                          <p:val>
                                            <p:strVal val="#ppt_x-#ppt_w*1.125000"/>
                                          </p:val>
                                        </p:tav>
                                        <p:tav tm="100000">
                                          <p:val>
                                            <p:strVal val="#ppt_x"/>
                                          </p:val>
                                        </p:tav>
                                      </p:tavLst>
                                    </p:anim>
                                    <p:animEffect transition="in" filter="wipe(right)">
                                      <p:cBhvr>
                                        <p:cTn id="54" dur="500"/>
                                        <p:tgtEl>
                                          <p:spTgt spid="50"/>
                                        </p:tgtEl>
                                      </p:cBhvr>
                                    </p:animEffect>
                                  </p:childTnLst>
                                </p:cTn>
                              </p:par>
                            </p:childTnLst>
                          </p:cTn>
                        </p:par>
                        <p:par>
                          <p:cTn id="55" fill="hold">
                            <p:stCondLst>
                              <p:cond delay="2500"/>
                            </p:stCondLst>
                            <p:childTnLst>
                              <p:par>
                                <p:cTn id="56" presetID="12" presetClass="entr" presetSubtype="8" fill="hold" grpId="0" nodeType="afterEffect">
                                  <p:stCondLst>
                                    <p:cond delay="0"/>
                                  </p:stCondLst>
                                  <p:childTnLst>
                                    <p:set>
                                      <p:cBhvr>
                                        <p:cTn id="57" dur="1" fill="hold">
                                          <p:stCondLst>
                                            <p:cond delay="0"/>
                                          </p:stCondLst>
                                        </p:cTn>
                                        <p:tgtEl>
                                          <p:spTgt spid="41"/>
                                        </p:tgtEl>
                                        <p:attrNameLst>
                                          <p:attrName>style.visibility</p:attrName>
                                        </p:attrNameLst>
                                      </p:cBhvr>
                                      <p:to>
                                        <p:strVal val="visible"/>
                                      </p:to>
                                    </p:set>
                                    <p:anim calcmode="lin" valueType="num">
                                      <p:cBhvr additive="base">
                                        <p:cTn id="58" dur="500"/>
                                        <p:tgtEl>
                                          <p:spTgt spid="41"/>
                                        </p:tgtEl>
                                        <p:attrNameLst>
                                          <p:attrName>ppt_x</p:attrName>
                                        </p:attrNameLst>
                                      </p:cBhvr>
                                      <p:tavLst>
                                        <p:tav tm="0">
                                          <p:val>
                                            <p:strVal val="#ppt_x-#ppt_w*1.125000"/>
                                          </p:val>
                                        </p:tav>
                                        <p:tav tm="100000">
                                          <p:val>
                                            <p:strVal val="#ppt_x"/>
                                          </p:val>
                                        </p:tav>
                                      </p:tavLst>
                                    </p:anim>
                                    <p:animEffect transition="in" filter="wipe(right)">
                                      <p:cBhvr>
                                        <p:cTn id="59" dur="500"/>
                                        <p:tgtEl>
                                          <p:spTgt spid="41"/>
                                        </p:tgtEl>
                                      </p:cBhvr>
                                    </p:animEffect>
                                  </p:childTnLst>
                                </p:cTn>
                              </p:par>
                              <p:par>
                                <p:cTn id="60" presetID="12" presetClass="entr" presetSubtype="8"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 calcmode="lin" valueType="num">
                                      <p:cBhvr additive="base">
                                        <p:cTn id="62" dur="500"/>
                                        <p:tgtEl>
                                          <p:spTgt spid="46"/>
                                        </p:tgtEl>
                                        <p:attrNameLst>
                                          <p:attrName>ppt_x</p:attrName>
                                        </p:attrNameLst>
                                      </p:cBhvr>
                                      <p:tavLst>
                                        <p:tav tm="0">
                                          <p:val>
                                            <p:strVal val="#ppt_x-#ppt_w*1.125000"/>
                                          </p:val>
                                        </p:tav>
                                        <p:tav tm="100000">
                                          <p:val>
                                            <p:strVal val="#ppt_x"/>
                                          </p:val>
                                        </p:tav>
                                      </p:tavLst>
                                    </p:anim>
                                    <p:animEffect transition="in" filter="wipe(right)">
                                      <p:cBhvr>
                                        <p:cTn id="63" dur="500"/>
                                        <p:tgtEl>
                                          <p:spTgt spid="46"/>
                                        </p:tgtEl>
                                      </p:cBhvr>
                                    </p:animEffect>
                                  </p:childTnLst>
                                </p:cTn>
                              </p:par>
                            </p:childTnLst>
                          </p:cTn>
                        </p:par>
                        <p:par>
                          <p:cTn id="64" fill="hold">
                            <p:stCondLst>
                              <p:cond delay="3000"/>
                            </p:stCondLst>
                            <p:childTnLst>
                              <p:par>
                                <p:cTn id="65" presetID="12" presetClass="entr" presetSubtype="8" fill="hold" nodeType="after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p:tgtEl>
                                          <p:spTgt spid="28"/>
                                        </p:tgtEl>
                                        <p:attrNameLst>
                                          <p:attrName>ppt_x</p:attrName>
                                        </p:attrNameLst>
                                      </p:cBhvr>
                                      <p:tavLst>
                                        <p:tav tm="0">
                                          <p:val>
                                            <p:strVal val="#ppt_x-#ppt_w*1.125000"/>
                                          </p:val>
                                        </p:tav>
                                        <p:tav tm="100000">
                                          <p:val>
                                            <p:strVal val="#ppt_x"/>
                                          </p:val>
                                        </p:tav>
                                      </p:tavLst>
                                    </p:anim>
                                    <p:animEffect transition="in" filter="wipe(right)">
                                      <p:cBhvr>
                                        <p:cTn id="68" dur="500"/>
                                        <p:tgtEl>
                                          <p:spTgt spid="28"/>
                                        </p:tgtEl>
                                      </p:cBhvr>
                                    </p:animEffect>
                                  </p:childTnLst>
                                </p:cTn>
                              </p:par>
                              <p:par>
                                <p:cTn id="69" presetID="12" presetClass="entr" presetSubtype="8" fill="hold" nodeType="withEffect">
                                  <p:stCondLst>
                                    <p:cond delay="0"/>
                                  </p:stCondLst>
                                  <p:childTnLst>
                                    <p:set>
                                      <p:cBhvr>
                                        <p:cTn id="70" dur="1" fill="hold">
                                          <p:stCondLst>
                                            <p:cond delay="0"/>
                                          </p:stCondLst>
                                        </p:cTn>
                                        <p:tgtEl>
                                          <p:spTgt spid="51"/>
                                        </p:tgtEl>
                                        <p:attrNameLst>
                                          <p:attrName>style.visibility</p:attrName>
                                        </p:attrNameLst>
                                      </p:cBhvr>
                                      <p:to>
                                        <p:strVal val="visible"/>
                                      </p:to>
                                    </p:set>
                                    <p:anim calcmode="lin" valueType="num">
                                      <p:cBhvr additive="base">
                                        <p:cTn id="71" dur="500"/>
                                        <p:tgtEl>
                                          <p:spTgt spid="51"/>
                                        </p:tgtEl>
                                        <p:attrNameLst>
                                          <p:attrName>ppt_x</p:attrName>
                                        </p:attrNameLst>
                                      </p:cBhvr>
                                      <p:tavLst>
                                        <p:tav tm="0">
                                          <p:val>
                                            <p:strVal val="#ppt_x-#ppt_w*1.125000"/>
                                          </p:val>
                                        </p:tav>
                                        <p:tav tm="100000">
                                          <p:val>
                                            <p:strVal val="#ppt_x"/>
                                          </p:val>
                                        </p:tav>
                                      </p:tavLst>
                                    </p:anim>
                                    <p:animEffect transition="in" filter="wipe(right)">
                                      <p:cBhvr>
                                        <p:cTn id="72" dur="500"/>
                                        <p:tgtEl>
                                          <p:spTgt spid="51"/>
                                        </p:tgtEl>
                                      </p:cBhvr>
                                    </p:animEffect>
                                  </p:childTnLst>
                                </p:cTn>
                              </p:par>
                            </p:childTnLst>
                          </p:cTn>
                        </p:par>
                        <p:par>
                          <p:cTn id="73" fill="hold">
                            <p:stCondLst>
                              <p:cond delay="3500"/>
                            </p:stCondLst>
                            <p:childTnLst>
                              <p:par>
                                <p:cTn id="74" presetID="12" presetClass="entr" presetSubtype="8" fill="hold" grpId="0" nodeType="afterEffect">
                                  <p:stCondLst>
                                    <p:cond delay="0"/>
                                  </p:stCondLst>
                                  <p:childTnLst>
                                    <p:set>
                                      <p:cBhvr>
                                        <p:cTn id="75" dur="1" fill="hold">
                                          <p:stCondLst>
                                            <p:cond delay="0"/>
                                          </p:stCondLst>
                                        </p:cTn>
                                        <p:tgtEl>
                                          <p:spTgt spid="43"/>
                                        </p:tgtEl>
                                        <p:attrNameLst>
                                          <p:attrName>style.visibility</p:attrName>
                                        </p:attrNameLst>
                                      </p:cBhvr>
                                      <p:to>
                                        <p:strVal val="visible"/>
                                      </p:to>
                                    </p:set>
                                    <p:anim calcmode="lin" valueType="num">
                                      <p:cBhvr additive="base">
                                        <p:cTn id="76" dur="500"/>
                                        <p:tgtEl>
                                          <p:spTgt spid="43"/>
                                        </p:tgtEl>
                                        <p:attrNameLst>
                                          <p:attrName>ppt_x</p:attrName>
                                        </p:attrNameLst>
                                      </p:cBhvr>
                                      <p:tavLst>
                                        <p:tav tm="0">
                                          <p:val>
                                            <p:strVal val="#ppt_x-#ppt_w*1.125000"/>
                                          </p:val>
                                        </p:tav>
                                        <p:tav tm="100000">
                                          <p:val>
                                            <p:strVal val="#ppt_x"/>
                                          </p:val>
                                        </p:tav>
                                      </p:tavLst>
                                    </p:anim>
                                    <p:animEffect transition="in" filter="wipe(right)">
                                      <p:cBhvr>
                                        <p:cTn id="77" dur="500"/>
                                        <p:tgtEl>
                                          <p:spTgt spid="43"/>
                                        </p:tgtEl>
                                      </p:cBhvr>
                                    </p:animEffect>
                                  </p:childTnLst>
                                </p:cTn>
                              </p:par>
                              <p:par>
                                <p:cTn id="78" presetID="12" presetClass="entr" presetSubtype="8" fill="hold" grpId="0" nodeType="withEffect">
                                  <p:stCondLst>
                                    <p:cond delay="0"/>
                                  </p:stCondLst>
                                  <p:childTnLst>
                                    <p:set>
                                      <p:cBhvr>
                                        <p:cTn id="79" dur="1" fill="hold">
                                          <p:stCondLst>
                                            <p:cond delay="0"/>
                                          </p:stCondLst>
                                        </p:cTn>
                                        <p:tgtEl>
                                          <p:spTgt spid="47"/>
                                        </p:tgtEl>
                                        <p:attrNameLst>
                                          <p:attrName>style.visibility</p:attrName>
                                        </p:attrNameLst>
                                      </p:cBhvr>
                                      <p:to>
                                        <p:strVal val="visible"/>
                                      </p:to>
                                    </p:set>
                                    <p:anim calcmode="lin" valueType="num">
                                      <p:cBhvr additive="base">
                                        <p:cTn id="80" dur="500"/>
                                        <p:tgtEl>
                                          <p:spTgt spid="47"/>
                                        </p:tgtEl>
                                        <p:attrNameLst>
                                          <p:attrName>ppt_x</p:attrName>
                                        </p:attrNameLst>
                                      </p:cBhvr>
                                      <p:tavLst>
                                        <p:tav tm="0">
                                          <p:val>
                                            <p:strVal val="#ppt_x-#ppt_w*1.125000"/>
                                          </p:val>
                                        </p:tav>
                                        <p:tav tm="100000">
                                          <p:val>
                                            <p:strVal val="#ppt_x"/>
                                          </p:val>
                                        </p:tav>
                                      </p:tavLst>
                                    </p:anim>
                                    <p:animEffect transition="in" filter="wipe(right)">
                                      <p:cBhvr>
                                        <p:cTn id="81" dur="500"/>
                                        <p:tgtEl>
                                          <p:spTgt spid="47"/>
                                        </p:tgtEl>
                                      </p:cBhvr>
                                    </p:animEffect>
                                  </p:childTnLst>
                                </p:cTn>
                              </p:par>
                              <p:par>
                                <p:cTn id="82" presetID="12" presetClass="entr" presetSubtype="4" fill="hold" nodeType="with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additive="base">
                                        <p:cTn id="84" dur="500"/>
                                        <p:tgtEl>
                                          <p:spTgt spid="12"/>
                                        </p:tgtEl>
                                        <p:attrNameLst>
                                          <p:attrName>ppt_y</p:attrName>
                                        </p:attrNameLst>
                                      </p:cBhvr>
                                      <p:tavLst>
                                        <p:tav tm="0">
                                          <p:val>
                                            <p:strVal val="#ppt_y+#ppt_h*1.125000"/>
                                          </p:val>
                                        </p:tav>
                                        <p:tav tm="100000">
                                          <p:val>
                                            <p:strVal val="#ppt_y"/>
                                          </p:val>
                                        </p:tav>
                                      </p:tavLst>
                                    </p:anim>
                                    <p:animEffect transition="in" filter="wipe(up)">
                                      <p:cBhvr>
                                        <p:cTn id="85" dur="500"/>
                                        <p:tgtEl>
                                          <p:spTgt spid="12"/>
                                        </p:tgtEl>
                                      </p:cBhvr>
                                    </p:animEffect>
                                  </p:childTnLst>
                                </p:cTn>
                              </p:par>
                              <p:par>
                                <p:cTn id="86" presetID="12" presetClass="entr" presetSubtype="4" fill="hold" nodeType="withEffect">
                                  <p:stCondLst>
                                    <p:cond delay="0"/>
                                  </p:stCondLst>
                                  <p:childTnLst>
                                    <p:set>
                                      <p:cBhvr>
                                        <p:cTn id="87" dur="1" fill="hold">
                                          <p:stCondLst>
                                            <p:cond delay="0"/>
                                          </p:stCondLst>
                                        </p:cTn>
                                        <p:tgtEl>
                                          <p:spTgt spid="14"/>
                                        </p:tgtEl>
                                        <p:attrNameLst>
                                          <p:attrName>style.visibility</p:attrName>
                                        </p:attrNameLst>
                                      </p:cBhvr>
                                      <p:to>
                                        <p:strVal val="visible"/>
                                      </p:to>
                                    </p:set>
                                    <p:anim calcmode="lin" valueType="num">
                                      <p:cBhvr additive="base">
                                        <p:cTn id="88" dur="500"/>
                                        <p:tgtEl>
                                          <p:spTgt spid="14"/>
                                        </p:tgtEl>
                                        <p:attrNameLst>
                                          <p:attrName>ppt_y</p:attrName>
                                        </p:attrNameLst>
                                      </p:cBhvr>
                                      <p:tavLst>
                                        <p:tav tm="0">
                                          <p:val>
                                            <p:strVal val="#ppt_y+#ppt_h*1.125000"/>
                                          </p:val>
                                        </p:tav>
                                        <p:tav tm="100000">
                                          <p:val>
                                            <p:strVal val="#ppt_y"/>
                                          </p:val>
                                        </p:tav>
                                      </p:tavLst>
                                    </p:anim>
                                    <p:animEffect transition="in" filter="wipe(up)">
                                      <p:cBhvr>
                                        <p:cTn id="89" dur="500"/>
                                        <p:tgtEl>
                                          <p:spTgt spid="14"/>
                                        </p:tgtEl>
                                      </p:cBhvr>
                                    </p:animEffect>
                                  </p:childTnLst>
                                </p:cTn>
                              </p:par>
                              <p:par>
                                <p:cTn id="90" presetID="12" presetClass="entr" presetSubtype="4" fill="hold" nodeType="withEffect">
                                  <p:stCondLst>
                                    <p:cond delay="0"/>
                                  </p:stCondLst>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500"/>
                                        <p:tgtEl>
                                          <p:spTgt spid="16"/>
                                        </p:tgtEl>
                                        <p:attrNameLst>
                                          <p:attrName>ppt_y</p:attrName>
                                        </p:attrNameLst>
                                      </p:cBhvr>
                                      <p:tavLst>
                                        <p:tav tm="0">
                                          <p:val>
                                            <p:strVal val="#ppt_y+#ppt_h*1.125000"/>
                                          </p:val>
                                        </p:tav>
                                        <p:tav tm="100000">
                                          <p:val>
                                            <p:strVal val="#ppt_y"/>
                                          </p:val>
                                        </p:tav>
                                      </p:tavLst>
                                    </p:anim>
                                    <p:animEffect transition="in" filter="wipe(up)">
                                      <p:cBhvr>
                                        <p:cTn id="93" dur="500"/>
                                        <p:tgtEl>
                                          <p:spTgt spid="16"/>
                                        </p:tgtEl>
                                      </p:cBhvr>
                                    </p:animEffect>
                                  </p:childTnLst>
                                </p:cTn>
                              </p:par>
                              <p:par>
                                <p:cTn id="94" presetID="12" presetClass="entr" presetSubtype="4" fill="hold" nodeType="withEffect">
                                  <p:stCondLst>
                                    <p:cond delay="0"/>
                                  </p:stCondLst>
                                  <p:childTnLst>
                                    <p:set>
                                      <p:cBhvr>
                                        <p:cTn id="95" dur="1" fill="hold">
                                          <p:stCondLst>
                                            <p:cond delay="0"/>
                                          </p:stCondLst>
                                        </p:cTn>
                                        <p:tgtEl>
                                          <p:spTgt spid="31"/>
                                        </p:tgtEl>
                                        <p:attrNameLst>
                                          <p:attrName>style.visibility</p:attrName>
                                        </p:attrNameLst>
                                      </p:cBhvr>
                                      <p:to>
                                        <p:strVal val="visible"/>
                                      </p:to>
                                    </p:set>
                                    <p:anim calcmode="lin" valueType="num">
                                      <p:cBhvr additive="base">
                                        <p:cTn id="96" dur="500"/>
                                        <p:tgtEl>
                                          <p:spTgt spid="31"/>
                                        </p:tgtEl>
                                        <p:attrNameLst>
                                          <p:attrName>ppt_y</p:attrName>
                                        </p:attrNameLst>
                                      </p:cBhvr>
                                      <p:tavLst>
                                        <p:tav tm="0">
                                          <p:val>
                                            <p:strVal val="#ppt_y+#ppt_h*1.125000"/>
                                          </p:val>
                                        </p:tav>
                                        <p:tav tm="100000">
                                          <p:val>
                                            <p:strVal val="#ppt_y"/>
                                          </p:val>
                                        </p:tav>
                                      </p:tavLst>
                                    </p:anim>
                                    <p:animEffect transition="in" filter="wipe(up)">
                                      <p:cBhvr>
                                        <p:cTn id="9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3" grpId="0"/>
      <p:bldP spid="44" grpId="0"/>
      <p:bldP spid="45" grpId="0"/>
      <p:bldP spid="46" grpId="0"/>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470741"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alphaModFix amt="17000"/>
            </a:blip>
            <a:stretch>
              <a:fillRect/>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7742214" y="7517955"/>
            <a:ext cx="47625" cy="1740345"/>
            <a:chOff x="0" y="0"/>
            <a:chExt cx="12543" cy="458362"/>
          </a:xfrm>
        </p:grpSpPr>
        <p:sp>
          <p:nvSpPr>
            <p:cNvPr id="10" name="Freeform 10"/>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1" name="TextBox 11"/>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353569" y="1825960"/>
            <a:ext cx="3171754" cy="3171754"/>
            <a:chOff x="0" y="0"/>
            <a:chExt cx="812800" cy="812800"/>
          </a:xfrm>
        </p:grpSpPr>
        <p:sp>
          <p:nvSpPr>
            <p:cNvPr id="13" name="Freeform 13"/>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4"/>
              <a:stretch>
                <a:fillRect l="-1023" r="-53544"/>
              </a:stretch>
            </a:blipFill>
          </p:spPr>
        </p:sp>
      </p:grpSp>
      <p:grpSp>
        <p:nvGrpSpPr>
          <p:cNvPr id="14" name="Group 14"/>
          <p:cNvGrpSpPr/>
          <p:nvPr/>
        </p:nvGrpSpPr>
        <p:grpSpPr>
          <a:xfrm>
            <a:off x="9917714" y="1825960"/>
            <a:ext cx="3171754" cy="3171754"/>
            <a:chOff x="0" y="0"/>
            <a:chExt cx="812800" cy="812800"/>
          </a:xfrm>
        </p:grpSpPr>
        <p:sp>
          <p:nvSpPr>
            <p:cNvPr id="15" name="Freeform 15"/>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5"/>
              <a:stretch>
                <a:fillRect l="-16666" r="-16666"/>
              </a:stretch>
            </a:blipFill>
          </p:spPr>
        </p:sp>
      </p:grpSp>
      <p:grpSp>
        <p:nvGrpSpPr>
          <p:cNvPr id="16" name="Group 16"/>
          <p:cNvGrpSpPr/>
          <p:nvPr/>
        </p:nvGrpSpPr>
        <p:grpSpPr>
          <a:xfrm>
            <a:off x="13353569" y="5289286"/>
            <a:ext cx="3171754" cy="3171754"/>
            <a:chOff x="0" y="0"/>
            <a:chExt cx="812800" cy="812800"/>
          </a:xfrm>
        </p:grpSpPr>
        <p:sp>
          <p:nvSpPr>
            <p:cNvPr id="17" name="Freeform 17"/>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6"/>
              <a:stretch>
                <a:fillRect l="-16666" r="-16666"/>
              </a:stretch>
            </a:blipFill>
          </p:spPr>
        </p:sp>
      </p:grpSp>
      <p:grpSp>
        <p:nvGrpSpPr>
          <p:cNvPr id="18" name="Group 18"/>
          <p:cNvGrpSpPr/>
          <p:nvPr/>
        </p:nvGrpSpPr>
        <p:grpSpPr>
          <a:xfrm>
            <a:off x="2046855" y="3268139"/>
            <a:ext cx="597723" cy="597723"/>
            <a:chOff x="0" y="0"/>
            <a:chExt cx="812800" cy="812800"/>
          </a:xfrm>
        </p:grpSpPr>
        <p:sp>
          <p:nvSpPr>
            <p:cNvPr id="19" name="Freeform 1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20" name="TextBox 2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2046855" y="4806538"/>
            <a:ext cx="597723" cy="597723"/>
            <a:chOff x="0" y="0"/>
            <a:chExt cx="812800" cy="812800"/>
          </a:xfrm>
        </p:grpSpPr>
        <p:sp>
          <p:nvSpPr>
            <p:cNvPr id="22" name="Freeform 2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23" name="TextBox 23"/>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4" name="Freeform 24" descr="preencoded.png"/>
          <p:cNvSpPr/>
          <p:nvPr/>
        </p:nvSpPr>
        <p:spPr>
          <a:xfrm>
            <a:off x="320597" y="390377"/>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7"/>
            <a:stretch>
              <a:fillRect/>
            </a:stretch>
          </a:blipFill>
        </p:spPr>
      </p:sp>
      <p:grpSp>
        <p:nvGrpSpPr>
          <p:cNvPr id="25" name="Group 25"/>
          <p:cNvGrpSpPr/>
          <p:nvPr/>
        </p:nvGrpSpPr>
        <p:grpSpPr>
          <a:xfrm>
            <a:off x="5695765" y="3268362"/>
            <a:ext cx="597723" cy="597723"/>
            <a:chOff x="0" y="0"/>
            <a:chExt cx="812800" cy="812800"/>
          </a:xfrm>
        </p:grpSpPr>
        <p:sp>
          <p:nvSpPr>
            <p:cNvPr id="26" name="Freeform 2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27" name="TextBox 27"/>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5695765" y="4806538"/>
            <a:ext cx="597723" cy="597723"/>
            <a:chOff x="0" y="0"/>
            <a:chExt cx="812800" cy="812800"/>
          </a:xfrm>
        </p:grpSpPr>
        <p:sp>
          <p:nvSpPr>
            <p:cNvPr id="29" name="Freeform 2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30" name="TextBox 3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9917714" y="5289286"/>
            <a:ext cx="3171754" cy="3171754"/>
            <a:chOff x="0" y="0"/>
            <a:chExt cx="812800" cy="812800"/>
          </a:xfrm>
        </p:grpSpPr>
        <p:sp>
          <p:nvSpPr>
            <p:cNvPr id="32" name="Freeform 32"/>
            <p:cNvSpPr/>
            <p:nvPr/>
          </p:nvSpPr>
          <p:spPr>
            <a:xfrm>
              <a:off x="0" y="0"/>
              <a:ext cx="812800" cy="812800"/>
            </a:xfrm>
            <a:custGeom>
              <a:avLst/>
              <a:gdLst/>
              <a:ahLst/>
              <a:cxnLst/>
              <a:rect l="l" t="t" r="r" b="b"/>
              <a:pathLst>
                <a:path w="812800" h="812800">
                  <a:moveTo>
                    <a:pt x="85431" y="0"/>
                  </a:moveTo>
                  <a:lnTo>
                    <a:pt x="727369" y="0"/>
                  </a:lnTo>
                  <a:cubicBezTo>
                    <a:pt x="750026" y="0"/>
                    <a:pt x="771756" y="9001"/>
                    <a:pt x="787778" y="25022"/>
                  </a:cubicBezTo>
                  <a:cubicBezTo>
                    <a:pt x="803799" y="41044"/>
                    <a:pt x="812800" y="62774"/>
                    <a:pt x="812800" y="85431"/>
                  </a:cubicBezTo>
                  <a:lnTo>
                    <a:pt x="812800" y="727369"/>
                  </a:lnTo>
                  <a:cubicBezTo>
                    <a:pt x="812800" y="750026"/>
                    <a:pt x="803799" y="771756"/>
                    <a:pt x="787778" y="787778"/>
                  </a:cubicBezTo>
                  <a:cubicBezTo>
                    <a:pt x="771756" y="803799"/>
                    <a:pt x="750026" y="812800"/>
                    <a:pt x="727369" y="812800"/>
                  </a:cubicBezTo>
                  <a:lnTo>
                    <a:pt x="85431" y="812800"/>
                  </a:lnTo>
                  <a:cubicBezTo>
                    <a:pt x="62774" y="812800"/>
                    <a:pt x="41044" y="803799"/>
                    <a:pt x="25022" y="787778"/>
                  </a:cubicBezTo>
                  <a:cubicBezTo>
                    <a:pt x="9001" y="771756"/>
                    <a:pt x="0" y="750026"/>
                    <a:pt x="0" y="727369"/>
                  </a:cubicBezTo>
                  <a:lnTo>
                    <a:pt x="0" y="85431"/>
                  </a:lnTo>
                  <a:cubicBezTo>
                    <a:pt x="0" y="62774"/>
                    <a:pt x="9001" y="41044"/>
                    <a:pt x="25022" y="25022"/>
                  </a:cubicBezTo>
                  <a:cubicBezTo>
                    <a:pt x="41044" y="9001"/>
                    <a:pt x="62774" y="0"/>
                    <a:pt x="85431" y="0"/>
                  </a:cubicBezTo>
                  <a:close/>
                </a:path>
              </a:pathLst>
            </a:custGeom>
            <a:blipFill>
              <a:blip r:embed="rId8"/>
              <a:stretch>
                <a:fillRect l="-64210" r="-12000"/>
              </a:stretch>
            </a:blipFill>
          </p:spPr>
        </p:sp>
      </p:grpSp>
      <p:sp>
        <p:nvSpPr>
          <p:cNvPr id="33" name="TextBox 33"/>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34" name="TextBox 34"/>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35" name="TextBox 35"/>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36" name="TextBox 36"/>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37" name="TextBox 37"/>
          <p:cNvSpPr txBox="1"/>
          <p:nvPr/>
        </p:nvSpPr>
        <p:spPr>
          <a:xfrm>
            <a:off x="17492295" y="9568113"/>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09</a:t>
            </a:r>
          </a:p>
        </p:txBody>
      </p:sp>
      <p:sp>
        <p:nvSpPr>
          <p:cNvPr id="38" name="TextBox 38"/>
          <p:cNvSpPr txBox="1"/>
          <p:nvPr/>
        </p:nvSpPr>
        <p:spPr>
          <a:xfrm>
            <a:off x="2065905" y="1825960"/>
            <a:ext cx="6931408" cy="989330"/>
          </a:xfrm>
          <a:prstGeom prst="rect">
            <a:avLst/>
          </a:prstGeom>
        </p:spPr>
        <p:txBody>
          <a:bodyPr lIns="0" tIns="0" rIns="0" bIns="0" rtlCol="0" anchor="t">
            <a:spAutoFit/>
          </a:bodyPr>
          <a:lstStyle/>
          <a:p>
            <a:pPr algn="l">
              <a:lnSpc>
                <a:spcPts val="7735"/>
              </a:lnSpc>
            </a:pPr>
            <a:r>
              <a:rPr lang="en-US" sz="6500" dirty="0">
                <a:solidFill>
                  <a:srgbClr val="29E2F9"/>
                </a:solidFill>
                <a:latin typeface="Anton"/>
                <a:ea typeface="Anton"/>
                <a:cs typeface="Anton"/>
                <a:sym typeface="Anton"/>
              </a:rPr>
              <a:t>DỊCH VỤ CỦA INTERNET</a:t>
            </a:r>
          </a:p>
        </p:txBody>
      </p:sp>
      <p:sp>
        <p:nvSpPr>
          <p:cNvPr id="39" name="TextBox 39"/>
          <p:cNvSpPr txBox="1"/>
          <p:nvPr/>
        </p:nvSpPr>
        <p:spPr>
          <a:xfrm>
            <a:off x="2795044" y="3239564"/>
            <a:ext cx="2859391" cy="240665"/>
          </a:xfrm>
          <a:prstGeom prst="rect">
            <a:avLst/>
          </a:prstGeom>
        </p:spPr>
        <p:txBody>
          <a:bodyPr lIns="0" tIns="0" rIns="0" bIns="0" rtlCol="0" anchor="t">
            <a:spAutoFit/>
          </a:bodyPr>
          <a:lstStyle/>
          <a:p>
            <a:pPr algn="l">
              <a:lnSpc>
                <a:spcPts val="1959"/>
              </a:lnSpc>
            </a:pPr>
            <a:r>
              <a:rPr lang="en-US" sz="1399" b="1" dirty="0" err="1">
                <a:solidFill>
                  <a:srgbClr val="FFFFFF"/>
                </a:solidFill>
                <a:latin typeface="Open Sans Bold"/>
                <a:ea typeface="Open Sans Bold"/>
                <a:cs typeface="Open Sans Bold"/>
                <a:sym typeface="Open Sans Bold"/>
              </a:rPr>
              <a:t>Truyền</a:t>
            </a:r>
            <a:r>
              <a:rPr lang="en-US" sz="1399" b="1" dirty="0">
                <a:solidFill>
                  <a:srgbClr val="FFFFFF"/>
                </a:solidFill>
                <a:latin typeface="Open Sans Bold"/>
                <a:ea typeface="Open Sans Bold"/>
                <a:cs typeface="Open Sans Bold"/>
                <a:sym typeface="Open Sans Bold"/>
              </a:rPr>
              <a:t> </a:t>
            </a:r>
            <a:r>
              <a:rPr lang="en-US" sz="1399" b="1" dirty="0" err="1">
                <a:solidFill>
                  <a:srgbClr val="FFFFFF"/>
                </a:solidFill>
                <a:latin typeface="Open Sans Bold"/>
                <a:ea typeface="Open Sans Bold"/>
                <a:cs typeface="Open Sans Bold"/>
                <a:sym typeface="Open Sans Bold"/>
              </a:rPr>
              <a:t>thông</a:t>
            </a:r>
            <a:r>
              <a:rPr lang="en-US" sz="1399" b="1" dirty="0">
                <a:solidFill>
                  <a:srgbClr val="FFFFFF"/>
                </a:solidFill>
                <a:latin typeface="Open Sans Bold"/>
                <a:ea typeface="Open Sans Bold"/>
                <a:cs typeface="Open Sans Bold"/>
                <a:sym typeface="Open Sans Bold"/>
              </a:rPr>
              <a:t> </a:t>
            </a:r>
            <a:r>
              <a:rPr lang="en-US" sz="1399" b="1" dirty="0" err="1">
                <a:solidFill>
                  <a:srgbClr val="FFFFFF"/>
                </a:solidFill>
                <a:latin typeface="Open Sans Bold"/>
                <a:ea typeface="Open Sans Bold"/>
                <a:cs typeface="Open Sans Bold"/>
                <a:sym typeface="Open Sans Bold"/>
              </a:rPr>
              <a:t>đa</a:t>
            </a:r>
            <a:r>
              <a:rPr lang="en-US" sz="1399" b="1" dirty="0">
                <a:solidFill>
                  <a:srgbClr val="FFFFFF"/>
                </a:solidFill>
                <a:latin typeface="Open Sans Bold"/>
                <a:ea typeface="Open Sans Bold"/>
                <a:cs typeface="Open Sans Bold"/>
                <a:sym typeface="Open Sans Bold"/>
              </a:rPr>
              <a:t> </a:t>
            </a:r>
            <a:r>
              <a:rPr lang="en-US" sz="1399" b="1" dirty="0" err="1">
                <a:solidFill>
                  <a:srgbClr val="FFFFFF"/>
                </a:solidFill>
                <a:latin typeface="Open Sans Bold"/>
                <a:ea typeface="Open Sans Bold"/>
                <a:cs typeface="Open Sans Bold"/>
                <a:sym typeface="Open Sans Bold"/>
              </a:rPr>
              <a:t>phương</a:t>
            </a:r>
            <a:r>
              <a:rPr lang="en-US" sz="1399" b="1" dirty="0">
                <a:solidFill>
                  <a:srgbClr val="FFFFFF"/>
                </a:solidFill>
                <a:latin typeface="Open Sans Bold"/>
                <a:ea typeface="Open Sans Bold"/>
                <a:cs typeface="Open Sans Bold"/>
                <a:sym typeface="Open Sans Bold"/>
              </a:rPr>
              <a:t> </a:t>
            </a:r>
            <a:r>
              <a:rPr lang="en-US" sz="1399" b="1" dirty="0" err="1">
                <a:solidFill>
                  <a:srgbClr val="FFFFFF"/>
                </a:solidFill>
                <a:latin typeface="Open Sans Bold"/>
                <a:ea typeface="Open Sans Bold"/>
                <a:cs typeface="Open Sans Bold"/>
                <a:sym typeface="Open Sans Bold"/>
              </a:rPr>
              <a:t>tiện</a:t>
            </a:r>
            <a:endParaRPr lang="en-US" sz="1399" b="1" dirty="0">
              <a:solidFill>
                <a:srgbClr val="FFFFFF"/>
              </a:solidFill>
              <a:latin typeface="Open Sans Bold"/>
              <a:ea typeface="Open Sans Bold"/>
              <a:cs typeface="Open Sans Bold"/>
              <a:sym typeface="Open Sans Bold"/>
            </a:endParaRPr>
          </a:p>
        </p:txBody>
      </p:sp>
      <p:sp>
        <p:nvSpPr>
          <p:cNvPr id="40" name="TextBox 40"/>
          <p:cNvSpPr txBox="1"/>
          <p:nvPr/>
        </p:nvSpPr>
        <p:spPr>
          <a:xfrm>
            <a:off x="1039108" y="508149"/>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sp>
        <p:nvSpPr>
          <p:cNvPr id="41" name="TextBox 41"/>
          <p:cNvSpPr txBox="1"/>
          <p:nvPr/>
        </p:nvSpPr>
        <p:spPr>
          <a:xfrm>
            <a:off x="6445888" y="4777963"/>
            <a:ext cx="3205126" cy="240665"/>
          </a:xfrm>
          <a:prstGeom prst="rect">
            <a:avLst/>
          </a:prstGeom>
        </p:spPr>
        <p:txBody>
          <a:bodyPr lIns="0" tIns="0" rIns="0" bIns="0" rtlCol="0" anchor="t">
            <a:spAutoFit/>
          </a:bodyPr>
          <a:lstStyle/>
          <a:p>
            <a:pPr algn="l">
              <a:lnSpc>
                <a:spcPts val="1960"/>
              </a:lnSpc>
              <a:spcBef>
                <a:spcPct val="0"/>
              </a:spcBef>
            </a:pPr>
            <a:r>
              <a:rPr lang="en-US" sz="1400" b="1">
                <a:solidFill>
                  <a:srgbClr val="FFFFFF"/>
                </a:solidFill>
                <a:latin typeface="Open Sans Bold"/>
                <a:ea typeface="Open Sans Bold"/>
                <a:cs typeface="Open Sans Bold"/>
                <a:sym typeface="Open Sans Bold"/>
              </a:rPr>
              <a:t>Lưu trữ đám mây (Cloud Storage)</a:t>
            </a:r>
          </a:p>
        </p:txBody>
      </p:sp>
      <p:sp>
        <p:nvSpPr>
          <p:cNvPr id="42" name="TextBox 42"/>
          <p:cNvSpPr txBox="1"/>
          <p:nvPr/>
        </p:nvSpPr>
        <p:spPr>
          <a:xfrm>
            <a:off x="6445888" y="3257344"/>
            <a:ext cx="3083633" cy="240665"/>
          </a:xfrm>
          <a:prstGeom prst="rect">
            <a:avLst/>
          </a:prstGeom>
        </p:spPr>
        <p:txBody>
          <a:bodyPr lIns="0" tIns="0" rIns="0" bIns="0" rtlCol="0" anchor="t">
            <a:spAutoFit/>
          </a:bodyPr>
          <a:lstStyle/>
          <a:p>
            <a:pPr algn="l">
              <a:lnSpc>
                <a:spcPts val="1960"/>
              </a:lnSpc>
              <a:spcBef>
                <a:spcPct val="0"/>
              </a:spcBef>
            </a:pPr>
            <a:r>
              <a:rPr lang="en-US" sz="1400" b="1" dirty="0" err="1">
                <a:solidFill>
                  <a:srgbClr val="FFFFFF"/>
                </a:solidFill>
                <a:latin typeface="Open Sans Bold"/>
                <a:ea typeface="Open Sans Bold"/>
                <a:cs typeface="Open Sans Bold"/>
                <a:sym typeface="Open Sans Bold"/>
              </a:rPr>
              <a:t>Thương</a:t>
            </a:r>
            <a:r>
              <a:rPr lang="en-US" sz="1400" b="1" dirty="0">
                <a:solidFill>
                  <a:srgbClr val="FFFFFF"/>
                </a:solidFill>
                <a:latin typeface="Open Sans Bold"/>
                <a:ea typeface="Open Sans Bold"/>
                <a:cs typeface="Open Sans Bold"/>
                <a:sym typeface="Open Sans Bold"/>
              </a:rPr>
              <a:t> </a:t>
            </a:r>
            <a:r>
              <a:rPr lang="en-US" sz="1400" b="1" dirty="0" err="1">
                <a:solidFill>
                  <a:srgbClr val="FFFFFF"/>
                </a:solidFill>
                <a:latin typeface="Open Sans Bold"/>
                <a:ea typeface="Open Sans Bold"/>
                <a:cs typeface="Open Sans Bold"/>
                <a:sym typeface="Open Sans Bold"/>
              </a:rPr>
              <a:t>mại</a:t>
            </a:r>
            <a:r>
              <a:rPr lang="en-US" sz="1400" b="1" dirty="0">
                <a:solidFill>
                  <a:srgbClr val="FFFFFF"/>
                </a:solidFill>
                <a:latin typeface="Open Sans Bold"/>
                <a:ea typeface="Open Sans Bold"/>
                <a:cs typeface="Open Sans Bold"/>
                <a:sym typeface="Open Sans Bold"/>
              </a:rPr>
              <a:t> </a:t>
            </a:r>
            <a:r>
              <a:rPr lang="en-US" sz="1400" b="1" dirty="0" err="1">
                <a:solidFill>
                  <a:srgbClr val="FFFFFF"/>
                </a:solidFill>
                <a:latin typeface="Open Sans Bold"/>
                <a:ea typeface="Open Sans Bold"/>
                <a:cs typeface="Open Sans Bold"/>
                <a:sym typeface="Open Sans Bold"/>
              </a:rPr>
              <a:t>điện</a:t>
            </a:r>
            <a:r>
              <a:rPr lang="en-US" sz="1400" b="1" dirty="0">
                <a:solidFill>
                  <a:srgbClr val="FFFFFF"/>
                </a:solidFill>
                <a:latin typeface="Open Sans Bold"/>
                <a:ea typeface="Open Sans Bold"/>
                <a:cs typeface="Open Sans Bold"/>
                <a:sym typeface="Open Sans Bold"/>
              </a:rPr>
              <a:t> </a:t>
            </a:r>
            <a:r>
              <a:rPr lang="en-US" sz="1400" b="1" dirty="0" err="1">
                <a:solidFill>
                  <a:srgbClr val="FFFFFF"/>
                </a:solidFill>
                <a:latin typeface="Open Sans Bold"/>
                <a:ea typeface="Open Sans Bold"/>
                <a:cs typeface="Open Sans Bold"/>
                <a:sym typeface="Open Sans Bold"/>
              </a:rPr>
              <a:t>tử</a:t>
            </a:r>
            <a:r>
              <a:rPr lang="en-US" sz="1400" b="1" dirty="0">
                <a:solidFill>
                  <a:srgbClr val="FFFFFF"/>
                </a:solidFill>
                <a:latin typeface="Open Sans Bold"/>
                <a:ea typeface="Open Sans Bold"/>
                <a:cs typeface="Open Sans Bold"/>
                <a:sym typeface="Open Sans Bold"/>
              </a:rPr>
              <a:t> (E-commerce)</a:t>
            </a:r>
          </a:p>
        </p:txBody>
      </p:sp>
      <p:sp>
        <p:nvSpPr>
          <p:cNvPr id="43" name="TextBox 43"/>
          <p:cNvSpPr txBox="1"/>
          <p:nvPr/>
        </p:nvSpPr>
        <p:spPr>
          <a:xfrm>
            <a:off x="2795044" y="4815840"/>
            <a:ext cx="2634020" cy="240665"/>
          </a:xfrm>
          <a:prstGeom prst="rect">
            <a:avLst/>
          </a:prstGeom>
        </p:spPr>
        <p:txBody>
          <a:bodyPr lIns="0" tIns="0" rIns="0" bIns="0" rtlCol="0" anchor="t">
            <a:spAutoFit/>
          </a:bodyPr>
          <a:lstStyle/>
          <a:p>
            <a:pPr algn="l">
              <a:lnSpc>
                <a:spcPts val="1960"/>
              </a:lnSpc>
              <a:spcBef>
                <a:spcPct val="0"/>
              </a:spcBef>
            </a:pPr>
            <a:r>
              <a:rPr lang="en-US" sz="1400" b="1" dirty="0" err="1">
                <a:solidFill>
                  <a:srgbClr val="FFFFFF"/>
                </a:solidFill>
                <a:latin typeface="Open Sans Bold"/>
                <a:ea typeface="Open Sans Bold"/>
                <a:cs typeface="Open Sans Bold"/>
                <a:sym typeface="Open Sans Bold"/>
              </a:rPr>
              <a:t>Học</a:t>
            </a:r>
            <a:r>
              <a:rPr lang="en-US" sz="1400" b="1" dirty="0">
                <a:solidFill>
                  <a:srgbClr val="FFFFFF"/>
                </a:solidFill>
                <a:latin typeface="Open Sans Bold"/>
                <a:ea typeface="Open Sans Bold"/>
                <a:cs typeface="Open Sans Bold"/>
                <a:sym typeface="Open Sans Bold"/>
              </a:rPr>
              <a:t> </a:t>
            </a:r>
            <a:r>
              <a:rPr lang="en-US" sz="1400" b="1" dirty="0" err="1">
                <a:solidFill>
                  <a:srgbClr val="FFFFFF"/>
                </a:solidFill>
                <a:latin typeface="Open Sans Bold"/>
                <a:ea typeface="Open Sans Bold"/>
                <a:cs typeface="Open Sans Bold"/>
                <a:sym typeface="Open Sans Bold"/>
              </a:rPr>
              <a:t>trực</a:t>
            </a:r>
            <a:r>
              <a:rPr lang="en-US" sz="1400" b="1" dirty="0">
                <a:solidFill>
                  <a:srgbClr val="FFFFFF"/>
                </a:solidFill>
                <a:latin typeface="Open Sans Bold"/>
                <a:ea typeface="Open Sans Bold"/>
                <a:cs typeface="Open Sans Bold"/>
                <a:sym typeface="Open Sans Bold"/>
              </a:rPr>
              <a:t> </a:t>
            </a:r>
            <a:r>
              <a:rPr lang="en-US" sz="1400" b="1" dirty="0" err="1">
                <a:solidFill>
                  <a:srgbClr val="FFFFFF"/>
                </a:solidFill>
                <a:latin typeface="Open Sans Bold"/>
                <a:ea typeface="Open Sans Bold"/>
                <a:cs typeface="Open Sans Bold"/>
                <a:sym typeface="Open Sans Bold"/>
              </a:rPr>
              <a:t>tuyến</a:t>
            </a:r>
            <a:r>
              <a:rPr lang="en-US" sz="1400" b="1" dirty="0">
                <a:solidFill>
                  <a:srgbClr val="FFFFFF"/>
                </a:solidFill>
                <a:latin typeface="Open Sans Bold"/>
                <a:ea typeface="Open Sans Bold"/>
                <a:cs typeface="Open Sans Bold"/>
                <a:sym typeface="Open Sans Bold"/>
              </a:rPr>
              <a:t> (E-learning)</a:t>
            </a:r>
          </a:p>
        </p:txBody>
      </p:sp>
      <p:sp>
        <p:nvSpPr>
          <p:cNvPr id="44" name="TextBox 44"/>
          <p:cNvSpPr txBox="1"/>
          <p:nvPr/>
        </p:nvSpPr>
        <p:spPr>
          <a:xfrm>
            <a:off x="2795044" y="3548174"/>
            <a:ext cx="2624495" cy="617220"/>
          </a:xfrm>
          <a:prstGeom prst="rect">
            <a:avLst/>
          </a:prstGeom>
        </p:spPr>
        <p:txBody>
          <a:bodyPr lIns="0" tIns="0" rIns="0" bIns="0" rtlCol="0" anchor="t">
            <a:spAutoFit/>
          </a:bodyPr>
          <a:lstStyle/>
          <a:p>
            <a:pPr algn="l">
              <a:lnSpc>
                <a:spcPts val="1680"/>
              </a:lnSpc>
            </a:pPr>
            <a:r>
              <a:rPr lang="en-US" sz="1200">
                <a:solidFill>
                  <a:srgbClr val="FFFFFF"/>
                </a:solidFill>
                <a:latin typeface="Open Sans"/>
                <a:ea typeface="Open Sans"/>
                <a:cs typeface="Open Sans"/>
                <a:sym typeface="Open Sans"/>
              </a:rPr>
              <a:t>Xem video (YouTube), nghe nhạc (Spotify), podcast,...</a:t>
            </a:r>
          </a:p>
          <a:p>
            <a:pPr algn="l">
              <a:lnSpc>
                <a:spcPts val="1680"/>
              </a:lnSpc>
              <a:spcBef>
                <a:spcPct val="0"/>
              </a:spcBef>
            </a:pPr>
            <a:endParaRPr lang="en-US" sz="1200">
              <a:solidFill>
                <a:srgbClr val="FFFFFF"/>
              </a:solidFill>
              <a:latin typeface="Open Sans"/>
              <a:ea typeface="Open Sans"/>
              <a:cs typeface="Open Sans"/>
              <a:sym typeface="Open Sans"/>
            </a:endParaRPr>
          </a:p>
        </p:txBody>
      </p:sp>
      <p:sp>
        <p:nvSpPr>
          <p:cNvPr id="45" name="TextBox 45"/>
          <p:cNvSpPr txBox="1"/>
          <p:nvPr/>
        </p:nvSpPr>
        <p:spPr>
          <a:xfrm>
            <a:off x="6445888" y="3548174"/>
            <a:ext cx="3275601" cy="617220"/>
          </a:xfrm>
          <a:prstGeom prst="rect">
            <a:avLst/>
          </a:prstGeom>
        </p:spPr>
        <p:txBody>
          <a:bodyPr lIns="0" tIns="0" rIns="0" bIns="0" rtlCol="0" anchor="t">
            <a:spAutoFit/>
          </a:bodyPr>
          <a:lstStyle/>
          <a:p>
            <a:pPr algn="l">
              <a:lnSpc>
                <a:spcPts val="1680"/>
              </a:lnSpc>
            </a:pPr>
            <a:r>
              <a:rPr lang="en-US" sz="1200">
                <a:solidFill>
                  <a:srgbClr val="FFFFFF"/>
                </a:solidFill>
                <a:latin typeface="Open Sans"/>
                <a:ea typeface="Open Sans"/>
                <a:cs typeface="Open Sans"/>
                <a:sym typeface="Open Sans"/>
              </a:rPr>
              <a:t>Mua sắm online qua các nền tảng như Shopee, Lazada, Tiki, Amazon,...</a:t>
            </a:r>
          </a:p>
          <a:p>
            <a:pPr algn="l">
              <a:lnSpc>
                <a:spcPts val="1680"/>
              </a:lnSpc>
              <a:spcBef>
                <a:spcPct val="0"/>
              </a:spcBef>
            </a:pPr>
            <a:endParaRPr lang="en-US" sz="1200">
              <a:solidFill>
                <a:srgbClr val="FFFFFF"/>
              </a:solidFill>
              <a:latin typeface="Open Sans"/>
              <a:ea typeface="Open Sans"/>
              <a:cs typeface="Open Sans"/>
              <a:sym typeface="Open Sans"/>
            </a:endParaRPr>
          </a:p>
        </p:txBody>
      </p:sp>
      <p:sp>
        <p:nvSpPr>
          <p:cNvPr id="46" name="TextBox 46"/>
          <p:cNvSpPr txBox="1"/>
          <p:nvPr/>
        </p:nvSpPr>
        <p:spPr>
          <a:xfrm>
            <a:off x="6445888" y="5055235"/>
            <a:ext cx="3116684" cy="826770"/>
          </a:xfrm>
          <a:prstGeom prst="rect">
            <a:avLst/>
          </a:prstGeom>
        </p:spPr>
        <p:txBody>
          <a:bodyPr lIns="0" tIns="0" rIns="0" bIns="0" rtlCol="0" anchor="t">
            <a:spAutoFit/>
          </a:bodyPr>
          <a:lstStyle/>
          <a:p>
            <a:pPr algn="l">
              <a:lnSpc>
                <a:spcPts val="1680"/>
              </a:lnSpc>
            </a:pPr>
            <a:r>
              <a:rPr lang="en-US" sz="1200">
                <a:solidFill>
                  <a:srgbClr val="FFFFFF"/>
                </a:solidFill>
                <a:latin typeface="Open Sans"/>
                <a:ea typeface="Open Sans"/>
                <a:cs typeface="Open Sans"/>
                <a:sym typeface="Open Sans"/>
              </a:rPr>
              <a:t>Lưu dữ liệu online như Google Drive, OneDrive, Dropbox,...</a:t>
            </a:r>
          </a:p>
          <a:p>
            <a:pPr algn="l">
              <a:lnSpc>
                <a:spcPts val="1680"/>
              </a:lnSpc>
            </a:pPr>
            <a:endParaRPr lang="en-US" sz="1200">
              <a:solidFill>
                <a:srgbClr val="FFFFFF"/>
              </a:solidFill>
              <a:latin typeface="Open Sans"/>
              <a:ea typeface="Open Sans"/>
              <a:cs typeface="Open Sans"/>
              <a:sym typeface="Open Sans"/>
            </a:endParaRPr>
          </a:p>
          <a:p>
            <a:pPr algn="l">
              <a:lnSpc>
                <a:spcPts val="1680"/>
              </a:lnSpc>
              <a:spcBef>
                <a:spcPct val="0"/>
              </a:spcBef>
            </a:pPr>
            <a:endParaRPr lang="en-US" sz="1200">
              <a:solidFill>
                <a:srgbClr val="FFFFFF"/>
              </a:solidFill>
              <a:latin typeface="Open Sans"/>
              <a:ea typeface="Open Sans"/>
              <a:cs typeface="Open Sans"/>
              <a:sym typeface="Open Sans"/>
            </a:endParaRPr>
          </a:p>
        </p:txBody>
      </p:sp>
      <p:sp>
        <p:nvSpPr>
          <p:cNvPr id="47" name="TextBox 47"/>
          <p:cNvSpPr txBox="1"/>
          <p:nvPr/>
        </p:nvSpPr>
        <p:spPr>
          <a:xfrm>
            <a:off x="2795044" y="5124450"/>
            <a:ext cx="2777893" cy="617220"/>
          </a:xfrm>
          <a:prstGeom prst="rect">
            <a:avLst/>
          </a:prstGeom>
        </p:spPr>
        <p:txBody>
          <a:bodyPr lIns="0" tIns="0" rIns="0" bIns="0" rtlCol="0" anchor="t">
            <a:spAutoFit/>
          </a:bodyPr>
          <a:lstStyle/>
          <a:p>
            <a:pPr algn="l">
              <a:lnSpc>
                <a:spcPts val="1680"/>
              </a:lnSpc>
            </a:pPr>
            <a:r>
              <a:rPr lang="en-US" sz="1200" dirty="0" err="1">
                <a:solidFill>
                  <a:srgbClr val="FFFFFF"/>
                </a:solidFill>
                <a:latin typeface="Open Sans"/>
                <a:ea typeface="Open Sans"/>
                <a:cs typeface="Open Sans"/>
                <a:sym typeface="Open Sans"/>
              </a:rPr>
              <a:t>Các</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nền</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tảng</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học</a:t>
            </a:r>
            <a:r>
              <a:rPr lang="en-US" sz="1200" dirty="0">
                <a:solidFill>
                  <a:srgbClr val="FFFFFF"/>
                </a:solidFill>
                <a:latin typeface="Open Sans"/>
                <a:ea typeface="Open Sans"/>
                <a:cs typeface="Open Sans"/>
                <a:sym typeface="Open Sans"/>
              </a:rPr>
              <a:t> </a:t>
            </a:r>
            <a:r>
              <a:rPr lang="en-US" sz="1200" dirty="0" err="1">
                <a:solidFill>
                  <a:srgbClr val="FFFFFF"/>
                </a:solidFill>
                <a:latin typeface="Open Sans"/>
                <a:ea typeface="Open Sans"/>
                <a:cs typeface="Open Sans"/>
                <a:sym typeface="Open Sans"/>
              </a:rPr>
              <a:t>như</a:t>
            </a:r>
            <a:r>
              <a:rPr lang="en-US" sz="1200" dirty="0">
                <a:solidFill>
                  <a:srgbClr val="FFFFFF"/>
                </a:solidFill>
                <a:latin typeface="Open Sans"/>
                <a:ea typeface="Open Sans"/>
                <a:cs typeface="Open Sans"/>
                <a:sym typeface="Open Sans"/>
              </a:rPr>
              <a:t> Google Classroom, Zoom, Coursera,...</a:t>
            </a:r>
          </a:p>
          <a:p>
            <a:pPr algn="l">
              <a:lnSpc>
                <a:spcPts val="1680"/>
              </a:lnSpc>
              <a:spcBef>
                <a:spcPct val="0"/>
              </a:spcBef>
            </a:pPr>
            <a:endParaRPr lang="en-US" sz="1200" dirty="0">
              <a:solidFill>
                <a:srgbClr val="FFFFFF"/>
              </a:solidFill>
              <a:latin typeface="Open Sans"/>
              <a:ea typeface="Open Sans"/>
              <a:cs typeface="Open Sans"/>
              <a:sym typeface="Open Sans"/>
            </a:endParaRPr>
          </a:p>
        </p:txBody>
      </p:sp>
      <p:sp>
        <p:nvSpPr>
          <p:cNvPr id="48" name="Freeform 48" descr="preencoded.png"/>
          <p:cNvSpPr/>
          <p:nvPr/>
        </p:nvSpPr>
        <p:spPr>
          <a:xfrm>
            <a:off x="2152219" y="3325379"/>
            <a:ext cx="386996" cy="483840"/>
          </a:xfrm>
          <a:custGeom>
            <a:avLst/>
            <a:gdLst/>
            <a:ahLst/>
            <a:cxnLst/>
            <a:rect l="l" t="t" r="r" b="b"/>
            <a:pathLst>
              <a:path w="386996" h="483840">
                <a:moveTo>
                  <a:pt x="0" y="0"/>
                </a:moveTo>
                <a:lnTo>
                  <a:pt x="386996" y="0"/>
                </a:lnTo>
                <a:lnTo>
                  <a:pt x="386996" y="483840"/>
                </a:lnTo>
                <a:lnTo>
                  <a:pt x="0" y="483840"/>
                </a:lnTo>
                <a:lnTo>
                  <a:pt x="0" y="0"/>
                </a:lnTo>
                <a:close/>
              </a:path>
            </a:pathLst>
          </a:custGeom>
          <a:blipFill>
            <a:blip r:embed="rId9"/>
            <a:stretch>
              <a:fillRect l="-9" r="-9"/>
            </a:stretch>
          </a:blipFill>
        </p:spPr>
      </p:sp>
      <p:sp>
        <p:nvSpPr>
          <p:cNvPr id="49" name="Freeform 49" descr="preencoded.png"/>
          <p:cNvSpPr/>
          <p:nvPr/>
        </p:nvSpPr>
        <p:spPr>
          <a:xfrm>
            <a:off x="5775061" y="4830964"/>
            <a:ext cx="439131" cy="549022"/>
          </a:xfrm>
          <a:custGeom>
            <a:avLst/>
            <a:gdLst/>
            <a:ahLst/>
            <a:cxnLst/>
            <a:rect l="l" t="t" r="r" b="b"/>
            <a:pathLst>
              <a:path w="439131" h="549022">
                <a:moveTo>
                  <a:pt x="0" y="0"/>
                </a:moveTo>
                <a:lnTo>
                  <a:pt x="439131" y="0"/>
                </a:lnTo>
                <a:lnTo>
                  <a:pt x="439131" y="549021"/>
                </a:lnTo>
                <a:lnTo>
                  <a:pt x="0" y="549021"/>
                </a:lnTo>
                <a:lnTo>
                  <a:pt x="0" y="0"/>
                </a:lnTo>
                <a:close/>
              </a:path>
            </a:pathLst>
          </a:custGeom>
          <a:blipFill>
            <a:blip r:embed="rId10"/>
            <a:stretch>
              <a:fillRect l="-9" r="-9"/>
            </a:stretch>
          </a:blipFill>
        </p:spPr>
      </p:sp>
      <p:sp>
        <p:nvSpPr>
          <p:cNvPr id="50" name="Freeform 50" descr="preencoded.png"/>
          <p:cNvSpPr/>
          <p:nvPr/>
        </p:nvSpPr>
        <p:spPr>
          <a:xfrm>
            <a:off x="5796793" y="3325379"/>
            <a:ext cx="395666" cy="494679"/>
          </a:xfrm>
          <a:custGeom>
            <a:avLst/>
            <a:gdLst/>
            <a:ahLst/>
            <a:cxnLst/>
            <a:rect l="l" t="t" r="r" b="b"/>
            <a:pathLst>
              <a:path w="395666" h="494679">
                <a:moveTo>
                  <a:pt x="0" y="0"/>
                </a:moveTo>
                <a:lnTo>
                  <a:pt x="395666" y="0"/>
                </a:lnTo>
                <a:lnTo>
                  <a:pt x="395666" y="494679"/>
                </a:lnTo>
                <a:lnTo>
                  <a:pt x="0" y="494679"/>
                </a:lnTo>
                <a:lnTo>
                  <a:pt x="0" y="0"/>
                </a:lnTo>
                <a:close/>
              </a:path>
            </a:pathLst>
          </a:custGeom>
          <a:blipFill>
            <a:blip r:embed="rId11"/>
            <a:stretch>
              <a:fillRect l="-9" r="-9"/>
            </a:stretch>
          </a:blipFill>
        </p:spPr>
      </p:sp>
      <p:sp>
        <p:nvSpPr>
          <p:cNvPr id="51" name="Freeform 51" descr="preencoded.png"/>
          <p:cNvSpPr/>
          <p:nvPr/>
        </p:nvSpPr>
        <p:spPr>
          <a:xfrm>
            <a:off x="2117936" y="4820692"/>
            <a:ext cx="455562" cy="569565"/>
          </a:xfrm>
          <a:custGeom>
            <a:avLst/>
            <a:gdLst/>
            <a:ahLst/>
            <a:cxnLst/>
            <a:rect l="l" t="t" r="r" b="b"/>
            <a:pathLst>
              <a:path w="455562" h="569565">
                <a:moveTo>
                  <a:pt x="0" y="0"/>
                </a:moveTo>
                <a:lnTo>
                  <a:pt x="455562" y="0"/>
                </a:lnTo>
                <a:lnTo>
                  <a:pt x="455562" y="569565"/>
                </a:lnTo>
                <a:lnTo>
                  <a:pt x="0" y="569565"/>
                </a:lnTo>
                <a:lnTo>
                  <a:pt x="0" y="0"/>
                </a:lnTo>
                <a:close/>
              </a:path>
            </a:pathLst>
          </a:custGeom>
          <a:blipFill>
            <a:blip r:embed="rId12"/>
            <a:stretch>
              <a:fillRect l="-9" r="-9"/>
            </a:stretch>
          </a:blipFill>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ppt_x</p:attrName>
                                        </p:attrNameLst>
                                      </p:cBhvr>
                                      <p:tavLst>
                                        <p:tav tm="0">
                                          <p:val>
                                            <p:strVal val="#ppt_x-#ppt_w*1.125000"/>
                                          </p:val>
                                        </p:tav>
                                        <p:tav tm="100000">
                                          <p:val>
                                            <p:strVal val="#ppt_x"/>
                                          </p:val>
                                        </p:tav>
                                      </p:tavLst>
                                    </p:anim>
                                    <p:animEffect transition="in" filter="wipe(right)">
                                      <p:cBhvr>
                                        <p:cTn id="8" dur="500"/>
                                        <p:tgtEl>
                                          <p:spTgt spid="18"/>
                                        </p:tgtEl>
                                      </p:cBhvr>
                                    </p:animEffect>
                                  </p:childTnLst>
                                </p:cTn>
                              </p:par>
                              <p:par>
                                <p:cTn id="9" presetID="12" presetClass="entr" presetSubtype="8"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p:tgtEl>
                                          <p:spTgt spid="48"/>
                                        </p:tgtEl>
                                        <p:attrNameLst>
                                          <p:attrName>ppt_x</p:attrName>
                                        </p:attrNameLst>
                                      </p:cBhvr>
                                      <p:tavLst>
                                        <p:tav tm="0">
                                          <p:val>
                                            <p:strVal val="#ppt_x-#ppt_w*1.125000"/>
                                          </p:val>
                                        </p:tav>
                                        <p:tav tm="100000">
                                          <p:val>
                                            <p:strVal val="#ppt_x"/>
                                          </p:val>
                                        </p:tav>
                                      </p:tavLst>
                                    </p:anim>
                                    <p:animEffect transition="in" filter="wipe(right)">
                                      <p:cBhvr>
                                        <p:cTn id="12" dur="500"/>
                                        <p:tgtEl>
                                          <p:spTgt spid="48"/>
                                        </p:tgtEl>
                                      </p:cBhvr>
                                    </p:animEffect>
                                  </p:childTnLst>
                                </p:cTn>
                              </p:par>
                            </p:childTnLst>
                          </p:cTn>
                        </p:par>
                        <p:par>
                          <p:cTn id="13" fill="hold">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39"/>
                                        </p:tgtEl>
                                        <p:attrNameLst>
                                          <p:attrName>style.visibility</p:attrName>
                                        </p:attrNameLst>
                                      </p:cBhvr>
                                      <p:to>
                                        <p:strVal val="visible"/>
                                      </p:to>
                                    </p:set>
                                    <p:anim calcmode="lin" valueType="num">
                                      <p:cBhvr additive="base">
                                        <p:cTn id="16" dur="500"/>
                                        <p:tgtEl>
                                          <p:spTgt spid="39"/>
                                        </p:tgtEl>
                                        <p:attrNameLst>
                                          <p:attrName>ppt_x</p:attrName>
                                        </p:attrNameLst>
                                      </p:cBhvr>
                                      <p:tavLst>
                                        <p:tav tm="0">
                                          <p:val>
                                            <p:strVal val="#ppt_x-#ppt_w*1.125000"/>
                                          </p:val>
                                        </p:tav>
                                        <p:tav tm="100000">
                                          <p:val>
                                            <p:strVal val="#ppt_x"/>
                                          </p:val>
                                        </p:tav>
                                      </p:tavLst>
                                    </p:anim>
                                    <p:animEffect transition="in" filter="wipe(right)">
                                      <p:cBhvr>
                                        <p:cTn id="17" dur="500"/>
                                        <p:tgtEl>
                                          <p:spTgt spid="39"/>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p:tgtEl>
                                          <p:spTgt spid="44"/>
                                        </p:tgtEl>
                                        <p:attrNameLst>
                                          <p:attrName>ppt_x</p:attrName>
                                        </p:attrNameLst>
                                      </p:cBhvr>
                                      <p:tavLst>
                                        <p:tav tm="0">
                                          <p:val>
                                            <p:strVal val="#ppt_x-#ppt_w*1.125000"/>
                                          </p:val>
                                        </p:tav>
                                        <p:tav tm="100000">
                                          <p:val>
                                            <p:strVal val="#ppt_x"/>
                                          </p:val>
                                        </p:tav>
                                      </p:tavLst>
                                    </p:anim>
                                    <p:animEffect transition="in" filter="wipe(right)">
                                      <p:cBhvr>
                                        <p:cTn id="21" dur="500"/>
                                        <p:tgtEl>
                                          <p:spTgt spid="44"/>
                                        </p:tgtEl>
                                      </p:cBhvr>
                                    </p:animEffect>
                                  </p:childTnLst>
                                </p:cTn>
                              </p:par>
                            </p:childTnLst>
                          </p:cTn>
                        </p:par>
                        <p:par>
                          <p:cTn id="22" fill="hold">
                            <p:stCondLst>
                              <p:cond delay="1000"/>
                            </p:stCondLst>
                            <p:childTnLst>
                              <p:par>
                                <p:cTn id="23" presetID="12" presetClass="entr" presetSubtype="8"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anim calcmode="lin" valueType="num">
                                      <p:cBhvr additive="base">
                                        <p:cTn id="29" dur="500"/>
                                        <p:tgtEl>
                                          <p:spTgt spid="50"/>
                                        </p:tgtEl>
                                        <p:attrNameLst>
                                          <p:attrName>ppt_x</p:attrName>
                                        </p:attrNameLst>
                                      </p:cBhvr>
                                      <p:tavLst>
                                        <p:tav tm="0">
                                          <p:val>
                                            <p:strVal val="#ppt_x-#ppt_w*1.125000"/>
                                          </p:val>
                                        </p:tav>
                                        <p:tav tm="100000">
                                          <p:val>
                                            <p:strVal val="#ppt_x"/>
                                          </p:val>
                                        </p:tav>
                                      </p:tavLst>
                                    </p:anim>
                                    <p:animEffect transition="in" filter="wipe(right)">
                                      <p:cBhvr>
                                        <p:cTn id="30" dur="500"/>
                                        <p:tgtEl>
                                          <p:spTgt spid="50"/>
                                        </p:tgtEl>
                                      </p:cBhvr>
                                    </p:animEffect>
                                  </p:childTnLst>
                                </p:cTn>
                              </p:par>
                            </p:childTnLst>
                          </p:cTn>
                        </p:par>
                        <p:par>
                          <p:cTn id="31" fill="hold">
                            <p:stCondLst>
                              <p:cond delay="1500"/>
                            </p:stCondLst>
                            <p:childTnLst>
                              <p:par>
                                <p:cTn id="32" presetID="12" presetClass="entr" presetSubtype="8" fill="hold" grpId="0" nodeType="afterEffect">
                                  <p:stCondLst>
                                    <p:cond delay="0"/>
                                  </p:stCondLst>
                                  <p:childTnLst>
                                    <p:set>
                                      <p:cBhvr>
                                        <p:cTn id="33" dur="1" fill="hold">
                                          <p:stCondLst>
                                            <p:cond delay="0"/>
                                          </p:stCondLst>
                                        </p:cTn>
                                        <p:tgtEl>
                                          <p:spTgt spid="42"/>
                                        </p:tgtEl>
                                        <p:attrNameLst>
                                          <p:attrName>style.visibility</p:attrName>
                                        </p:attrNameLst>
                                      </p:cBhvr>
                                      <p:to>
                                        <p:strVal val="visible"/>
                                      </p:to>
                                    </p:set>
                                    <p:anim calcmode="lin" valueType="num">
                                      <p:cBhvr additive="base">
                                        <p:cTn id="34" dur="500"/>
                                        <p:tgtEl>
                                          <p:spTgt spid="42"/>
                                        </p:tgtEl>
                                        <p:attrNameLst>
                                          <p:attrName>ppt_x</p:attrName>
                                        </p:attrNameLst>
                                      </p:cBhvr>
                                      <p:tavLst>
                                        <p:tav tm="0">
                                          <p:val>
                                            <p:strVal val="#ppt_x-#ppt_w*1.125000"/>
                                          </p:val>
                                        </p:tav>
                                        <p:tav tm="100000">
                                          <p:val>
                                            <p:strVal val="#ppt_x"/>
                                          </p:val>
                                        </p:tav>
                                      </p:tavLst>
                                    </p:anim>
                                    <p:animEffect transition="in" filter="wipe(right)">
                                      <p:cBhvr>
                                        <p:cTn id="35" dur="500"/>
                                        <p:tgtEl>
                                          <p:spTgt spid="42"/>
                                        </p:tgtEl>
                                      </p:cBhvr>
                                    </p:animEffect>
                                  </p:childTnLst>
                                </p:cTn>
                              </p:par>
                              <p:par>
                                <p:cTn id="36" presetID="12" presetClass="entr" presetSubtype="8"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p:tgtEl>
                                          <p:spTgt spid="45"/>
                                        </p:tgtEl>
                                        <p:attrNameLst>
                                          <p:attrName>ppt_x</p:attrName>
                                        </p:attrNameLst>
                                      </p:cBhvr>
                                      <p:tavLst>
                                        <p:tav tm="0">
                                          <p:val>
                                            <p:strVal val="#ppt_x-#ppt_w*1.125000"/>
                                          </p:val>
                                        </p:tav>
                                        <p:tav tm="100000">
                                          <p:val>
                                            <p:strVal val="#ppt_x"/>
                                          </p:val>
                                        </p:tav>
                                      </p:tavLst>
                                    </p:anim>
                                    <p:animEffect transition="in" filter="wipe(right)">
                                      <p:cBhvr>
                                        <p:cTn id="39" dur="500"/>
                                        <p:tgtEl>
                                          <p:spTgt spid="45"/>
                                        </p:tgtEl>
                                      </p:cBhvr>
                                    </p:animEffect>
                                  </p:childTnLst>
                                </p:cTn>
                              </p:par>
                            </p:childTnLst>
                          </p:cTn>
                        </p:par>
                        <p:par>
                          <p:cTn id="40" fill="hold">
                            <p:stCondLst>
                              <p:cond delay="2000"/>
                            </p:stCondLst>
                            <p:childTnLst>
                              <p:par>
                                <p:cTn id="41" presetID="12" presetClass="entr" presetSubtype="8" fill="hold" nodeType="after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p:tgtEl>
                                          <p:spTgt spid="21"/>
                                        </p:tgtEl>
                                        <p:attrNameLst>
                                          <p:attrName>ppt_x</p:attrName>
                                        </p:attrNameLst>
                                      </p:cBhvr>
                                      <p:tavLst>
                                        <p:tav tm="0">
                                          <p:val>
                                            <p:strVal val="#ppt_x-#ppt_w*1.125000"/>
                                          </p:val>
                                        </p:tav>
                                        <p:tav tm="100000">
                                          <p:val>
                                            <p:strVal val="#ppt_x"/>
                                          </p:val>
                                        </p:tav>
                                      </p:tavLst>
                                    </p:anim>
                                    <p:animEffect transition="in" filter="wipe(right)">
                                      <p:cBhvr>
                                        <p:cTn id="44" dur="500"/>
                                        <p:tgtEl>
                                          <p:spTgt spid="21"/>
                                        </p:tgtEl>
                                      </p:cBhvr>
                                    </p:animEffect>
                                  </p:childTnLst>
                                </p:cTn>
                              </p:par>
                              <p:par>
                                <p:cTn id="45" presetID="12" presetClass="entr" presetSubtype="8"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anim calcmode="lin" valueType="num">
                                      <p:cBhvr additive="base">
                                        <p:cTn id="47" dur="500"/>
                                        <p:tgtEl>
                                          <p:spTgt spid="51"/>
                                        </p:tgtEl>
                                        <p:attrNameLst>
                                          <p:attrName>ppt_x</p:attrName>
                                        </p:attrNameLst>
                                      </p:cBhvr>
                                      <p:tavLst>
                                        <p:tav tm="0">
                                          <p:val>
                                            <p:strVal val="#ppt_x-#ppt_w*1.125000"/>
                                          </p:val>
                                        </p:tav>
                                        <p:tav tm="100000">
                                          <p:val>
                                            <p:strVal val="#ppt_x"/>
                                          </p:val>
                                        </p:tav>
                                      </p:tavLst>
                                    </p:anim>
                                    <p:animEffect transition="in" filter="wipe(right)">
                                      <p:cBhvr>
                                        <p:cTn id="48" dur="500"/>
                                        <p:tgtEl>
                                          <p:spTgt spid="51"/>
                                        </p:tgtEl>
                                      </p:cBhvr>
                                    </p:animEffect>
                                  </p:childTnLst>
                                </p:cTn>
                              </p:par>
                            </p:childTnLst>
                          </p:cTn>
                        </p:par>
                        <p:par>
                          <p:cTn id="49" fill="hold">
                            <p:stCondLst>
                              <p:cond delay="2500"/>
                            </p:stCondLst>
                            <p:childTnLst>
                              <p:par>
                                <p:cTn id="50" presetID="12" presetClass="entr" presetSubtype="8"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 calcmode="lin" valueType="num">
                                      <p:cBhvr additive="base">
                                        <p:cTn id="52" dur="500"/>
                                        <p:tgtEl>
                                          <p:spTgt spid="43"/>
                                        </p:tgtEl>
                                        <p:attrNameLst>
                                          <p:attrName>ppt_x</p:attrName>
                                        </p:attrNameLst>
                                      </p:cBhvr>
                                      <p:tavLst>
                                        <p:tav tm="0">
                                          <p:val>
                                            <p:strVal val="#ppt_x-#ppt_w*1.125000"/>
                                          </p:val>
                                        </p:tav>
                                        <p:tav tm="100000">
                                          <p:val>
                                            <p:strVal val="#ppt_x"/>
                                          </p:val>
                                        </p:tav>
                                      </p:tavLst>
                                    </p:anim>
                                    <p:animEffect transition="in" filter="wipe(right)">
                                      <p:cBhvr>
                                        <p:cTn id="53" dur="500"/>
                                        <p:tgtEl>
                                          <p:spTgt spid="43"/>
                                        </p:tgtEl>
                                      </p:cBhvr>
                                    </p:animEffect>
                                  </p:childTnLst>
                                </p:cTn>
                              </p:par>
                              <p:par>
                                <p:cTn id="54" presetID="12" presetClass="entr" presetSubtype="8"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anim calcmode="lin" valueType="num">
                                      <p:cBhvr additive="base">
                                        <p:cTn id="56" dur="500"/>
                                        <p:tgtEl>
                                          <p:spTgt spid="47"/>
                                        </p:tgtEl>
                                        <p:attrNameLst>
                                          <p:attrName>ppt_x</p:attrName>
                                        </p:attrNameLst>
                                      </p:cBhvr>
                                      <p:tavLst>
                                        <p:tav tm="0">
                                          <p:val>
                                            <p:strVal val="#ppt_x-#ppt_w*1.125000"/>
                                          </p:val>
                                        </p:tav>
                                        <p:tav tm="100000">
                                          <p:val>
                                            <p:strVal val="#ppt_x"/>
                                          </p:val>
                                        </p:tav>
                                      </p:tavLst>
                                    </p:anim>
                                    <p:animEffect transition="in" filter="wipe(right)">
                                      <p:cBhvr>
                                        <p:cTn id="57" dur="500"/>
                                        <p:tgtEl>
                                          <p:spTgt spid="47"/>
                                        </p:tgtEl>
                                      </p:cBhvr>
                                    </p:animEffect>
                                  </p:childTnLst>
                                </p:cTn>
                              </p:par>
                            </p:childTnLst>
                          </p:cTn>
                        </p:par>
                        <p:par>
                          <p:cTn id="58" fill="hold">
                            <p:stCondLst>
                              <p:cond delay="3000"/>
                            </p:stCondLst>
                            <p:childTnLst>
                              <p:par>
                                <p:cTn id="59" presetID="12" presetClass="entr" presetSubtype="8" fill="hold" nodeType="after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p:tgtEl>
                                          <p:spTgt spid="28"/>
                                        </p:tgtEl>
                                        <p:attrNameLst>
                                          <p:attrName>ppt_x</p:attrName>
                                        </p:attrNameLst>
                                      </p:cBhvr>
                                      <p:tavLst>
                                        <p:tav tm="0">
                                          <p:val>
                                            <p:strVal val="#ppt_x-#ppt_w*1.125000"/>
                                          </p:val>
                                        </p:tav>
                                        <p:tav tm="100000">
                                          <p:val>
                                            <p:strVal val="#ppt_x"/>
                                          </p:val>
                                        </p:tav>
                                      </p:tavLst>
                                    </p:anim>
                                    <p:animEffect transition="in" filter="wipe(right)">
                                      <p:cBhvr>
                                        <p:cTn id="62" dur="500"/>
                                        <p:tgtEl>
                                          <p:spTgt spid="28"/>
                                        </p:tgtEl>
                                      </p:cBhvr>
                                    </p:animEffect>
                                  </p:childTnLst>
                                </p:cTn>
                              </p:par>
                              <p:par>
                                <p:cTn id="63" presetID="12" presetClass="entr" presetSubtype="8" fill="hold" nodeType="withEffect">
                                  <p:stCondLst>
                                    <p:cond delay="0"/>
                                  </p:stCondLst>
                                  <p:childTnLst>
                                    <p:set>
                                      <p:cBhvr>
                                        <p:cTn id="64" dur="1" fill="hold">
                                          <p:stCondLst>
                                            <p:cond delay="0"/>
                                          </p:stCondLst>
                                        </p:cTn>
                                        <p:tgtEl>
                                          <p:spTgt spid="49"/>
                                        </p:tgtEl>
                                        <p:attrNameLst>
                                          <p:attrName>style.visibility</p:attrName>
                                        </p:attrNameLst>
                                      </p:cBhvr>
                                      <p:to>
                                        <p:strVal val="visible"/>
                                      </p:to>
                                    </p:set>
                                    <p:anim calcmode="lin" valueType="num">
                                      <p:cBhvr additive="base">
                                        <p:cTn id="65" dur="500"/>
                                        <p:tgtEl>
                                          <p:spTgt spid="49"/>
                                        </p:tgtEl>
                                        <p:attrNameLst>
                                          <p:attrName>ppt_x</p:attrName>
                                        </p:attrNameLst>
                                      </p:cBhvr>
                                      <p:tavLst>
                                        <p:tav tm="0">
                                          <p:val>
                                            <p:strVal val="#ppt_x-#ppt_w*1.125000"/>
                                          </p:val>
                                        </p:tav>
                                        <p:tav tm="100000">
                                          <p:val>
                                            <p:strVal val="#ppt_x"/>
                                          </p:val>
                                        </p:tav>
                                      </p:tavLst>
                                    </p:anim>
                                    <p:animEffect transition="in" filter="wipe(right)">
                                      <p:cBhvr>
                                        <p:cTn id="66" dur="500"/>
                                        <p:tgtEl>
                                          <p:spTgt spid="49"/>
                                        </p:tgtEl>
                                      </p:cBhvr>
                                    </p:animEffect>
                                  </p:childTnLst>
                                </p:cTn>
                              </p:par>
                            </p:childTnLst>
                          </p:cTn>
                        </p:par>
                        <p:par>
                          <p:cTn id="67" fill="hold">
                            <p:stCondLst>
                              <p:cond delay="3500"/>
                            </p:stCondLst>
                            <p:childTnLst>
                              <p:par>
                                <p:cTn id="68" presetID="12" presetClass="entr" presetSubtype="8" fill="hold" grpId="0" nodeType="afterEffect">
                                  <p:stCondLst>
                                    <p:cond delay="0"/>
                                  </p:stCondLst>
                                  <p:childTnLst>
                                    <p:set>
                                      <p:cBhvr>
                                        <p:cTn id="69" dur="1" fill="hold">
                                          <p:stCondLst>
                                            <p:cond delay="0"/>
                                          </p:stCondLst>
                                        </p:cTn>
                                        <p:tgtEl>
                                          <p:spTgt spid="41"/>
                                        </p:tgtEl>
                                        <p:attrNameLst>
                                          <p:attrName>style.visibility</p:attrName>
                                        </p:attrNameLst>
                                      </p:cBhvr>
                                      <p:to>
                                        <p:strVal val="visible"/>
                                      </p:to>
                                    </p:set>
                                    <p:anim calcmode="lin" valueType="num">
                                      <p:cBhvr additive="base">
                                        <p:cTn id="70" dur="500"/>
                                        <p:tgtEl>
                                          <p:spTgt spid="41"/>
                                        </p:tgtEl>
                                        <p:attrNameLst>
                                          <p:attrName>ppt_x</p:attrName>
                                        </p:attrNameLst>
                                      </p:cBhvr>
                                      <p:tavLst>
                                        <p:tav tm="0">
                                          <p:val>
                                            <p:strVal val="#ppt_x-#ppt_w*1.125000"/>
                                          </p:val>
                                        </p:tav>
                                        <p:tav tm="100000">
                                          <p:val>
                                            <p:strVal val="#ppt_x"/>
                                          </p:val>
                                        </p:tav>
                                      </p:tavLst>
                                    </p:anim>
                                    <p:animEffect transition="in" filter="wipe(right)">
                                      <p:cBhvr>
                                        <p:cTn id="71" dur="500"/>
                                        <p:tgtEl>
                                          <p:spTgt spid="41"/>
                                        </p:tgtEl>
                                      </p:cBhvr>
                                    </p:animEffect>
                                  </p:childTnLst>
                                </p:cTn>
                              </p:par>
                              <p:par>
                                <p:cTn id="72" presetID="12" presetClass="entr" presetSubtype="8"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 calcmode="lin" valueType="num">
                                      <p:cBhvr additive="base">
                                        <p:cTn id="74" dur="500"/>
                                        <p:tgtEl>
                                          <p:spTgt spid="46"/>
                                        </p:tgtEl>
                                        <p:attrNameLst>
                                          <p:attrName>ppt_x</p:attrName>
                                        </p:attrNameLst>
                                      </p:cBhvr>
                                      <p:tavLst>
                                        <p:tav tm="0">
                                          <p:val>
                                            <p:strVal val="#ppt_x-#ppt_w*1.125000"/>
                                          </p:val>
                                        </p:tav>
                                        <p:tav tm="100000">
                                          <p:val>
                                            <p:strVal val="#ppt_x"/>
                                          </p:val>
                                        </p:tav>
                                      </p:tavLst>
                                    </p:anim>
                                    <p:animEffect transition="in" filter="wipe(right)">
                                      <p:cBhvr>
                                        <p:cTn id="75" dur="500"/>
                                        <p:tgtEl>
                                          <p:spTgt spid="46"/>
                                        </p:tgtEl>
                                      </p:cBhvr>
                                    </p:animEffect>
                                  </p:childTnLst>
                                </p:cTn>
                              </p:par>
                              <p:par>
                                <p:cTn id="76" presetID="12" presetClass="entr" presetSubtype="4" fill="hold" nodeType="withEffect">
                                  <p:stCondLst>
                                    <p:cond delay="0"/>
                                  </p:stCondLst>
                                  <p:childTnLst>
                                    <p:set>
                                      <p:cBhvr>
                                        <p:cTn id="77" dur="1" fill="hold">
                                          <p:stCondLst>
                                            <p:cond delay="0"/>
                                          </p:stCondLst>
                                        </p:cTn>
                                        <p:tgtEl>
                                          <p:spTgt spid="12"/>
                                        </p:tgtEl>
                                        <p:attrNameLst>
                                          <p:attrName>style.visibility</p:attrName>
                                        </p:attrNameLst>
                                      </p:cBhvr>
                                      <p:to>
                                        <p:strVal val="visible"/>
                                      </p:to>
                                    </p:set>
                                    <p:anim calcmode="lin" valueType="num">
                                      <p:cBhvr additive="base">
                                        <p:cTn id="78" dur="500"/>
                                        <p:tgtEl>
                                          <p:spTgt spid="12"/>
                                        </p:tgtEl>
                                        <p:attrNameLst>
                                          <p:attrName>ppt_y</p:attrName>
                                        </p:attrNameLst>
                                      </p:cBhvr>
                                      <p:tavLst>
                                        <p:tav tm="0">
                                          <p:val>
                                            <p:strVal val="#ppt_y+#ppt_h*1.125000"/>
                                          </p:val>
                                        </p:tav>
                                        <p:tav tm="100000">
                                          <p:val>
                                            <p:strVal val="#ppt_y"/>
                                          </p:val>
                                        </p:tav>
                                      </p:tavLst>
                                    </p:anim>
                                    <p:animEffect transition="in" filter="wipe(up)">
                                      <p:cBhvr>
                                        <p:cTn id="79" dur="500"/>
                                        <p:tgtEl>
                                          <p:spTgt spid="12"/>
                                        </p:tgtEl>
                                      </p:cBhvr>
                                    </p:animEffect>
                                  </p:childTnLst>
                                </p:cTn>
                              </p:par>
                              <p:par>
                                <p:cTn id="80" presetID="12" presetClass="entr" presetSubtype="4"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additive="base">
                                        <p:cTn id="82" dur="500"/>
                                        <p:tgtEl>
                                          <p:spTgt spid="14"/>
                                        </p:tgtEl>
                                        <p:attrNameLst>
                                          <p:attrName>ppt_y</p:attrName>
                                        </p:attrNameLst>
                                      </p:cBhvr>
                                      <p:tavLst>
                                        <p:tav tm="0">
                                          <p:val>
                                            <p:strVal val="#ppt_y+#ppt_h*1.125000"/>
                                          </p:val>
                                        </p:tav>
                                        <p:tav tm="100000">
                                          <p:val>
                                            <p:strVal val="#ppt_y"/>
                                          </p:val>
                                        </p:tav>
                                      </p:tavLst>
                                    </p:anim>
                                    <p:animEffect transition="in" filter="wipe(up)">
                                      <p:cBhvr>
                                        <p:cTn id="83" dur="500"/>
                                        <p:tgtEl>
                                          <p:spTgt spid="14"/>
                                        </p:tgtEl>
                                      </p:cBhvr>
                                    </p:animEffect>
                                  </p:childTnLst>
                                </p:cTn>
                              </p:par>
                              <p:par>
                                <p:cTn id="84" presetID="12" presetClass="entr" presetSubtype="4" fill="hold" nodeType="withEffect">
                                  <p:stCondLst>
                                    <p:cond delay="0"/>
                                  </p:stCondLst>
                                  <p:childTnLst>
                                    <p:set>
                                      <p:cBhvr>
                                        <p:cTn id="85" dur="1" fill="hold">
                                          <p:stCondLst>
                                            <p:cond delay="0"/>
                                          </p:stCondLst>
                                        </p:cTn>
                                        <p:tgtEl>
                                          <p:spTgt spid="16"/>
                                        </p:tgtEl>
                                        <p:attrNameLst>
                                          <p:attrName>style.visibility</p:attrName>
                                        </p:attrNameLst>
                                      </p:cBhvr>
                                      <p:to>
                                        <p:strVal val="visible"/>
                                      </p:to>
                                    </p:set>
                                    <p:anim calcmode="lin" valueType="num">
                                      <p:cBhvr additive="base">
                                        <p:cTn id="86" dur="500"/>
                                        <p:tgtEl>
                                          <p:spTgt spid="16"/>
                                        </p:tgtEl>
                                        <p:attrNameLst>
                                          <p:attrName>ppt_y</p:attrName>
                                        </p:attrNameLst>
                                      </p:cBhvr>
                                      <p:tavLst>
                                        <p:tav tm="0">
                                          <p:val>
                                            <p:strVal val="#ppt_y+#ppt_h*1.125000"/>
                                          </p:val>
                                        </p:tav>
                                        <p:tav tm="100000">
                                          <p:val>
                                            <p:strVal val="#ppt_y"/>
                                          </p:val>
                                        </p:tav>
                                      </p:tavLst>
                                    </p:anim>
                                    <p:animEffect transition="in" filter="wipe(up)">
                                      <p:cBhvr>
                                        <p:cTn id="87" dur="500"/>
                                        <p:tgtEl>
                                          <p:spTgt spid="16"/>
                                        </p:tgtEl>
                                      </p:cBhvr>
                                    </p:animEffect>
                                  </p:childTnLst>
                                </p:cTn>
                              </p:par>
                              <p:par>
                                <p:cTn id="88" presetID="12" presetClass="entr" presetSubtype="4"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 calcmode="lin" valueType="num">
                                      <p:cBhvr additive="base">
                                        <p:cTn id="90" dur="500"/>
                                        <p:tgtEl>
                                          <p:spTgt spid="31"/>
                                        </p:tgtEl>
                                        <p:attrNameLst>
                                          <p:attrName>ppt_y</p:attrName>
                                        </p:attrNameLst>
                                      </p:cBhvr>
                                      <p:tavLst>
                                        <p:tav tm="0">
                                          <p:val>
                                            <p:strVal val="#ppt_y+#ppt_h*1.125000"/>
                                          </p:val>
                                        </p:tav>
                                        <p:tav tm="100000">
                                          <p:val>
                                            <p:strVal val="#ppt_y"/>
                                          </p:val>
                                        </p:tav>
                                      </p:tavLst>
                                    </p:anim>
                                    <p:animEffect transition="in" filter="wipe(up)">
                                      <p:cBhvr>
                                        <p:cTn id="9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P spid="42" grpId="0"/>
      <p:bldP spid="43" grpId="0"/>
      <p:bldP spid="44" grpId="0"/>
      <p:bldP spid="45" grpId="0"/>
      <p:bldP spid="46"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grpSp>
        <p:nvGrpSpPr>
          <p:cNvPr id="3" name="Group 3"/>
          <p:cNvGrpSpPr/>
          <p:nvPr/>
        </p:nvGrpSpPr>
        <p:grpSpPr>
          <a:xfrm>
            <a:off x="14299064" y="1607750"/>
            <a:ext cx="3988936" cy="3988936"/>
            <a:chOff x="0" y="0"/>
            <a:chExt cx="1354667" cy="1354667"/>
          </a:xfrm>
        </p:grpSpPr>
        <p:sp>
          <p:nvSpPr>
            <p:cNvPr id="4" name="Freeform 4"/>
            <p:cNvSpPr/>
            <p:nvPr/>
          </p:nvSpPr>
          <p:spPr>
            <a:xfrm>
              <a:off x="0" y="0"/>
              <a:ext cx="1354667" cy="1354667"/>
            </a:xfrm>
            <a:custGeom>
              <a:avLst/>
              <a:gdLst/>
              <a:ahLst/>
              <a:cxnLst/>
              <a:rect l="l" t="t" r="r" b="b"/>
              <a:pathLst>
                <a:path w="1354667" h="1354667">
                  <a:moveTo>
                    <a:pt x="0" y="0"/>
                  </a:moveTo>
                  <a:lnTo>
                    <a:pt x="1354667" y="0"/>
                  </a:lnTo>
                  <a:lnTo>
                    <a:pt x="1354667" y="1354667"/>
                  </a:lnTo>
                  <a:lnTo>
                    <a:pt x="0" y="1354667"/>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28575"/>
              <a:ext cx="1354667" cy="1383242"/>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7293116" y="565634"/>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7293116" y="657737"/>
            <a:ext cx="397367" cy="28996"/>
            <a:chOff x="0" y="0"/>
            <a:chExt cx="128243" cy="9358"/>
          </a:xfrm>
        </p:grpSpPr>
        <p:sp>
          <p:nvSpPr>
            <p:cNvPr id="10" name="Freeform 10"/>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2CEEFF">
                    <a:alpha val="100000"/>
                  </a:srgbClr>
                </a:gs>
                <a:gs pos="100000">
                  <a:srgbClr val="0039A6">
                    <a:alpha val="100000"/>
                  </a:srgbClr>
                </a:gs>
              </a:gsLst>
              <a:lin ang="2700000"/>
            </a:gradFill>
          </p:spPr>
        </p:sp>
        <p:sp>
          <p:nvSpPr>
            <p:cNvPr id="11" name="TextBox 11"/>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7742214" y="7517955"/>
            <a:ext cx="47625" cy="1740345"/>
            <a:chOff x="0" y="0"/>
            <a:chExt cx="12543" cy="458362"/>
          </a:xfrm>
        </p:grpSpPr>
        <p:sp>
          <p:nvSpPr>
            <p:cNvPr id="13" name="Freeform 13"/>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14" name="TextBox 14"/>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6463027" y="1028700"/>
            <a:ext cx="10796273" cy="3936718"/>
            <a:chOff x="0" y="0"/>
            <a:chExt cx="2687469" cy="979950"/>
          </a:xfrm>
        </p:grpSpPr>
        <p:sp>
          <p:nvSpPr>
            <p:cNvPr id="16" name="Freeform 16"/>
            <p:cNvSpPr/>
            <p:nvPr/>
          </p:nvSpPr>
          <p:spPr>
            <a:xfrm>
              <a:off x="0" y="0"/>
              <a:ext cx="2687469" cy="979950"/>
            </a:xfrm>
            <a:custGeom>
              <a:avLst/>
              <a:gdLst/>
              <a:ahLst/>
              <a:cxnLst/>
              <a:rect l="l" t="t" r="r" b="b"/>
              <a:pathLst>
                <a:path w="2687469" h="979950">
                  <a:moveTo>
                    <a:pt x="0" y="0"/>
                  </a:moveTo>
                  <a:lnTo>
                    <a:pt x="2687469" y="0"/>
                  </a:lnTo>
                  <a:lnTo>
                    <a:pt x="2687469" y="979950"/>
                  </a:lnTo>
                  <a:lnTo>
                    <a:pt x="0" y="979950"/>
                  </a:lnTo>
                  <a:close/>
                </a:path>
              </a:pathLst>
            </a:custGeom>
            <a:blipFill>
              <a:blip r:embed="rId3"/>
              <a:stretch>
                <a:fillRect t="-35750" b="-35750"/>
              </a:stretch>
            </a:blipFill>
          </p:spPr>
        </p:sp>
      </p:grpSp>
      <p:grpSp>
        <p:nvGrpSpPr>
          <p:cNvPr id="17" name="Group 17"/>
          <p:cNvGrpSpPr/>
          <p:nvPr/>
        </p:nvGrpSpPr>
        <p:grpSpPr>
          <a:xfrm>
            <a:off x="1561365" y="6220074"/>
            <a:ext cx="847005" cy="847005"/>
            <a:chOff x="0" y="0"/>
            <a:chExt cx="812800" cy="812800"/>
          </a:xfrm>
        </p:grpSpPr>
        <p:sp>
          <p:nvSpPr>
            <p:cNvPr id="18" name="Freeform 1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19" name="TextBox 19"/>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0" name="Freeform 20" descr="preencoded.png"/>
          <p:cNvSpPr/>
          <p:nvPr/>
        </p:nvSpPr>
        <p:spPr>
          <a:xfrm>
            <a:off x="320597" y="390377"/>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4"/>
            <a:stretch>
              <a:fillRect/>
            </a:stretch>
          </a:blipFill>
        </p:spPr>
      </p:sp>
      <p:sp>
        <p:nvSpPr>
          <p:cNvPr id="21" name="TextBox 21"/>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22" name="TextBox 22"/>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23" name="TextBox 23"/>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Video</a:t>
            </a:r>
          </a:p>
        </p:txBody>
      </p:sp>
      <p:sp>
        <p:nvSpPr>
          <p:cNvPr id="24" name="TextBox 24"/>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25" name="TextBox 25"/>
          <p:cNvSpPr txBox="1"/>
          <p:nvPr/>
        </p:nvSpPr>
        <p:spPr>
          <a:xfrm>
            <a:off x="17492295" y="9568113"/>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10</a:t>
            </a:r>
          </a:p>
        </p:txBody>
      </p:sp>
      <p:sp>
        <p:nvSpPr>
          <p:cNvPr id="26" name="TextBox 26"/>
          <p:cNvSpPr txBox="1"/>
          <p:nvPr/>
        </p:nvSpPr>
        <p:spPr>
          <a:xfrm>
            <a:off x="1984868" y="2612888"/>
            <a:ext cx="3775232" cy="989330"/>
          </a:xfrm>
          <a:prstGeom prst="rect">
            <a:avLst/>
          </a:prstGeom>
        </p:spPr>
        <p:txBody>
          <a:bodyPr lIns="0" tIns="0" rIns="0" bIns="0" rtlCol="0" anchor="t">
            <a:spAutoFit/>
          </a:bodyPr>
          <a:lstStyle/>
          <a:p>
            <a:pPr algn="l">
              <a:lnSpc>
                <a:spcPts val="7735"/>
              </a:lnSpc>
            </a:pPr>
            <a:r>
              <a:rPr lang="en-US" sz="6500" dirty="0">
                <a:solidFill>
                  <a:srgbClr val="29E2F9"/>
                </a:solidFill>
                <a:latin typeface="Anton"/>
                <a:ea typeface="Anton"/>
                <a:cs typeface="Anton"/>
                <a:sym typeface="Anton"/>
              </a:rPr>
              <a:t>KẾT LUẬN</a:t>
            </a:r>
          </a:p>
        </p:txBody>
      </p:sp>
      <p:sp>
        <p:nvSpPr>
          <p:cNvPr id="27" name="TextBox 27"/>
          <p:cNvSpPr txBox="1"/>
          <p:nvPr/>
        </p:nvSpPr>
        <p:spPr>
          <a:xfrm>
            <a:off x="2795407" y="6254090"/>
            <a:ext cx="3424902" cy="523875"/>
          </a:xfrm>
          <a:prstGeom prst="rect">
            <a:avLst/>
          </a:prstGeom>
        </p:spPr>
        <p:txBody>
          <a:bodyPr lIns="0" tIns="0" rIns="0" bIns="0" rtlCol="0" anchor="t">
            <a:spAutoFit/>
          </a:bodyPr>
          <a:lstStyle/>
          <a:p>
            <a:pPr algn="just">
              <a:lnSpc>
                <a:spcPts val="2100"/>
              </a:lnSpc>
              <a:spcBef>
                <a:spcPct val="0"/>
              </a:spcBef>
            </a:pPr>
            <a:r>
              <a:rPr lang="en-US" sz="1500">
                <a:solidFill>
                  <a:srgbClr val="FFFFFF"/>
                </a:solidFill>
                <a:latin typeface="Open Sans"/>
                <a:ea typeface="Open Sans"/>
                <a:cs typeface="Open Sans"/>
                <a:sym typeface="Open Sans"/>
              </a:rPr>
              <a:t>Internet đã trở thành một phần không thể thiếu trong đời sống hiện đại</a:t>
            </a:r>
          </a:p>
        </p:txBody>
      </p:sp>
      <p:sp>
        <p:nvSpPr>
          <p:cNvPr id="28" name="TextBox 28"/>
          <p:cNvSpPr txBox="1"/>
          <p:nvPr/>
        </p:nvSpPr>
        <p:spPr>
          <a:xfrm>
            <a:off x="1743474" y="6488187"/>
            <a:ext cx="482787" cy="282202"/>
          </a:xfrm>
          <a:prstGeom prst="rect">
            <a:avLst/>
          </a:prstGeom>
        </p:spPr>
        <p:txBody>
          <a:bodyPr lIns="0" tIns="0" rIns="0" bIns="0" rtlCol="0" anchor="t">
            <a:spAutoFit/>
          </a:bodyPr>
          <a:lstStyle/>
          <a:p>
            <a:pPr algn="ctr">
              <a:lnSpc>
                <a:spcPts val="2381"/>
              </a:lnSpc>
              <a:spcBef>
                <a:spcPct val="0"/>
              </a:spcBef>
            </a:pPr>
            <a:r>
              <a:rPr lang="en-US" sz="1701" b="1">
                <a:solidFill>
                  <a:srgbClr val="FFFFFF"/>
                </a:solidFill>
                <a:latin typeface="Open Sans Bold"/>
                <a:ea typeface="Open Sans Bold"/>
                <a:cs typeface="Open Sans Bold"/>
                <a:sym typeface="Open Sans Bold"/>
              </a:rPr>
              <a:t>01</a:t>
            </a:r>
          </a:p>
        </p:txBody>
      </p:sp>
      <p:sp>
        <p:nvSpPr>
          <p:cNvPr id="29" name="TextBox 29"/>
          <p:cNvSpPr txBox="1"/>
          <p:nvPr/>
        </p:nvSpPr>
        <p:spPr>
          <a:xfrm>
            <a:off x="8095632" y="6367351"/>
            <a:ext cx="3173347"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Open Sans"/>
                <a:ea typeface="Open Sans"/>
                <a:cs typeface="Open Sans"/>
                <a:sym typeface="Open Sans"/>
              </a:rPr>
              <a:t>Mang lại vô vàn lợi ích cho học tập, làm việc, giải trí và giao tiếp</a:t>
            </a:r>
          </a:p>
        </p:txBody>
      </p:sp>
      <p:sp>
        <p:nvSpPr>
          <p:cNvPr id="30" name="TextBox 30"/>
          <p:cNvSpPr txBox="1"/>
          <p:nvPr/>
        </p:nvSpPr>
        <p:spPr>
          <a:xfrm>
            <a:off x="13535524" y="6227465"/>
            <a:ext cx="3383779" cy="1057275"/>
          </a:xfrm>
          <a:prstGeom prst="rect">
            <a:avLst/>
          </a:prstGeom>
        </p:spPr>
        <p:txBody>
          <a:bodyPr lIns="0" tIns="0" rIns="0" bIns="0" rtlCol="0" anchor="t">
            <a:spAutoFit/>
          </a:bodyPr>
          <a:lstStyle/>
          <a:p>
            <a:pPr algn="just">
              <a:lnSpc>
                <a:spcPts val="2100"/>
              </a:lnSpc>
            </a:pPr>
            <a:r>
              <a:rPr lang="en-US" sz="1500" dirty="0" err="1">
                <a:solidFill>
                  <a:srgbClr val="FFFFFF"/>
                </a:solidFill>
                <a:latin typeface="Open Sans"/>
                <a:ea typeface="Open Sans"/>
                <a:cs typeface="Open Sans"/>
                <a:sym typeface="Open Sans"/>
              </a:rPr>
              <a:t>Tuy</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nhiên</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người</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dùng</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cũng</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cần</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ý</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thức</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và</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cẩn</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trọng</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trong</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việc</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sử</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dụng</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để</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tránh</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những</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rủi</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ro</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và</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mặt</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tiêu</a:t>
            </a:r>
            <a:r>
              <a:rPr lang="en-US" sz="1500" dirty="0">
                <a:solidFill>
                  <a:srgbClr val="FFFFFF"/>
                </a:solidFill>
                <a:latin typeface="Open Sans"/>
                <a:ea typeface="Open Sans"/>
                <a:cs typeface="Open Sans"/>
                <a:sym typeface="Open Sans"/>
              </a:rPr>
              <a:t> </a:t>
            </a:r>
            <a:r>
              <a:rPr lang="en-US" sz="1500" dirty="0" err="1">
                <a:solidFill>
                  <a:srgbClr val="FFFFFF"/>
                </a:solidFill>
                <a:latin typeface="Open Sans"/>
                <a:ea typeface="Open Sans"/>
                <a:cs typeface="Open Sans"/>
                <a:sym typeface="Open Sans"/>
              </a:rPr>
              <a:t>cực</a:t>
            </a:r>
            <a:r>
              <a:rPr lang="en-US" sz="1500" dirty="0">
                <a:solidFill>
                  <a:srgbClr val="FFFFFF"/>
                </a:solidFill>
                <a:latin typeface="Open Sans"/>
                <a:ea typeface="Open Sans"/>
                <a:cs typeface="Open Sans"/>
                <a:sym typeface="Open Sans"/>
              </a:rPr>
              <a:t>.</a:t>
            </a:r>
          </a:p>
          <a:p>
            <a:pPr algn="just">
              <a:lnSpc>
                <a:spcPts val="2100"/>
              </a:lnSpc>
              <a:spcBef>
                <a:spcPct val="0"/>
              </a:spcBef>
            </a:pPr>
            <a:endParaRPr lang="en-US" sz="1500" dirty="0">
              <a:solidFill>
                <a:srgbClr val="FFFFFF"/>
              </a:solidFill>
              <a:latin typeface="Open Sans"/>
              <a:ea typeface="Open Sans"/>
              <a:cs typeface="Open Sans"/>
              <a:sym typeface="Open Sans"/>
            </a:endParaRPr>
          </a:p>
        </p:txBody>
      </p:sp>
      <p:sp>
        <p:nvSpPr>
          <p:cNvPr id="31" name="TextBox 31"/>
          <p:cNvSpPr txBox="1"/>
          <p:nvPr/>
        </p:nvSpPr>
        <p:spPr>
          <a:xfrm>
            <a:off x="1039108" y="508149"/>
            <a:ext cx="1333843"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grpSp>
        <p:nvGrpSpPr>
          <p:cNvPr id="32" name="Group 32"/>
          <p:cNvGrpSpPr/>
          <p:nvPr/>
        </p:nvGrpSpPr>
        <p:grpSpPr>
          <a:xfrm>
            <a:off x="12284788" y="6240162"/>
            <a:ext cx="847005" cy="847005"/>
            <a:chOff x="0" y="0"/>
            <a:chExt cx="812800" cy="812800"/>
          </a:xfrm>
        </p:grpSpPr>
        <p:sp>
          <p:nvSpPr>
            <p:cNvPr id="33" name="Freeform 3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34" name="TextBox 34"/>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12455406" y="6508276"/>
            <a:ext cx="482787" cy="282413"/>
          </a:xfrm>
          <a:prstGeom prst="rect">
            <a:avLst/>
          </a:prstGeom>
        </p:spPr>
        <p:txBody>
          <a:bodyPr lIns="0" tIns="0" rIns="0" bIns="0" rtlCol="0" anchor="t">
            <a:spAutoFit/>
          </a:bodyPr>
          <a:lstStyle/>
          <a:p>
            <a:pPr algn="ctr">
              <a:lnSpc>
                <a:spcPts val="2381"/>
              </a:lnSpc>
              <a:spcBef>
                <a:spcPct val="0"/>
              </a:spcBef>
            </a:pPr>
            <a:r>
              <a:rPr lang="en-US" sz="1701" b="1">
                <a:solidFill>
                  <a:srgbClr val="FFFFFF"/>
                </a:solidFill>
                <a:latin typeface="Open Sans Bold"/>
                <a:ea typeface="Open Sans Bold"/>
                <a:cs typeface="Open Sans Bold"/>
                <a:sym typeface="Open Sans Bold"/>
              </a:rPr>
              <a:t>03</a:t>
            </a:r>
          </a:p>
        </p:txBody>
      </p:sp>
      <p:grpSp>
        <p:nvGrpSpPr>
          <p:cNvPr id="36" name="Group 36"/>
          <p:cNvGrpSpPr/>
          <p:nvPr/>
        </p:nvGrpSpPr>
        <p:grpSpPr>
          <a:xfrm>
            <a:off x="7048598" y="6240162"/>
            <a:ext cx="847005" cy="847005"/>
            <a:chOff x="0" y="0"/>
            <a:chExt cx="812800" cy="812800"/>
          </a:xfrm>
        </p:grpSpPr>
        <p:sp>
          <p:nvSpPr>
            <p:cNvPr id="37" name="Freeform 3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2CEEFF">
                    <a:alpha val="100000"/>
                  </a:srgbClr>
                </a:gs>
                <a:gs pos="100000">
                  <a:srgbClr val="0039A6">
                    <a:alpha val="100000"/>
                  </a:srgbClr>
                </a:gs>
              </a:gsLst>
              <a:lin ang="2700000"/>
            </a:gradFill>
          </p:spPr>
        </p:sp>
        <p:sp>
          <p:nvSpPr>
            <p:cNvPr id="38" name="TextBox 3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7247409" y="6508276"/>
            <a:ext cx="482787" cy="282413"/>
          </a:xfrm>
          <a:prstGeom prst="rect">
            <a:avLst/>
          </a:prstGeom>
        </p:spPr>
        <p:txBody>
          <a:bodyPr lIns="0" tIns="0" rIns="0" bIns="0" rtlCol="0" anchor="t">
            <a:spAutoFit/>
          </a:bodyPr>
          <a:lstStyle/>
          <a:p>
            <a:pPr algn="ctr">
              <a:lnSpc>
                <a:spcPts val="2381"/>
              </a:lnSpc>
              <a:spcBef>
                <a:spcPct val="0"/>
              </a:spcBef>
            </a:pPr>
            <a:r>
              <a:rPr lang="en-US" sz="1701" b="1">
                <a:solidFill>
                  <a:srgbClr val="FFFFFF"/>
                </a:solidFill>
                <a:latin typeface="Open Sans Bold"/>
                <a:ea typeface="Open Sans Bold"/>
                <a:cs typeface="Open Sans Bold"/>
                <a:sym typeface="Open Sans Bold"/>
              </a:rPr>
              <a:t>02</a:t>
            </a:r>
          </a:p>
        </p:txBody>
      </p:sp>
      <p:sp>
        <p:nvSpPr>
          <p:cNvPr id="40" name="Freeform 2">
            <a:extLst>
              <a:ext uri="{FF2B5EF4-FFF2-40B4-BE49-F238E27FC236}">
                <a16:creationId xmlns:a16="http://schemas.microsoft.com/office/drawing/2014/main" id="{84A0B0B6-1FC4-2244-871E-C7A62F8145C0}"/>
              </a:ext>
            </a:extLst>
          </p:cNvPr>
          <p:cNvSpPr/>
          <p:nvPr/>
        </p:nvSpPr>
        <p:spPr>
          <a:xfrm>
            <a:off x="10439400" y="640419"/>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5">
              <a:alphaModFix amt="17000"/>
            </a:blip>
            <a:stretch>
              <a:fillRect/>
            </a:stretch>
          </a:blipFill>
        </p:spPr>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ppt_y</p:attrName>
                                        </p:attrNameLst>
                                      </p:cBhvr>
                                      <p:tavLst>
                                        <p:tav tm="0">
                                          <p:val>
                                            <p:strVal val="#ppt_y+#ppt_h*1.125000"/>
                                          </p:val>
                                        </p:tav>
                                        <p:tav tm="100000">
                                          <p:val>
                                            <p:strVal val="#ppt_y"/>
                                          </p:val>
                                        </p:tav>
                                      </p:tavLst>
                                    </p:anim>
                                    <p:animEffect transition="in" filter="wipe(up)">
                                      <p:cBhvr>
                                        <p:cTn id="8" dur="500"/>
                                        <p:tgtEl>
                                          <p:spTgt spid="26"/>
                                        </p:tgtEl>
                                      </p:cBhvr>
                                    </p:animEffect>
                                  </p:childTnLst>
                                </p:cTn>
                              </p:par>
                              <p:par>
                                <p:cTn id="9" presetID="1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ppt_y</p:attrName>
                                        </p:attrNameLst>
                                      </p:cBhvr>
                                      <p:tavLst>
                                        <p:tav tm="0">
                                          <p:val>
                                            <p:strVal val="#ppt_y+#ppt_h*1.125000"/>
                                          </p:val>
                                        </p:tav>
                                        <p:tav tm="100000">
                                          <p:val>
                                            <p:strVal val="#ppt_y"/>
                                          </p:val>
                                        </p:tav>
                                      </p:tavLst>
                                    </p:anim>
                                    <p:animEffect transition="in" filter="wipe(up)">
                                      <p:cBhvr>
                                        <p:cTn id="12" dur="500"/>
                                        <p:tgtEl>
                                          <p:spTgt spid="3"/>
                                        </p:tgtEl>
                                      </p:cBhvr>
                                    </p:animEffect>
                                  </p:childTnLst>
                                </p:cTn>
                              </p:par>
                              <p:par>
                                <p:cTn id="13" presetID="1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p:tgtEl>
                                          <p:spTgt spid="15"/>
                                        </p:tgtEl>
                                        <p:attrNameLst>
                                          <p:attrName>ppt_y</p:attrName>
                                        </p:attrNameLst>
                                      </p:cBhvr>
                                      <p:tavLst>
                                        <p:tav tm="0">
                                          <p:val>
                                            <p:strVal val="#ppt_y+#ppt_h*1.125000"/>
                                          </p:val>
                                        </p:tav>
                                        <p:tav tm="100000">
                                          <p:val>
                                            <p:strVal val="#ppt_y"/>
                                          </p:val>
                                        </p:tav>
                                      </p:tavLst>
                                    </p:anim>
                                    <p:animEffect transition="in" filter="wipe(up)">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p:tgtEl>
                                          <p:spTgt spid="17"/>
                                        </p:tgtEl>
                                        <p:attrNameLst>
                                          <p:attrName>ppt_x</p:attrName>
                                        </p:attrNameLst>
                                      </p:cBhvr>
                                      <p:tavLst>
                                        <p:tav tm="0">
                                          <p:val>
                                            <p:strVal val="#ppt_x-#ppt_w*1.125000"/>
                                          </p:val>
                                        </p:tav>
                                        <p:tav tm="100000">
                                          <p:val>
                                            <p:strVal val="#ppt_x"/>
                                          </p:val>
                                        </p:tav>
                                      </p:tavLst>
                                    </p:anim>
                                    <p:animEffect transition="in" filter="wipe(right)">
                                      <p:cBhvr>
                                        <p:cTn id="22" dur="500"/>
                                        <p:tgtEl>
                                          <p:spTgt spid="17"/>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p:tgtEl>
                                          <p:spTgt spid="28"/>
                                        </p:tgtEl>
                                        <p:attrNameLst>
                                          <p:attrName>ppt_x</p:attrName>
                                        </p:attrNameLst>
                                      </p:cBhvr>
                                      <p:tavLst>
                                        <p:tav tm="0">
                                          <p:val>
                                            <p:strVal val="#ppt_x-#ppt_w*1.125000"/>
                                          </p:val>
                                        </p:tav>
                                        <p:tav tm="100000">
                                          <p:val>
                                            <p:strVal val="#ppt_x"/>
                                          </p:val>
                                        </p:tav>
                                      </p:tavLst>
                                    </p:anim>
                                    <p:animEffect transition="in" filter="wipe(right)">
                                      <p:cBhvr>
                                        <p:cTn id="26" dur="500"/>
                                        <p:tgtEl>
                                          <p:spTgt spid="28"/>
                                        </p:tgtEl>
                                      </p:cBhvr>
                                    </p:animEffect>
                                  </p:childTnLst>
                                </p:cTn>
                              </p:par>
                            </p:childTnLst>
                          </p:cTn>
                        </p:par>
                        <p:par>
                          <p:cTn id="27" fill="hold">
                            <p:stCondLst>
                              <p:cond delay="500"/>
                            </p:stCondLst>
                            <p:childTnLst>
                              <p:par>
                                <p:cTn id="28" presetID="12" presetClass="entr" presetSubtype="8" fill="hold" grpId="0" nodeType="after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p:tgtEl>
                                          <p:spTgt spid="27"/>
                                        </p:tgtEl>
                                        <p:attrNameLst>
                                          <p:attrName>ppt_x</p:attrName>
                                        </p:attrNameLst>
                                      </p:cBhvr>
                                      <p:tavLst>
                                        <p:tav tm="0">
                                          <p:val>
                                            <p:strVal val="#ppt_x-#ppt_w*1.125000"/>
                                          </p:val>
                                        </p:tav>
                                        <p:tav tm="100000">
                                          <p:val>
                                            <p:strVal val="#ppt_x"/>
                                          </p:val>
                                        </p:tav>
                                      </p:tavLst>
                                    </p:anim>
                                    <p:animEffect transition="in" filter="wipe(right)">
                                      <p:cBhvr>
                                        <p:cTn id="31" dur="500"/>
                                        <p:tgtEl>
                                          <p:spTgt spid="27"/>
                                        </p:tgtEl>
                                      </p:cBhvr>
                                    </p:animEffect>
                                  </p:childTnLst>
                                </p:cTn>
                              </p:par>
                            </p:childTnLst>
                          </p:cTn>
                        </p:par>
                        <p:par>
                          <p:cTn id="32" fill="hold">
                            <p:stCondLst>
                              <p:cond delay="1000"/>
                            </p:stCondLst>
                            <p:childTnLst>
                              <p:par>
                                <p:cTn id="33" presetID="12" presetClass="entr" presetSubtype="8" fill="hold" nodeType="after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p:tgtEl>
                                          <p:spTgt spid="36"/>
                                        </p:tgtEl>
                                        <p:attrNameLst>
                                          <p:attrName>ppt_x</p:attrName>
                                        </p:attrNameLst>
                                      </p:cBhvr>
                                      <p:tavLst>
                                        <p:tav tm="0">
                                          <p:val>
                                            <p:strVal val="#ppt_x-#ppt_w*1.125000"/>
                                          </p:val>
                                        </p:tav>
                                        <p:tav tm="100000">
                                          <p:val>
                                            <p:strVal val="#ppt_x"/>
                                          </p:val>
                                        </p:tav>
                                      </p:tavLst>
                                    </p:anim>
                                    <p:animEffect transition="in" filter="wipe(right)">
                                      <p:cBhvr>
                                        <p:cTn id="36" dur="500"/>
                                        <p:tgtEl>
                                          <p:spTgt spid="36"/>
                                        </p:tgtEl>
                                      </p:cBhvr>
                                    </p:animEffect>
                                  </p:childTnLst>
                                </p:cTn>
                              </p:par>
                              <p:par>
                                <p:cTn id="37" presetID="12" presetClass="entr" presetSubtype="8"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p:tgtEl>
                                          <p:spTgt spid="39"/>
                                        </p:tgtEl>
                                        <p:attrNameLst>
                                          <p:attrName>ppt_x</p:attrName>
                                        </p:attrNameLst>
                                      </p:cBhvr>
                                      <p:tavLst>
                                        <p:tav tm="0">
                                          <p:val>
                                            <p:strVal val="#ppt_x-#ppt_w*1.125000"/>
                                          </p:val>
                                        </p:tav>
                                        <p:tav tm="100000">
                                          <p:val>
                                            <p:strVal val="#ppt_x"/>
                                          </p:val>
                                        </p:tav>
                                      </p:tavLst>
                                    </p:anim>
                                    <p:animEffect transition="in" filter="wipe(right)">
                                      <p:cBhvr>
                                        <p:cTn id="40" dur="500"/>
                                        <p:tgtEl>
                                          <p:spTgt spid="39"/>
                                        </p:tgtEl>
                                      </p:cBhvr>
                                    </p:animEffect>
                                  </p:childTnLst>
                                </p:cTn>
                              </p:par>
                            </p:childTnLst>
                          </p:cTn>
                        </p:par>
                        <p:par>
                          <p:cTn id="41" fill="hold">
                            <p:stCondLst>
                              <p:cond delay="1500"/>
                            </p:stCondLst>
                            <p:childTnLst>
                              <p:par>
                                <p:cTn id="42" presetID="12" presetClass="entr" presetSubtype="8"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 calcmode="lin" valueType="num">
                                      <p:cBhvr additive="base">
                                        <p:cTn id="44" dur="500"/>
                                        <p:tgtEl>
                                          <p:spTgt spid="29"/>
                                        </p:tgtEl>
                                        <p:attrNameLst>
                                          <p:attrName>ppt_x</p:attrName>
                                        </p:attrNameLst>
                                      </p:cBhvr>
                                      <p:tavLst>
                                        <p:tav tm="0">
                                          <p:val>
                                            <p:strVal val="#ppt_x-#ppt_w*1.125000"/>
                                          </p:val>
                                        </p:tav>
                                        <p:tav tm="100000">
                                          <p:val>
                                            <p:strVal val="#ppt_x"/>
                                          </p:val>
                                        </p:tav>
                                      </p:tavLst>
                                    </p:anim>
                                    <p:animEffect transition="in" filter="wipe(right)">
                                      <p:cBhvr>
                                        <p:cTn id="45" dur="500"/>
                                        <p:tgtEl>
                                          <p:spTgt spid="29"/>
                                        </p:tgtEl>
                                      </p:cBhvr>
                                    </p:animEffect>
                                  </p:childTnLst>
                                </p:cTn>
                              </p:par>
                            </p:childTnLst>
                          </p:cTn>
                        </p:par>
                        <p:par>
                          <p:cTn id="46" fill="hold">
                            <p:stCondLst>
                              <p:cond delay="2000"/>
                            </p:stCondLst>
                            <p:childTnLst>
                              <p:par>
                                <p:cTn id="47" presetID="12" presetClass="entr" presetSubtype="8" fill="hold" nodeType="afterEffect">
                                  <p:stCondLst>
                                    <p:cond delay="0"/>
                                  </p:stCondLst>
                                  <p:childTnLst>
                                    <p:set>
                                      <p:cBhvr>
                                        <p:cTn id="48" dur="1" fill="hold">
                                          <p:stCondLst>
                                            <p:cond delay="0"/>
                                          </p:stCondLst>
                                        </p:cTn>
                                        <p:tgtEl>
                                          <p:spTgt spid="32"/>
                                        </p:tgtEl>
                                        <p:attrNameLst>
                                          <p:attrName>style.visibility</p:attrName>
                                        </p:attrNameLst>
                                      </p:cBhvr>
                                      <p:to>
                                        <p:strVal val="visible"/>
                                      </p:to>
                                    </p:set>
                                    <p:anim calcmode="lin" valueType="num">
                                      <p:cBhvr additive="base">
                                        <p:cTn id="49" dur="500"/>
                                        <p:tgtEl>
                                          <p:spTgt spid="32"/>
                                        </p:tgtEl>
                                        <p:attrNameLst>
                                          <p:attrName>ppt_x</p:attrName>
                                        </p:attrNameLst>
                                      </p:cBhvr>
                                      <p:tavLst>
                                        <p:tav tm="0">
                                          <p:val>
                                            <p:strVal val="#ppt_x-#ppt_w*1.125000"/>
                                          </p:val>
                                        </p:tav>
                                        <p:tav tm="100000">
                                          <p:val>
                                            <p:strVal val="#ppt_x"/>
                                          </p:val>
                                        </p:tav>
                                      </p:tavLst>
                                    </p:anim>
                                    <p:animEffect transition="in" filter="wipe(right)">
                                      <p:cBhvr>
                                        <p:cTn id="50" dur="500"/>
                                        <p:tgtEl>
                                          <p:spTgt spid="32"/>
                                        </p:tgtEl>
                                      </p:cBhvr>
                                    </p:animEffect>
                                  </p:childTnLst>
                                </p:cTn>
                              </p:par>
                              <p:par>
                                <p:cTn id="51" presetID="12" presetClass="entr" presetSubtype="8"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500"/>
                                        <p:tgtEl>
                                          <p:spTgt spid="35"/>
                                        </p:tgtEl>
                                        <p:attrNameLst>
                                          <p:attrName>ppt_x</p:attrName>
                                        </p:attrNameLst>
                                      </p:cBhvr>
                                      <p:tavLst>
                                        <p:tav tm="0">
                                          <p:val>
                                            <p:strVal val="#ppt_x-#ppt_w*1.125000"/>
                                          </p:val>
                                        </p:tav>
                                        <p:tav tm="100000">
                                          <p:val>
                                            <p:strVal val="#ppt_x"/>
                                          </p:val>
                                        </p:tav>
                                      </p:tavLst>
                                    </p:anim>
                                    <p:animEffect transition="in" filter="wipe(right)">
                                      <p:cBhvr>
                                        <p:cTn id="54" dur="500"/>
                                        <p:tgtEl>
                                          <p:spTgt spid="35"/>
                                        </p:tgtEl>
                                      </p:cBhvr>
                                    </p:animEffect>
                                  </p:childTnLst>
                                </p:cTn>
                              </p:par>
                            </p:childTnLst>
                          </p:cTn>
                        </p:par>
                        <p:par>
                          <p:cTn id="55" fill="hold">
                            <p:stCondLst>
                              <p:cond delay="2500"/>
                            </p:stCondLst>
                            <p:childTnLst>
                              <p:par>
                                <p:cTn id="56" presetID="12" presetClass="entr" presetSubtype="8" fill="hold" grpId="0" nodeType="afterEffect">
                                  <p:stCondLst>
                                    <p:cond delay="0"/>
                                  </p:stCondLst>
                                  <p:childTnLst>
                                    <p:set>
                                      <p:cBhvr>
                                        <p:cTn id="57" dur="1" fill="hold">
                                          <p:stCondLst>
                                            <p:cond delay="0"/>
                                          </p:stCondLst>
                                        </p:cTn>
                                        <p:tgtEl>
                                          <p:spTgt spid="30"/>
                                        </p:tgtEl>
                                        <p:attrNameLst>
                                          <p:attrName>style.visibility</p:attrName>
                                        </p:attrNameLst>
                                      </p:cBhvr>
                                      <p:to>
                                        <p:strVal val="visible"/>
                                      </p:to>
                                    </p:set>
                                    <p:anim calcmode="lin" valueType="num">
                                      <p:cBhvr additive="base">
                                        <p:cTn id="58" dur="500"/>
                                        <p:tgtEl>
                                          <p:spTgt spid="30"/>
                                        </p:tgtEl>
                                        <p:attrNameLst>
                                          <p:attrName>ppt_x</p:attrName>
                                        </p:attrNameLst>
                                      </p:cBhvr>
                                      <p:tavLst>
                                        <p:tav tm="0">
                                          <p:val>
                                            <p:strVal val="#ppt_x-#ppt_w*1.125000"/>
                                          </p:val>
                                        </p:tav>
                                        <p:tav tm="100000">
                                          <p:val>
                                            <p:strVal val="#ppt_x"/>
                                          </p:val>
                                        </p:tav>
                                      </p:tavLst>
                                    </p:anim>
                                    <p:animEffect transition="in" filter="wipe(right)">
                                      <p:cBhvr>
                                        <p:cTn id="5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5" grpId="0"/>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194B">
                <a:alpha val="100000"/>
              </a:srgbClr>
            </a:gs>
            <a:gs pos="100000">
              <a:srgbClr val="03011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470741"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alphaModFix amt="17000"/>
            </a:blip>
            <a:stretch>
              <a:fillRect/>
            </a:stretch>
          </a:blipFill>
        </p:spPr>
      </p:sp>
      <p:grpSp>
        <p:nvGrpSpPr>
          <p:cNvPr id="3" name="Group 3"/>
          <p:cNvGrpSpPr/>
          <p:nvPr/>
        </p:nvGrpSpPr>
        <p:grpSpPr>
          <a:xfrm>
            <a:off x="17742214" y="7517955"/>
            <a:ext cx="47625" cy="1740345"/>
            <a:chOff x="0" y="0"/>
            <a:chExt cx="12543" cy="458362"/>
          </a:xfrm>
        </p:grpSpPr>
        <p:sp>
          <p:nvSpPr>
            <p:cNvPr id="4" name="Freeform 4"/>
            <p:cNvSpPr/>
            <p:nvPr/>
          </p:nvSpPr>
          <p:spPr>
            <a:xfrm>
              <a:off x="0" y="0"/>
              <a:ext cx="12543" cy="458362"/>
            </a:xfrm>
            <a:custGeom>
              <a:avLst/>
              <a:gdLst/>
              <a:ahLst/>
              <a:cxnLst/>
              <a:rect l="l" t="t" r="r" b="b"/>
              <a:pathLst>
                <a:path w="12543" h="458362">
                  <a:moveTo>
                    <a:pt x="0" y="0"/>
                  </a:moveTo>
                  <a:lnTo>
                    <a:pt x="12543" y="0"/>
                  </a:lnTo>
                  <a:lnTo>
                    <a:pt x="12543" y="458362"/>
                  </a:lnTo>
                  <a:lnTo>
                    <a:pt x="0" y="458362"/>
                  </a:lnTo>
                  <a:close/>
                </a:path>
              </a:pathLst>
            </a:custGeom>
            <a:gradFill rotWithShape="1">
              <a:gsLst>
                <a:gs pos="0">
                  <a:srgbClr val="2CEEFF">
                    <a:alpha val="100000"/>
                  </a:srgbClr>
                </a:gs>
                <a:gs pos="100000">
                  <a:srgbClr val="0039A6">
                    <a:alpha val="100000"/>
                  </a:srgbClr>
                </a:gs>
              </a:gsLst>
              <a:lin ang="2700000"/>
            </a:gradFill>
          </p:spPr>
        </p:sp>
        <p:sp>
          <p:nvSpPr>
            <p:cNvPr id="5" name="TextBox 5"/>
            <p:cNvSpPr txBox="1"/>
            <p:nvPr/>
          </p:nvSpPr>
          <p:spPr>
            <a:xfrm>
              <a:off x="0" y="-38100"/>
              <a:ext cx="12543" cy="49646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7492295" y="9568113"/>
            <a:ext cx="547464" cy="240665"/>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11</a:t>
            </a:r>
          </a:p>
        </p:txBody>
      </p:sp>
      <p:grpSp>
        <p:nvGrpSpPr>
          <p:cNvPr id="7" name="Group 7"/>
          <p:cNvGrpSpPr/>
          <p:nvPr/>
        </p:nvGrpSpPr>
        <p:grpSpPr>
          <a:xfrm>
            <a:off x="0" y="6955134"/>
            <a:ext cx="17259300" cy="3331866"/>
            <a:chOff x="0" y="0"/>
            <a:chExt cx="4545659" cy="877529"/>
          </a:xfrm>
        </p:grpSpPr>
        <p:sp>
          <p:nvSpPr>
            <p:cNvPr id="8" name="Freeform 8"/>
            <p:cNvSpPr/>
            <p:nvPr/>
          </p:nvSpPr>
          <p:spPr>
            <a:xfrm>
              <a:off x="0" y="0"/>
              <a:ext cx="4545659" cy="877529"/>
            </a:xfrm>
            <a:custGeom>
              <a:avLst/>
              <a:gdLst/>
              <a:ahLst/>
              <a:cxnLst/>
              <a:rect l="l" t="t" r="r" b="b"/>
              <a:pathLst>
                <a:path w="4545659" h="877529">
                  <a:moveTo>
                    <a:pt x="0" y="0"/>
                  </a:moveTo>
                  <a:lnTo>
                    <a:pt x="4545659" y="0"/>
                  </a:lnTo>
                  <a:lnTo>
                    <a:pt x="4545659" y="877529"/>
                  </a:lnTo>
                  <a:lnTo>
                    <a:pt x="0" y="877529"/>
                  </a:lnTo>
                  <a:close/>
                </a:path>
              </a:pathLst>
            </a:custGeom>
            <a:gradFill rotWithShape="1">
              <a:gsLst>
                <a:gs pos="0">
                  <a:srgbClr val="2CEEFF">
                    <a:alpha val="100000"/>
                  </a:srgbClr>
                </a:gs>
                <a:gs pos="100000">
                  <a:srgbClr val="0039A6">
                    <a:alpha val="100000"/>
                  </a:srgbClr>
                </a:gs>
              </a:gsLst>
              <a:lin ang="2700000"/>
            </a:gradFill>
          </p:spPr>
        </p:sp>
        <p:sp>
          <p:nvSpPr>
            <p:cNvPr id="9" name="TextBox 9"/>
            <p:cNvSpPr txBox="1"/>
            <p:nvPr/>
          </p:nvSpPr>
          <p:spPr>
            <a:xfrm>
              <a:off x="0" y="-38100"/>
              <a:ext cx="4545659" cy="91562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941532" y="2488143"/>
            <a:ext cx="9145640" cy="6984983"/>
          </a:xfrm>
          <a:custGeom>
            <a:avLst/>
            <a:gdLst/>
            <a:ahLst/>
            <a:cxnLst/>
            <a:rect l="l" t="t" r="r" b="b"/>
            <a:pathLst>
              <a:path w="9145640" h="6984983">
                <a:moveTo>
                  <a:pt x="0" y="0"/>
                </a:moveTo>
                <a:lnTo>
                  <a:pt x="9145641" y="0"/>
                </a:lnTo>
                <a:lnTo>
                  <a:pt x="9145641" y="6984983"/>
                </a:lnTo>
                <a:lnTo>
                  <a:pt x="0" y="6984983"/>
                </a:lnTo>
                <a:lnTo>
                  <a:pt x="0" y="0"/>
                </a:lnTo>
                <a:close/>
              </a:path>
            </a:pathLst>
          </a:custGeom>
          <a:blipFill>
            <a:blip r:embed="rId4"/>
            <a:stretch>
              <a:fillRect/>
            </a:stretch>
          </a:blipFill>
        </p:spPr>
      </p:sp>
      <p:grpSp>
        <p:nvGrpSpPr>
          <p:cNvPr id="11" name="Group 11"/>
          <p:cNvGrpSpPr/>
          <p:nvPr/>
        </p:nvGrpSpPr>
        <p:grpSpPr>
          <a:xfrm>
            <a:off x="7153416" y="2705612"/>
            <a:ext cx="8706670" cy="4624806"/>
            <a:chOff x="0" y="0"/>
            <a:chExt cx="11608893" cy="6166408"/>
          </a:xfrm>
        </p:grpSpPr>
        <p:pic>
          <p:nvPicPr>
            <p:cNvPr id="12" name="Picture 12"/>
            <p:cNvPicPr>
              <a:picLocks noChangeAspect="1"/>
            </p:cNvPicPr>
            <p:nvPr/>
          </p:nvPicPr>
          <p:blipFill>
            <a:blip r:embed="rId5"/>
            <a:srcRect l="13317" r="13317"/>
            <a:stretch>
              <a:fillRect/>
            </a:stretch>
          </p:blipFill>
          <p:spPr>
            <a:xfrm>
              <a:off x="0" y="0"/>
              <a:ext cx="11608893" cy="6166408"/>
            </a:xfrm>
            <a:prstGeom prst="rect">
              <a:avLst/>
            </a:prstGeom>
          </p:spPr>
        </p:pic>
      </p:grpSp>
      <p:sp>
        <p:nvSpPr>
          <p:cNvPr id="13" name="TextBox 13"/>
          <p:cNvSpPr txBox="1"/>
          <p:nvPr/>
        </p:nvSpPr>
        <p:spPr>
          <a:xfrm>
            <a:off x="1877546" y="2308201"/>
            <a:ext cx="5073511" cy="4004859"/>
          </a:xfrm>
          <a:prstGeom prst="rect">
            <a:avLst/>
          </a:prstGeom>
        </p:spPr>
        <p:txBody>
          <a:bodyPr lIns="0" tIns="0" rIns="0" bIns="0" rtlCol="0" anchor="t">
            <a:spAutoFit/>
          </a:bodyPr>
          <a:lstStyle/>
          <a:p>
            <a:pPr algn="l">
              <a:lnSpc>
                <a:spcPts val="15802"/>
              </a:lnSpc>
            </a:pPr>
            <a:r>
              <a:rPr lang="en-US" sz="13279">
                <a:solidFill>
                  <a:srgbClr val="29E2F9"/>
                </a:solidFill>
                <a:latin typeface="Anton"/>
                <a:ea typeface="Anton"/>
                <a:cs typeface="Anton"/>
                <a:sym typeface="Anton"/>
              </a:rPr>
              <a:t>THANK</a:t>
            </a:r>
          </a:p>
          <a:p>
            <a:pPr algn="l">
              <a:lnSpc>
                <a:spcPts val="15802"/>
              </a:lnSpc>
            </a:pPr>
            <a:r>
              <a:rPr lang="en-US" sz="13279">
                <a:solidFill>
                  <a:srgbClr val="29E2F9"/>
                </a:solidFill>
                <a:latin typeface="Anton"/>
                <a:ea typeface="Anton"/>
                <a:cs typeface="Anton"/>
                <a:sym typeface="Anton"/>
              </a:rPr>
              <a:t>YOU</a:t>
            </a:r>
          </a:p>
        </p:txBody>
      </p:sp>
      <p:sp>
        <p:nvSpPr>
          <p:cNvPr id="14" name="TextBox 14"/>
          <p:cNvSpPr txBox="1"/>
          <p:nvPr/>
        </p:nvSpPr>
        <p:spPr>
          <a:xfrm>
            <a:off x="1877546" y="7752304"/>
            <a:ext cx="4002437" cy="5238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Open Sans Bold"/>
                <a:ea typeface="Open Sans Bold"/>
                <a:cs typeface="Open Sans Bold"/>
                <a:sym typeface="Open Sans Bold"/>
              </a:rPr>
              <a:t>Chân thành cảm ơn cô và các bạn đã lắng nghe buổi thuyết trình này</a:t>
            </a:r>
          </a:p>
        </p:txBody>
      </p:sp>
      <p:sp>
        <p:nvSpPr>
          <p:cNvPr id="15" name="Freeform 15" descr="preencoded.png"/>
          <p:cNvSpPr/>
          <p:nvPr/>
        </p:nvSpPr>
        <p:spPr>
          <a:xfrm>
            <a:off x="320597" y="390377"/>
            <a:ext cx="563718" cy="563718"/>
          </a:xfrm>
          <a:custGeom>
            <a:avLst/>
            <a:gdLst/>
            <a:ahLst/>
            <a:cxnLst/>
            <a:rect l="l" t="t" r="r" b="b"/>
            <a:pathLst>
              <a:path w="563718" h="563718">
                <a:moveTo>
                  <a:pt x="0" y="0"/>
                </a:moveTo>
                <a:lnTo>
                  <a:pt x="563718" y="0"/>
                </a:lnTo>
                <a:lnTo>
                  <a:pt x="563718" y="563717"/>
                </a:lnTo>
                <a:lnTo>
                  <a:pt x="0" y="563717"/>
                </a:lnTo>
                <a:lnTo>
                  <a:pt x="0" y="0"/>
                </a:lnTo>
                <a:close/>
              </a:path>
            </a:pathLst>
          </a:custGeom>
          <a:blipFill>
            <a:blip r:embed="rId6"/>
            <a:stretch>
              <a:fillRect/>
            </a:stretch>
          </a:blipFill>
        </p:spPr>
      </p:sp>
      <p:sp>
        <p:nvSpPr>
          <p:cNvPr id="16" name="TextBox 16"/>
          <p:cNvSpPr txBox="1"/>
          <p:nvPr/>
        </p:nvSpPr>
        <p:spPr>
          <a:xfrm>
            <a:off x="1039108" y="508149"/>
            <a:ext cx="838438"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2312678</a:t>
            </a:r>
          </a:p>
        </p:txBody>
      </p:sp>
      <p:grpSp>
        <p:nvGrpSpPr>
          <p:cNvPr id="17" name="Group 17"/>
          <p:cNvGrpSpPr/>
          <p:nvPr/>
        </p:nvGrpSpPr>
        <p:grpSpPr>
          <a:xfrm>
            <a:off x="7100338" y="2664313"/>
            <a:ext cx="8840504" cy="4707405"/>
            <a:chOff x="0" y="0"/>
            <a:chExt cx="11787339" cy="6276540"/>
          </a:xfrm>
        </p:grpSpPr>
        <p:pic>
          <p:nvPicPr>
            <p:cNvPr id="18" name="Picture 18"/>
            <p:cNvPicPr>
              <a:picLocks noChangeAspect="1"/>
            </p:cNvPicPr>
            <p:nvPr/>
          </p:nvPicPr>
          <p:blipFill>
            <a:blip r:embed="rId7"/>
            <a:srcRect t="1811" b="1811"/>
            <a:stretch>
              <a:fillRect/>
            </a:stretch>
          </p:blipFill>
          <p:spPr>
            <a:xfrm>
              <a:off x="0" y="0"/>
              <a:ext cx="11787339" cy="6276540"/>
            </a:xfrm>
            <a:prstGeom prst="rect">
              <a:avLst/>
            </a:prstGeom>
          </p:spPr>
        </p:pic>
      </p:grpSp>
      <p:sp>
        <p:nvSpPr>
          <p:cNvPr id="19" name="TextBox 19"/>
          <p:cNvSpPr txBox="1"/>
          <p:nvPr/>
        </p:nvSpPr>
        <p:spPr>
          <a:xfrm>
            <a:off x="1970408" y="508149"/>
            <a:ext cx="3604304" cy="264160"/>
          </a:xfrm>
          <a:prstGeom prst="rect">
            <a:avLst/>
          </a:prstGeom>
        </p:spPr>
        <p:txBody>
          <a:bodyPr lIns="0" tIns="0" rIns="0" bIns="0" rtlCol="0" anchor="t">
            <a:spAutoFit/>
          </a:bodyPr>
          <a:lstStyle/>
          <a:p>
            <a:pPr algn="l">
              <a:lnSpc>
                <a:spcPts val="2239"/>
              </a:lnSpc>
              <a:spcBef>
                <a:spcPct val="0"/>
              </a:spcBef>
            </a:pPr>
            <a:r>
              <a:rPr lang="en-US" sz="1599">
                <a:solidFill>
                  <a:srgbClr val="29E2F9"/>
                </a:solidFill>
                <a:latin typeface="Open Sans"/>
                <a:ea typeface="Open Sans"/>
                <a:cs typeface="Open Sans"/>
                <a:sym typeface="Open Sans"/>
              </a:rPr>
              <a:t>- Nguyễn Lê Bảo Long - CTK47A</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3830</Words>
  <Application>Microsoft Macintosh PowerPoint</Application>
  <PresentationFormat>Custom</PresentationFormat>
  <Paragraphs>249</Paragraphs>
  <Slides>11</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Lora Bold</vt:lpstr>
      <vt:lpstr>Open Sans</vt:lpstr>
      <vt:lpstr>Calibri</vt:lpstr>
      <vt:lpstr>Canva Sans Bold</vt:lpstr>
      <vt:lpstr>Anton</vt:lpstr>
      <vt:lpstr>Arial</vt:lpstr>
      <vt:lpstr>Open Sans Bold</vt:lpstr>
      <vt:lpstr>Roboto</vt:lpstr>
      <vt:lpstr>Open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2312678_NLBLong_Internet</dc:title>
  <cp:lastModifiedBy>Microsoft Office User</cp:lastModifiedBy>
  <cp:revision>7</cp:revision>
  <dcterms:created xsi:type="dcterms:W3CDTF">2006-08-16T00:00:00Z</dcterms:created>
  <dcterms:modified xsi:type="dcterms:W3CDTF">2025-06-06T15:01:01Z</dcterms:modified>
  <dc:identifier>DAGpddNihU0</dc:identifier>
</cp:coreProperties>
</file>